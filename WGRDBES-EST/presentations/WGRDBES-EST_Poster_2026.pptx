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58" r:id="rId5"/>
  </p:sldIdLst>
  <p:sldSz cx="18719800" cy="26279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 Cláudia Fernandes" initials="ACF" lastIdx="2" clrIdx="0">
    <p:extLst>
      <p:ext uri="{19B8F6BF-5375-455C-9EA6-DF929625EA0E}">
        <p15:presenceInfo xmlns:p15="http://schemas.microsoft.com/office/powerpoint/2012/main" userId="91ead6e2118a493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20" autoAdjust="0"/>
  </p:normalViewPr>
  <p:slideViewPr>
    <p:cSldViewPr snapToGrid="0">
      <p:cViewPr varScale="1">
        <p:scale>
          <a:sx n="32" d="100"/>
          <a:sy n="32" d="100"/>
        </p:scale>
        <p:origin x="292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473D6-F22A-4683-80AA-3BFD6B73D44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0450" y="1143000"/>
            <a:ext cx="2197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B1FED-7CB3-4A13-9F96-BECA0934C6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477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59904" rtl="0" eaLnBrk="1" latinLnBrk="0" hangingPunct="1">
      <a:defRPr sz="2835" kern="1200">
        <a:solidFill>
          <a:schemeClr val="tx1"/>
        </a:solidFill>
        <a:latin typeface="+mn-lt"/>
        <a:ea typeface="+mn-ea"/>
        <a:cs typeface="+mn-cs"/>
      </a:defRPr>
    </a:lvl1pPr>
    <a:lvl2pPr marL="1079952" algn="l" defTabSz="2159904" rtl="0" eaLnBrk="1" latinLnBrk="0" hangingPunct="1">
      <a:defRPr sz="2835" kern="1200">
        <a:solidFill>
          <a:schemeClr val="tx1"/>
        </a:solidFill>
        <a:latin typeface="+mn-lt"/>
        <a:ea typeface="+mn-ea"/>
        <a:cs typeface="+mn-cs"/>
      </a:defRPr>
    </a:lvl2pPr>
    <a:lvl3pPr marL="2159904" algn="l" defTabSz="2159904" rtl="0" eaLnBrk="1" latinLnBrk="0" hangingPunct="1">
      <a:defRPr sz="2835" kern="1200">
        <a:solidFill>
          <a:schemeClr val="tx1"/>
        </a:solidFill>
        <a:latin typeface="+mn-lt"/>
        <a:ea typeface="+mn-ea"/>
        <a:cs typeface="+mn-cs"/>
      </a:defRPr>
    </a:lvl3pPr>
    <a:lvl4pPr marL="3239856" algn="l" defTabSz="2159904" rtl="0" eaLnBrk="1" latinLnBrk="0" hangingPunct="1">
      <a:defRPr sz="2835" kern="1200">
        <a:solidFill>
          <a:schemeClr val="tx1"/>
        </a:solidFill>
        <a:latin typeface="+mn-lt"/>
        <a:ea typeface="+mn-ea"/>
        <a:cs typeface="+mn-cs"/>
      </a:defRPr>
    </a:lvl4pPr>
    <a:lvl5pPr marL="4319808" algn="l" defTabSz="2159904" rtl="0" eaLnBrk="1" latinLnBrk="0" hangingPunct="1">
      <a:defRPr sz="2835" kern="1200">
        <a:solidFill>
          <a:schemeClr val="tx1"/>
        </a:solidFill>
        <a:latin typeface="+mn-lt"/>
        <a:ea typeface="+mn-ea"/>
        <a:cs typeface="+mn-cs"/>
      </a:defRPr>
    </a:lvl5pPr>
    <a:lvl6pPr marL="5399761" algn="l" defTabSz="2159904" rtl="0" eaLnBrk="1" latinLnBrk="0" hangingPunct="1">
      <a:defRPr sz="2835" kern="1200">
        <a:solidFill>
          <a:schemeClr val="tx1"/>
        </a:solidFill>
        <a:latin typeface="+mn-lt"/>
        <a:ea typeface="+mn-ea"/>
        <a:cs typeface="+mn-cs"/>
      </a:defRPr>
    </a:lvl6pPr>
    <a:lvl7pPr marL="6479713" algn="l" defTabSz="2159904" rtl="0" eaLnBrk="1" latinLnBrk="0" hangingPunct="1">
      <a:defRPr sz="2835" kern="1200">
        <a:solidFill>
          <a:schemeClr val="tx1"/>
        </a:solidFill>
        <a:latin typeface="+mn-lt"/>
        <a:ea typeface="+mn-ea"/>
        <a:cs typeface="+mn-cs"/>
      </a:defRPr>
    </a:lvl7pPr>
    <a:lvl8pPr marL="7559665" algn="l" defTabSz="2159904" rtl="0" eaLnBrk="1" latinLnBrk="0" hangingPunct="1">
      <a:defRPr sz="2835" kern="1200">
        <a:solidFill>
          <a:schemeClr val="tx1"/>
        </a:solidFill>
        <a:latin typeface="+mn-lt"/>
        <a:ea typeface="+mn-ea"/>
        <a:cs typeface="+mn-cs"/>
      </a:defRPr>
    </a:lvl8pPr>
    <a:lvl9pPr marL="8639617" algn="l" defTabSz="2159904" rtl="0" eaLnBrk="1" latinLnBrk="0" hangingPunct="1">
      <a:defRPr sz="28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B1FED-7CB3-4A13-9F96-BECA0934C6D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298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3985" y="4300832"/>
            <a:ext cx="15911830" cy="9149151"/>
          </a:xfrm>
        </p:spPr>
        <p:txBody>
          <a:bodyPr anchor="b"/>
          <a:lstStyle>
            <a:lvl1pPr algn="ctr">
              <a:defRPr sz="1228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975" y="13802810"/>
            <a:ext cx="14039850" cy="6344788"/>
          </a:xfrm>
        </p:spPr>
        <p:txBody>
          <a:bodyPr/>
          <a:lstStyle>
            <a:lvl1pPr marL="0" indent="0" algn="ctr">
              <a:buNone/>
              <a:defRPr sz="4913"/>
            </a:lvl1pPr>
            <a:lvl2pPr marL="935980" indent="0" algn="ctr">
              <a:buNone/>
              <a:defRPr sz="4094"/>
            </a:lvl2pPr>
            <a:lvl3pPr marL="1871960" indent="0" algn="ctr">
              <a:buNone/>
              <a:defRPr sz="3685"/>
            </a:lvl3pPr>
            <a:lvl4pPr marL="2807940" indent="0" algn="ctr">
              <a:buNone/>
              <a:defRPr sz="3276"/>
            </a:lvl4pPr>
            <a:lvl5pPr marL="3743919" indent="0" algn="ctr">
              <a:buNone/>
              <a:defRPr sz="3276"/>
            </a:lvl5pPr>
            <a:lvl6pPr marL="4679899" indent="0" algn="ctr">
              <a:buNone/>
              <a:defRPr sz="3276"/>
            </a:lvl6pPr>
            <a:lvl7pPr marL="5615879" indent="0" algn="ctr">
              <a:buNone/>
              <a:defRPr sz="3276"/>
            </a:lvl7pPr>
            <a:lvl8pPr marL="6551859" indent="0" algn="ctr">
              <a:buNone/>
              <a:defRPr sz="3276"/>
            </a:lvl8pPr>
            <a:lvl9pPr marL="7487839" indent="0" algn="ctr">
              <a:buNone/>
              <a:defRPr sz="32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4FC8-44DB-4E67-BB48-13AC67F4EBA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2246-41CF-4411-8464-9E9A8407B4B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9B23EA-5C02-458E-8428-0530B2F8DFA2}"/>
              </a:ext>
            </a:extLst>
          </p:cNvPr>
          <p:cNvSpPr txBox="1">
            <a:spLocks/>
          </p:cNvSpPr>
          <p:nvPr userDrawn="1"/>
        </p:nvSpPr>
        <p:spPr>
          <a:xfrm>
            <a:off x="21856065" y="8875407"/>
            <a:ext cx="11010084" cy="9149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187196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1228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31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4FC8-44DB-4E67-BB48-13AC67F4EBA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2246-41CF-4411-8464-9E9A8407B4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9295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6986" y="1399144"/>
            <a:ext cx="16145828" cy="5079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GB" sz="9600" dirty="0"/>
              <a:t>Working Group Name (Acronym)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6986" y="6995695"/>
            <a:ext cx="8072914" cy="3794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6986" y="24357186"/>
            <a:ext cx="4211955" cy="1399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34FC8-44DB-4E67-BB48-13AC67F4EBA8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00934" y="24357186"/>
            <a:ext cx="6317933" cy="1399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220859" y="24357186"/>
            <a:ext cx="4211955" cy="1399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E2246-41CF-4411-8464-9E9A8407B4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81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marL="0" indent="0" algn="l" defTabSz="1871960" rtl="0" eaLnBrk="1" latinLnBrk="0" hangingPunct="1">
        <a:lnSpc>
          <a:spcPct val="90000"/>
        </a:lnSpc>
        <a:spcBef>
          <a:spcPct val="0"/>
        </a:spcBef>
        <a:spcAft>
          <a:spcPts val="1200"/>
        </a:spcAft>
        <a:buNone/>
        <a:defRPr sz="90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7990" indent="-467990" algn="l" defTabSz="1871960" rtl="0" eaLnBrk="1" latinLnBrk="0" hangingPunct="1">
        <a:lnSpc>
          <a:spcPct val="90000"/>
        </a:lnSpc>
        <a:spcBef>
          <a:spcPts val="2047"/>
        </a:spcBef>
        <a:buFont typeface="Arial" panose="020B0604020202020204" pitchFamily="34" charset="0"/>
        <a:buChar char="•"/>
        <a:defRPr sz="5732" kern="1200">
          <a:solidFill>
            <a:schemeClr val="tx1"/>
          </a:solidFill>
          <a:latin typeface="+mn-lt"/>
          <a:ea typeface="+mn-ea"/>
          <a:cs typeface="+mn-cs"/>
        </a:defRPr>
      </a:lvl1pPr>
      <a:lvl2pPr marL="1403970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4913" kern="1200">
          <a:solidFill>
            <a:schemeClr val="tx1"/>
          </a:solidFill>
          <a:latin typeface="+mn-lt"/>
          <a:ea typeface="+mn-ea"/>
          <a:cs typeface="+mn-cs"/>
        </a:defRPr>
      </a:lvl2pPr>
      <a:lvl3pPr marL="2339950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4094" kern="1200">
          <a:solidFill>
            <a:schemeClr val="tx1"/>
          </a:solidFill>
          <a:latin typeface="+mn-lt"/>
          <a:ea typeface="+mn-ea"/>
          <a:cs typeface="+mn-cs"/>
        </a:defRPr>
      </a:lvl3pPr>
      <a:lvl4pPr marL="327592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4pPr>
      <a:lvl5pPr marL="421190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5pPr>
      <a:lvl6pPr marL="514788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6pPr>
      <a:lvl7pPr marL="608386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7pPr>
      <a:lvl8pPr marL="701984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8pPr>
      <a:lvl9pPr marL="795582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1pPr>
      <a:lvl2pPr marL="93598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2pPr>
      <a:lvl3pPr marL="187196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3pPr>
      <a:lvl4pPr marL="280794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4pPr>
      <a:lvl5pPr marL="374391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5pPr>
      <a:lvl6pPr marL="467989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6pPr>
      <a:lvl7pPr marL="561587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7pPr>
      <a:lvl8pPr marL="655185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8pPr>
      <a:lvl9pPr marL="748783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2D1FE624-BB84-4D5E-9CF1-DE6DE438F942}"/>
              </a:ext>
            </a:extLst>
          </p:cNvPr>
          <p:cNvGrpSpPr/>
          <p:nvPr/>
        </p:nvGrpSpPr>
        <p:grpSpPr>
          <a:xfrm>
            <a:off x="-4292443" y="-1"/>
            <a:ext cx="25195051" cy="26327343"/>
            <a:chOff x="-4292443" y="-1"/>
            <a:chExt cx="25195051" cy="2632734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174A1DD-44A5-454B-A191-E5446453236F}"/>
                </a:ext>
              </a:extLst>
            </p:cNvPr>
            <p:cNvGrpSpPr/>
            <p:nvPr/>
          </p:nvGrpSpPr>
          <p:grpSpPr>
            <a:xfrm>
              <a:off x="-4292443" y="-1"/>
              <a:ext cx="25195051" cy="26327343"/>
              <a:chOff x="-4292443" y="-1"/>
              <a:chExt cx="25195051" cy="2632734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98C2E30-1C6A-4BAD-9BB5-75D24F82CBC0}"/>
                  </a:ext>
                </a:extLst>
              </p:cNvPr>
              <p:cNvGrpSpPr/>
              <p:nvPr/>
            </p:nvGrpSpPr>
            <p:grpSpPr>
              <a:xfrm>
                <a:off x="-4292443" y="-1"/>
                <a:ext cx="23059835" cy="26327343"/>
                <a:chOff x="-4292443" y="-1"/>
                <a:chExt cx="23059835" cy="26327343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4FB7F851-1211-4B94-B07F-D1E88669A58B}"/>
                    </a:ext>
                  </a:extLst>
                </p:cNvPr>
                <p:cNvSpPr/>
                <p:nvPr/>
              </p:nvSpPr>
              <p:spPr>
                <a:xfrm>
                  <a:off x="-1" y="-1"/>
                  <a:ext cx="10559598" cy="243861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178C110A-2DF1-4ED1-B413-7D77FB190FB6}"/>
                    </a:ext>
                  </a:extLst>
                </p:cNvPr>
                <p:cNvGrpSpPr/>
                <p:nvPr/>
              </p:nvGrpSpPr>
              <p:grpSpPr>
                <a:xfrm>
                  <a:off x="-4292443" y="9954239"/>
                  <a:ext cx="18719801" cy="5371301"/>
                  <a:chOff x="-4318059" y="9451987"/>
                  <a:chExt cx="18719801" cy="5371301"/>
                </a:xfrm>
              </p:grpSpPr>
              <p:sp>
                <p:nvSpPr>
                  <p:cNvPr id="3377" name="Freeform: Shape 3376">
                    <a:extLst>
                      <a:ext uri="{FF2B5EF4-FFF2-40B4-BE49-F238E27FC236}">
                        <a16:creationId xmlns:a16="http://schemas.microsoft.com/office/drawing/2014/main" id="{07ABE41F-0154-4935-8C13-78BBEA7BD7F1}"/>
                      </a:ext>
                    </a:extLst>
                  </p:cNvPr>
                  <p:cNvSpPr/>
                  <p:nvPr/>
                </p:nvSpPr>
                <p:spPr>
                  <a:xfrm>
                    <a:off x="-1299342" y="10273316"/>
                    <a:ext cx="3544963" cy="1603730"/>
                  </a:xfrm>
                  <a:custGeom>
                    <a:avLst/>
                    <a:gdLst>
                      <a:gd name="connsiteX0" fmla="*/ 10785 w 3954474"/>
                      <a:gd name="connsiteY0" fmla="*/ 719957 h 1840628"/>
                      <a:gd name="connsiteX1" fmla="*/ 10785 w 3954474"/>
                      <a:gd name="connsiteY1" fmla="*/ 1841589 h 1840628"/>
                      <a:gd name="connsiteX2" fmla="*/ 3950880 w 3954474"/>
                      <a:gd name="connsiteY2" fmla="*/ 1841589 h 1840628"/>
                      <a:gd name="connsiteX3" fmla="*/ 3950880 w 3954474"/>
                      <a:gd name="connsiteY3" fmla="*/ 144760 h 1840628"/>
                      <a:gd name="connsiteX4" fmla="*/ 3049403 w 3954474"/>
                      <a:gd name="connsiteY4" fmla="*/ 1046237 h 1840628"/>
                      <a:gd name="connsiteX5" fmla="*/ 2014050 w 3954474"/>
                      <a:gd name="connsiteY5" fmla="*/ 10883 h 1840628"/>
                      <a:gd name="connsiteX6" fmla="*/ 1118038 w 3954474"/>
                      <a:gd name="connsiteY6" fmla="*/ 906895 h 1840628"/>
                      <a:gd name="connsiteX7" fmla="*/ 10785 w 3954474"/>
                      <a:gd name="connsiteY7" fmla="*/ 719957 h 18406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954474" h="1840628">
                        <a:moveTo>
                          <a:pt x="10785" y="719957"/>
                        </a:moveTo>
                        <a:lnTo>
                          <a:pt x="10785" y="1841589"/>
                        </a:lnTo>
                        <a:lnTo>
                          <a:pt x="3950880" y="1841589"/>
                        </a:lnTo>
                        <a:lnTo>
                          <a:pt x="3950880" y="144760"/>
                        </a:lnTo>
                        <a:cubicBezTo>
                          <a:pt x="3950880" y="144760"/>
                          <a:pt x="3368062" y="1046237"/>
                          <a:pt x="3049403" y="1046237"/>
                        </a:cubicBezTo>
                        <a:cubicBezTo>
                          <a:pt x="2683291" y="1046237"/>
                          <a:pt x="2379875" y="22819"/>
                          <a:pt x="2014050" y="10883"/>
                        </a:cubicBezTo>
                        <a:cubicBezTo>
                          <a:pt x="1697405" y="530"/>
                          <a:pt x="1419872" y="810550"/>
                          <a:pt x="1118038" y="906895"/>
                        </a:cubicBezTo>
                        <a:cubicBezTo>
                          <a:pt x="850571" y="992312"/>
                          <a:pt x="10785" y="719957"/>
                          <a:pt x="10785" y="719957"/>
                        </a:cubicBezTo>
                        <a:close/>
                      </a:path>
                    </a:pathLst>
                  </a:custGeom>
                  <a:solidFill>
                    <a:schemeClr val="accent4">
                      <a:lumMod val="50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  <p:pic>
                <p:nvPicPr>
                  <p:cNvPr id="32" name="Graphic 31">
                    <a:extLst>
                      <a:ext uri="{FF2B5EF4-FFF2-40B4-BE49-F238E27FC236}">
                        <a16:creationId xmlns:a16="http://schemas.microsoft.com/office/drawing/2014/main" id="{24F8D5F1-72C4-4B44-8A34-626A56E612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4318059" y="10793125"/>
                    <a:ext cx="18719801" cy="3551721"/>
                  </a:xfrm>
                  <a:prstGeom prst="rect">
                    <a:avLst/>
                  </a:prstGeom>
                </p:spPr>
              </p:pic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5BEA271E-85AA-4DCF-9D3A-8EFCB2599F07}"/>
                      </a:ext>
                    </a:extLst>
                  </p:cNvPr>
                  <p:cNvGrpSpPr/>
                  <p:nvPr/>
                </p:nvGrpSpPr>
                <p:grpSpPr>
                  <a:xfrm>
                    <a:off x="-1071227" y="12685121"/>
                    <a:ext cx="2142453" cy="2138167"/>
                    <a:chOff x="6040760" y="11294766"/>
                    <a:chExt cx="1797201" cy="1793605"/>
                  </a:xfrm>
                </p:grpSpPr>
                <p:sp>
                  <p:nvSpPr>
                    <p:cNvPr id="3372" name="Freeform: Shape 3371">
                      <a:extLst>
                        <a:ext uri="{FF2B5EF4-FFF2-40B4-BE49-F238E27FC236}">
                          <a16:creationId xmlns:a16="http://schemas.microsoft.com/office/drawing/2014/main" id="{7FF97C9F-CA29-4D62-9FAB-FA22E4DDCA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32027" y="11294766"/>
                      <a:ext cx="632716" cy="402637"/>
                    </a:xfrm>
                    <a:custGeom>
                      <a:avLst/>
                      <a:gdLst>
                        <a:gd name="connsiteX0" fmla="*/ 481727 w 632715"/>
                        <a:gd name="connsiteY0" fmla="*/ 404794 h 402637"/>
                        <a:gd name="connsiteX1" fmla="*/ 625382 w 632715"/>
                        <a:gd name="connsiteY1" fmla="*/ 261139 h 402637"/>
                        <a:gd name="connsiteX2" fmla="*/ 10785 w 632715"/>
                        <a:gd name="connsiteY2" fmla="*/ 10785 h 402637"/>
                        <a:gd name="connsiteX3" fmla="*/ 10785 w 632715"/>
                        <a:gd name="connsiteY3" fmla="*/ 213973 h 402637"/>
                        <a:gd name="connsiteX4" fmla="*/ 481727 w 632715"/>
                        <a:gd name="connsiteY4" fmla="*/ 404794 h 4026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32715" h="402637">
                          <a:moveTo>
                            <a:pt x="481727" y="404794"/>
                          </a:moveTo>
                          <a:lnTo>
                            <a:pt x="625382" y="261139"/>
                          </a:lnTo>
                          <a:cubicBezTo>
                            <a:pt x="466196" y="106843"/>
                            <a:pt x="249635" y="11648"/>
                            <a:pt x="10785" y="10785"/>
                          </a:cubicBezTo>
                          <a:lnTo>
                            <a:pt x="10785" y="213973"/>
                          </a:lnTo>
                          <a:cubicBezTo>
                            <a:pt x="193553" y="214836"/>
                            <a:pt x="359498" y="287310"/>
                            <a:pt x="481727" y="404794"/>
                          </a:cubicBezTo>
                          <a:close/>
                        </a:path>
                      </a:pathLst>
                    </a:custGeom>
                    <a:solidFill>
                      <a:schemeClr val="accent4">
                        <a:lumMod val="75000"/>
                      </a:schemeClr>
                    </a:solidFill>
                    <a:ln w="9525" cap="flat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373" name="Freeform: Shape 3372">
                      <a:extLst>
                        <a:ext uri="{FF2B5EF4-FFF2-40B4-BE49-F238E27FC236}">
                          <a16:creationId xmlns:a16="http://schemas.microsoft.com/office/drawing/2014/main" id="{713363CC-838F-48AD-BBF4-96210C0A03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760" y="12159717"/>
                      <a:ext cx="402637" cy="661476"/>
                    </a:xfrm>
                    <a:custGeom>
                      <a:avLst/>
                      <a:gdLst>
                        <a:gd name="connsiteX0" fmla="*/ 213973 w 402637"/>
                        <a:gd name="connsiteY0" fmla="*/ 33793 h 661475"/>
                        <a:gd name="connsiteX1" fmla="*/ 214404 w 402637"/>
                        <a:gd name="connsiteY1" fmla="*/ 10785 h 661475"/>
                        <a:gd name="connsiteX2" fmla="*/ 11072 w 402637"/>
                        <a:gd name="connsiteY2" fmla="*/ 10785 h 661475"/>
                        <a:gd name="connsiteX3" fmla="*/ 10785 w 402637"/>
                        <a:gd name="connsiteY3" fmla="*/ 33793 h 661475"/>
                        <a:gd name="connsiteX4" fmla="*/ 261139 w 402637"/>
                        <a:gd name="connsiteY4" fmla="*/ 651698 h 661475"/>
                        <a:gd name="connsiteX5" fmla="*/ 404794 w 402637"/>
                        <a:gd name="connsiteY5" fmla="*/ 508042 h 661475"/>
                        <a:gd name="connsiteX6" fmla="*/ 213973 w 402637"/>
                        <a:gd name="connsiteY6" fmla="*/ 33793 h 6614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402637" h="661475">
                          <a:moveTo>
                            <a:pt x="213973" y="33793"/>
                          </a:moveTo>
                          <a:cubicBezTo>
                            <a:pt x="213973" y="26172"/>
                            <a:pt x="214117" y="18406"/>
                            <a:pt x="214404" y="10785"/>
                          </a:cubicBezTo>
                          <a:lnTo>
                            <a:pt x="11072" y="10785"/>
                          </a:lnTo>
                          <a:cubicBezTo>
                            <a:pt x="10929" y="18406"/>
                            <a:pt x="10785" y="26028"/>
                            <a:pt x="10785" y="33793"/>
                          </a:cubicBezTo>
                          <a:cubicBezTo>
                            <a:pt x="10785" y="273938"/>
                            <a:pt x="106268" y="491937"/>
                            <a:pt x="261139" y="651698"/>
                          </a:cubicBezTo>
                          <a:lnTo>
                            <a:pt x="404794" y="508042"/>
                          </a:lnTo>
                          <a:cubicBezTo>
                            <a:pt x="286591" y="384950"/>
                            <a:pt x="213973" y="217856"/>
                            <a:pt x="213973" y="33793"/>
                          </a:cubicBezTo>
                          <a:close/>
                        </a:path>
                      </a:pathLst>
                    </a:custGeom>
                    <a:solidFill>
                      <a:schemeClr val="tx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374" name="Freeform: Shape 3373">
                      <a:extLst>
                        <a:ext uri="{FF2B5EF4-FFF2-40B4-BE49-F238E27FC236}">
                          <a16:creationId xmlns:a16="http://schemas.microsoft.com/office/drawing/2014/main" id="{71356D01-E0C4-4806-A8EF-23242B98A2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32027" y="11549471"/>
                      <a:ext cx="905934" cy="1538650"/>
                    </a:xfrm>
                    <a:custGeom>
                      <a:avLst/>
                      <a:gdLst>
                        <a:gd name="connsiteX0" fmla="*/ 895149 w 905934"/>
                        <a:gd name="connsiteY0" fmla="*/ 625382 h 1538650"/>
                        <a:gd name="connsiteX1" fmla="*/ 625382 w 905934"/>
                        <a:gd name="connsiteY1" fmla="*/ 10785 h 1538650"/>
                        <a:gd name="connsiteX2" fmla="*/ 481727 w 905934"/>
                        <a:gd name="connsiteY2" fmla="*/ 154440 h 1538650"/>
                        <a:gd name="connsiteX3" fmla="*/ 692249 w 905934"/>
                        <a:gd name="connsiteY3" fmla="*/ 648390 h 1538650"/>
                        <a:gd name="connsiteX4" fmla="*/ 10785 w 905934"/>
                        <a:gd name="connsiteY4" fmla="*/ 1333161 h 1538650"/>
                        <a:gd name="connsiteX5" fmla="*/ 10785 w 905934"/>
                        <a:gd name="connsiteY5" fmla="*/ 1536350 h 1538650"/>
                        <a:gd name="connsiteX6" fmla="*/ 895437 w 905934"/>
                        <a:gd name="connsiteY6" fmla="*/ 648390 h 1538650"/>
                        <a:gd name="connsiteX7" fmla="*/ 895149 w 905934"/>
                        <a:gd name="connsiteY7" fmla="*/ 625526 h 15386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905934" h="1538650">
                          <a:moveTo>
                            <a:pt x="895149" y="625382"/>
                          </a:moveTo>
                          <a:cubicBezTo>
                            <a:pt x="888966" y="384375"/>
                            <a:pt x="786869" y="167238"/>
                            <a:pt x="625382" y="10785"/>
                          </a:cubicBezTo>
                          <a:lnTo>
                            <a:pt x="481727" y="154440"/>
                          </a:lnTo>
                          <a:cubicBezTo>
                            <a:pt x="611434" y="279114"/>
                            <a:pt x="692249" y="454261"/>
                            <a:pt x="692249" y="648390"/>
                          </a:cubicBezTo>
                          <a:cubicBezTo>
                            <a:pt x="692249" y="1025575"/>
                            <a:pt x="387395" y="1331436"/>
                            <a:pt x="10785" y="1333161"/>
                          </a:cubicBezTo>
                          <a:lnTo>
                            <a:pt x="10785" y="1536350"/>
                          </a:lnTo>
                          <a:cubicBezTo>
                            <a:pt x="499702" y="1534624"/>
                            <a:pt x="895437" y="1137738"/>
                            <a:pt x="895437" y="648390"/>
                          </a:cubicBezTo>
                          <a:cubicBezTo>
                            <a:pt x="895437" y="640769"/>
                            <a:pt x="895437" y="633148"/>
                            <a:pt x="895149" y="62552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3375" name="Freeform: Shape 3374">
                      <a:extLst>
                        <a:ext uri="{FF2B5EF4-FFF2-40B4-BE49-F238E27FC236}">
                          <a16:creationId xmlns:a16="http://schemas.microsoft.com/office/drawing/2014/main" id="{88FAE797-0047-46D4-B094-93E0E475E2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1048" y="11294766"/>
                      <a:ext cx="905934" cy="877174"/>
                    </a:xfrm>
                    <a:custGeom>
                      <a:avLst/>
                      <a:gdLst>
                        <a:gd name="connsiteX0" fmla="*/ 898457 w 905934"/>
                        <a:gd name="connsiteY0" fmla="*/ 213973 h 877174"/>
                        <a:gd name="connsiteX1" fmla="*/ 901764 w 905934"/>
                        <a:gd name="connsiteY1" fmla="*/ 213973 h 877174"/>
                        <a:gd name="connsiteX2" fmla="*/ 901764 w 905934"/>
                        <a:gd name="connsiteY2" fmla="*/ 10785 h 877174"/>
                        <a:gd name="connsiteX3" fmla="*/ 898457 w 905934"/>
                        <a:gd name="connsiteY3" fmla="*/ 10785 h 877174"/>
                        <a:gd name="connsiteX4" fmla="*/ 10785 w 905934"/>
                        <a:gd name="connsiteY4" fmla="*/ 875736 h 877174"/>
                        <a:gd name="connsiteX5" fmla="*/ 214117 w 905934"/>
                        <a:gd name="connsiteY5" fmla="*/ 875736 h 877174"/>
                        <a:gd name="connsiteX6" fmla="*/ 898457 w 905934"/>
                        <a:gd name="connsiteY6" fmla="*/ 213829 h 8771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905934" h="877174">
                          <a:moveTo>
                            <a:pt x="898457" y="213973"/>
                          </a:moveTo>
                          <a:cubicBezTo>
                            <a:pt x="899607" y="213973"/>
                            <a:pt x="900614" y="213973"/>
                            <a:pt x="901764" y="213973"/>
                          </a:cubicBezTo>
                          <a:lnTo>
                            <a:pt x="901764" y="10785"/>
                          </a:lnTo>
                          <a:cubicBezTo>
                            <a:pt x="900614" y="10785"/>
                            <a:pt x="899607" y="10785"/>
                            <a:pt x="898457" y="10785"/>
                          </a:cubicBezTo>
                          <a:cubicBezTo>
                            <a:pt x="415723" y="10785"/>
                            <a:pt x="23008" y="396023"/>
                            <a:pt x="10785" y="875736"/>
                          </a:cubicBezTo>
                          <a:lnTo>
                            <a:pt x="214117" y="875736"/>
                          </a:lnTo>
                          <a:cubicBezTo>
                            <a:pt x="226196" y="508186"/>
                            <a:pt x="528030" y="213829"/>
                            <a:pt x="898457" y="213829"/>
                          </a:cubicBezTo>
                          <a:close/>
                        </a:path>
                      </a:pathLst>
                    </a:cu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376" name="Freeform: Shape 3375">
                      <a:extLst>
                        <a:ext uri="{FF2B5EF4-FFF2-40B4-BE49-F238E27FC236}">
                          <a16:creationId xmlns:a16="http://schemas.microsoft.com/office/drawing/2014/main" id="{51B154CB-6F3D-42ED-8989-FB54590CE8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1115" y="12656974"/>
                      <a:ext cx="661476" cy="431397"/>
                    </a:xfrm>
                    <a:custGeom>
                      <a:avLst/>
                      <a:gdLst>
                        <a:gd name="connsiteX0" fmla="*/ 648390 w 661475"/>
                        <a:gd name="connsiteY0" fmla="*/ 221307 h 431397"/>
                        <a:gd name="connsiteX1" fmla="*/ 154440 w 661475"/>
                        <a:gd name="connsiteY1" fmla="*/ 10785 h 431397"/>
                        <a:gd name="connsiteX2" fmla="*/ 10785 w 661475"/>
                        <a:gd name="connsiteY2" fmla="*/ 154440 h 431397"/>
                        <a:gd name="connsiteX3" fmla="*/ 648390 w 661475"/>
                        <a:gd name="connsiteY3" fmla="*/ 424495 h 431397"/>
                        <a:gd name="connsiteX4" fmla="*/ 651698 w 661475"/>
                        <a:gd name="connsiteY4" fmla="*/ 424495 h 431397"/>
                        <a:gd name="connsiteX5" fmla="*/ 651698 w 661475"/>
                        <a:gd name="connsiteY5" fmla="*/ 221307 h 431397"/>
                        <a:gd name="connsiteX6" fmla="*/ 648390 w 661475"/>
                        <a:gd name="connsiteY6" fmla="*/ 221307 h 431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61475" h="431397">
                          <a:moveTo>
                            <a:pt x="648390" y="221307"/>
                          </a:moveTo>
                          <a:cubicBezTo>
                            <a:pt x="454261" y="221307"/>
                            <a:pt x="279114" y="140492"/>
                            <a:pt x="154440" y="10785"/>
                          </a:cubicBezTo>
                          <a:lnTo>
                            <a:pt x="10785" y="154440"/>
                          </a:lnTo>
                          <a:cubicBezTo>
                            <a:pt x="172128" y="320959"/>
                            <a:pt x="398180" y="424495"/>
                            <a:pt x="648390" y="424495"/>
                          </a:cubicBezTo>
                          <a:cubicBezTo>
                            <a:pt x="649540" y="424495"/>
                            <a:pt x="650547" y="424495"/>
                            <a:pt x="651698" y="424495"/>
                          </a:cubicBezTo>
                          <a:lnTo>
                            <a:pt x="651698" y="221307"/>
                          </a:lnTo>
                          <a:cubicBezTo>
                            <a:pt x="650547" y="221307"/>
                            <a:pt x="649540" y="221307"/>
                            <a:pt x="648390" y="221307"/>
                          </a:cubicBezTo>
                          <a:close/>
                        </a:path>
                      </a:pathLst>
                    </a:cu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3379" name="Group 3378">
                    <a:extLst>
                      <a:ext uri="{FF2B5EF4-FFF2-40B4-BE49-F238E27FC236}">
                        <a16:creationId xmlns:a16="http://schemas.microsoft.com/office/drawing/2014/main" id="{437EECA8-8698-428E-A505-86F4B6712151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9493580" y="10414609"/>
                    <a:ext cx="1924012" cy="1920551"/>
                    <a:chOff x="-4330294" y="10159522"/>
                    <a:chExt cx="2319337" cy="2315166"/>
                  </a:xfrm>
                </p:grpSpPr>
                <p:sp>
                  <p:nvSpPr>
                    <p:cNvPr id="3368" name="Freeform: Shape 3367">
                      <a:extLst>
                        <a:ext uri="{FF2B5EF4-FFF2-40B4-BE49-F238E27FC236}">
                          <a16:creationId xmlns:a16="http://schemas.microsoft.com/office/drawing/2014/main" id="{00B25E64-2C03-49A6-8E54-2863256B77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330294" y="11280149"/>
                      <a:ext cx="1164773" cy="848414"/>
                    </a:xfrm>
                    <a:custGeom>
                      <a:avLst/>
                      <a:gdLst>
                        <a:gd name="connsiteX0" fmla="*/ 11216 w 1164772"/>
                        <a:gd name="connsiteY0" fmla="*/ 10785 h 848414"/>
                        <a:gd name="connsiteX1" fmla="*/ 10785 w 1164772"/>
                        <a:gd name="connsiteY1" fmla="*/ 40551 h 848414"/>
                        <a:gd name="connsiteX2" fmla="*/ 335196 w 1164772"/>
                        <a:gd name="connsiteY2" fmla="*/ 841081 h 848414"/>
                        <a:gd name="connsiteX3" fmla="*/ 1165492 w 1164772"/>
                        <a:gd name="connsiteY3" fmla="*/ 10785 h 848414"/>
                        <a:gd name="connsiteX4" fmla="*/ 11216 w 1164772"/>
                        <a:gd name="connsiteY4" fmla="*/ 10785 h 8484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64772" h="848414">
                          <a:moveTo>
                            <a:pt x="11216" y="10785"/>
                          </a:moveTo>
                          <a:cubicBezTo>
                            <a:pt x="10929" y="20707"/>
                            <a:pt x="10785" y="30629"/>
                            <a:pt x="10785" y="40551"/>
                          </a:cubicBezTo>
                          <a:cubicBezTo>
                            <a:pt x="10785" y="351733"/>
                            <a:pt x="134452" y="634010"/>
                            <a:pt x="335196" y="841081"/>
                          </a:cubicBezTo>
                          <a:lnTo>
                            <a:pt x="1165492" y="10785"/>
                          </a:lnTo>
                          <a:lnTo>
                            <a:pt x="11216" y="10785"/>
                          </a:lnTo>
                          <a:close/>
                        </a:path>
                      </a:pathLst>
                    </a:cu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369" name="Freeform: Shape 3368">
                      <a:extLst>
                        <a:ext uri="{FF2B5EF4-FFF2-40B4-BE49-F238E27FC236}">
                          <a16:creationId xmlns:a16="http://schemas.microsoft.com/office/drawing/2014/main" id="{612A022B-BD5E-4E75-A00E-52AECF8576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175730" y="10159523"/>
                      <a:ext cx="1164773" cy="2315165"/>
                    </a:xfrm>
                    <a:custGeom>
                      <a:avLst/>
                      <a:gdLst>
                        <a:gd name="connsiteX0" fmla="*/ 1156576 w 1164772"/>
                        <a:gd name="connsiteY0" fmla="*/ 1131411 h 2315165"/>
                        <a:gd name="connsiteX1" fmla="*/ 807144 w 1164772"/>
                        <a:gd name="connsiteY1" fmla="*/ 335052 h 2315165"/>
                        <a:gd name="connsiteX2" fmla="*/ 10785 w 1164772"/>
                        <a:gd name="connsiteY2" fmla="*/ 10785 h 2315165"/>
                        <a:gd name="connsiteX3" fmla="*/ 10785 w 1164772"/>
                        <a:gd name="connsiteY3" fmla="*/ 1131411 h 2315165"/>
                        <a:gd name="connsiteX4" fmla="*/ 10785 w 1164772"/>
                        <a:gd name="connsiteY4" fmla="*/ 1131411 h 2315165"/>
                        <a:gd name="connsiteX5" fmla="*/ 10785 w 1164772"/>
                        <a:gd name="connsiteY5" fmla="*/ 2311426 h 2315165"/>
                        <a:gd name="connsiteX6" fmla="*/ 1156864 w 1164772"/>
                        <a:gd name="connsiteY6" fmla="*/ 1161034 h 2315165"/>
                        <a:gd name="connsiteX7" fmla="*/ 1156432 w 1164772"/>
                        <a:gd name="connsiteY7" fmla="*/ 1131268 h 23151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64772" h="2315165">
                          <a:moveTo>
                            <a:pt x="1156576" y="1131411"/>
                          </a:moveTo>
                          <a:cubicBezTo>
                            <a:pt x="1148667" y="819079"/>
                            <a:pt x="1016228" y="537808"/>
                            <a:pt x="807144" y="335052"/>
                          </a:cubicBezTo>
                          <a:cubicBezTo>
                            <a:pt x="600936" y="135171"/>
                            <a:pt x="320384" y="11935"/>
                            <a:pt x="10785" y="10785"/>
                          </a:cubicBezTo>
                          <a:lnTo>
                            <a:pt x="10785" y="1131411"/>
                          </a:lnTo>
                          <a:lnTo>
                            <a:pt x="10785" y="1131411"/>
                          </a:lnTo>
                          <a:lnTo>
                            <a:pt x="10785" y="2311426"/>
                          </a:lnTo>
                          <a:cubicBezTo>
                            <a:pt x="644220" y="2309125"/>
                            <a:pt x="1156864" y="1795044"/>
                            <a:pt x="1156864" y="1161034"/>
                          </a:cubicBezTo>
                          <a:cubicBezTo>
                            <a:pt x="1156864" y="1151111"/>
                            <a:pt x="1156864" y="1141189"/>
                            <a:pt x="1156432" y="113126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370" name="Freeform: Shape 3369">
                      <a:extLst>
                        <a:ext uri="{FF2B5EF4-FFF2-40B4-BE49-F238E27FC236}">
                          <a16:creationId xmlns:a16="http://schemas.microsoft.com/office/drawing/2014/main" id="{86CB040C-5DBD-4AA4-94EC-643FBEE99C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329862" y="10159522"/>
                      <a:ext cx="1164773" cy="1136013"/>
                    </a:xfrm>
                    <a:custGeom>
                      <a:avLst/>
                      <a:gdLst>
                        <a:gd name="connsiteX0" fmla="*/ 1165060 w 1164772"/>
                        <a:gd name="connsiteY0" fmla="*/ 1131411 h 1136012"/>
                        <a:gd name="connsiteX1" fmla="*/ 1165060 w 1164772"/>
                        <a:gd name="connsiteY1" fmla="*/ 10785 h 1136012"/>
                        <a:gd name="connsiteX2" fmla="*/ 1160746 w 1164772"/>
                        <a:gd name="connsiteY2" fmla="*/ 10785 h 1136012"/>
                        <a:gd name="connsiteX3" fmla="*/ 10785 w 1164772"/>
                        <a:gd name="connsiteY3" fmla="*/ 1131411 h 1136012"/>
                        <a:gd name="connsiteX4" fmla="*/ 1165060 w 1164772"/>
                        <a:gd name="connsiteY4" fmla="*/ 1131411 h 1136012"/>
                        <a:gd name="connsiteX5" fmla="*/ 1165060 w 1164772"/>
                        <a:gd name="connsiteY5" fmla="*/ 1131411 h 11360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164772" h="1136012">
                          <a:moveTo>
                            <a:pt x="1165060" y="1131411"/>
                          </a:moveTo>
                          <a:lnTo>
                            <a:pt x="1165060" y="10785"/>
                          </a:lnTo>
                          <a:cubicBezTo>
                            <a:pt x="1163622" y="10785"/>
                            <a:pt x="1162184" y="10785"/>
                            <a:pt x="1160746" y="10785"/>
                          </a:cubicBezTo>
                          <a:cubicBezTo>
                            <a:pt x="535364" y="10785"/>
                            <a:pt x="26459" y="509911"/>
                            <a:pt x="10785" y="1131411"/>
                          </a:cubicBezTo>
                          <a:lnTo>
                            <a:pt x="1165060" y="1131411"/>
                          </a:lnTo>
                          <a:cubicBezTo>
                            <a:pt x="1165060" y="1131411"/>
                            <a:pt x="1165060" y="1131411"/>
                            <a:pt x="1165060" y="1131411"/>
                          </a:cubicBezTo>
                          <a:close/>
                        </a:path>
                      </a:pathLst>
                    </a:custGeom>
                    <a:solidFill>
                      <a:schemeClr val="accent4">
                        <a:lumMod val="5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3371" name="Freeform: Shape 3370">
                      <a:extLst>
                        <a:ext uri="{FF2B5EF4-FFF2-40B4-BE49-F238E27FC236}">
                          <a16:creationId xmlns:a16="http://schemas.microsoft.com/office/drawing/2014/main" id="{2367091D-37EE-4E79-8B6E-E5E3E21686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005882" y="11280148"/>
                      <a:ext cx="848414" cy="1193532"/>
                    </a:xfrm>
                    <a:custGeom>
                      <a:avLst/>
                      <a:gdLst>
                        <a:gd name="connsiteX0" fmla="*/ 841081 w 848414"/>
                        <a:gd name="connsiteY0" fmla="*/ 10785 h 1193532"/>
                        <a:gd name="connsiteX1" fmla="*/ 10785 w 848414"/>
                        <a:gd name="connsiteY1" fmla="*/ 841081 h 1193532"/>
                        <a:gd name="connsiteX2" fmla="*/ 836767 w 848414"/>
                        <a:gd name="connsiteY2" fmla="*/ 1190944 h 1193532"/>
                        <a:gd name="connsiteX3" fmla="*/ 841081 w 848414"/>
                        <a:gd name="connsiteY3" fmla="*/ 1190944 h 1193532"/>
                        <a:gd name="connsiteX4" fmla="*/ 841081 w 848414"/>
                        <a:gd name="connsiteY4" fmla="*/ 10929 h 1193532"/>
                        <a:gd name="connsiteX5" fmla="*/ 841081 w 848414"/>
                        <a:gd name="connsiteY5" fmla="*/ 10929 h 11935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48414" h="1193532">
                          <a:moveTo>
                            <a:pt x="841081" y="10785"/>
                          </a:moveTo>
                          <a:lnTo>
                            <a:pt x="10785" y="841081"/>
                          </a:lnTo>
                          <a:cubicBezTo>
                            <a:pt x="219869" y="1056780"/>
                            <a:pt x="512644" y="1190944"/>
                            <a:pt x="836767" y="1190944"/>
                          </a:cubicBezTo>
                          <a:cubicBezTo>
                            <a:pt x="838205" y="1190944"/>
                            <a:pt x="839643" y="1190944"/>
                            <a:pt x="841081" y="1190944"/>
                          </a:cubicBezTo>
                          <a:lnTo>
                            <a:pt x="841081" y="10929"/>
                          </a:lnTo>
                          <a:lnTo>
                            <a:pt x="841081" y="10929"/>
                          </a:lnTo>
                          <a:close/>
                        </a:path>
                      </a:pathLst>
                    </a:cu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dirty="0"/>
                    </a:p>
                  </p:txBody>
                </p:sp>
              </p:grpSp>
              <p:sp>
                <p:nvSpPr>
                  <p:cNvPr id="3378" name="Freeform: Shape 3377">
                    <a:extLst>
                      <a:ext uri="{FF2B5EF4-FFF2-40B4-BE49-F238E27FC236}">
                        <a16:creationId xmlns:a16="http://schemas.microsoft.com/office/drawing/2014/main" id="{12397EFE-A0D3-4482-936F-A6ADA21B30A7}"/>
                      </a:ext>
                    </a:extLst>
                  </p:cNvPr>
                  <p:cNvSpPr/>
                  <p:nvPr/>
                </p:nvSpPr>
                <p:spPr>
                  <a:xfrm>
                    <a:off x="-1426661" y="10085940"/>
                    <a:ext cx="3886047" cy="1666377"/>
                  </a:xfrm>
                  <a:custGeom>
                    <a:avLst/>
                    <a:gdLst>
                      <a:gd name="connsiteX0" fmla="*/ 3900838 w 3911334"/>
                      <a:gd name="connsiteY0" fmla="*/ 1907495 h 1912527"/>
                      <a:gd name="connsiteX1" fmla="*/ 3516319 w 3911334"/>
                      <a:gd name="connsiteY1" fmla="*/ 589145 h 1912527"/>
                      <a:gd name="connsiteX2" fmla="*/ 3202118 w 3911334"/>
                      <a:gd name="connsiteY2" fmla="*/ 883645 h 1912527"/>
                      <a:gd name="connsiteX3" fmla="*/ 2877995 w 3911334"/>
                      <a:gd name="connsiteY3" fmla="*/ 1229338 h 1912527"/>
                      <a:gd name="connsiteX4" fmla="*/ 2555310 w 3911334"/>
                      <a:gd name="connsiteY4" fmla="*/ 642926 h 1912527"/>
                      <a:gd name="connsiteX5" fmla="*/ 2205590 w 3911334"/>
                      <a:gd name="connsiteY5" fmla="*/ 21426 h 1912527"/>
                      <a:gd name="connsiteX6" fmla="*/ 2202139 w 3911334"/>
                      <a:gd name="connsiteY6" fmla="*/ 21426 h 1912527"/>
                      <a:gd name="connsiteX7" fmla="*/ 1756362 w 3911334"/>
                      <a:gd name="connsiteY7" fmla="*/ 657018 h 1912527"/>
                      <a:gd name="connsiteX8" fmla="*/ 1231783 w 3911334"/>
                      <a:gd name="connsiteY8" fmla="*/ 1380327 h 1912527"/>
                      <a:gd name="connsiteX9" fmla="*/ 1195546 w 3911334"/>
                      <a:gd name="connsiteY9" fmla="*/ 1381909 h 1912527"/>
                      <a:gd name="connsiteX10" fmla="*/ 704616 w 3911334"/>
                      <a:gd name="connsiteY10" fmla="*/ 996384 h 1912527"/>
                      <a:gd name="connsiteX11" fmla="*/ 367407 w 3911334"/>
                      <a:gd name="connsiteY11" fmla="*/ 675712 h 1912527"/>
                      <a:gd name="connsiteX12" fmla="*/ 261571 w 3911334"/>
                      <a:gd name="connsiteY12" fmla="*/ 705334 h 1912527"/>
                      <a:gd name="connsiteX13" fmla="*/ 21570 w 3911334"/>
                      <a:gd name="connsiteY13" fmla="*/ 1900017 h 1912527"/>
                      <a:gd name="connsiteX14" fmla="*/ 10785 w 3911334"/>
                      <a:gd name="connsiteY14" fmla="*/ 1900017 h 1912527"/>
                      <a:gd name="connsiteX15" fmla="*/ 254812 w 3911334"/>
                      <a:gd name="connsiteY15" fmla="*/ 697138 h 1912527"/>
                      <a:gd name="connsiteX16" fmla="*/ 369564 w 3911334"/>
                      <a:gd name="connsiteY16" fmla="*/ 665215 h 1912527"/>
                      <a:gd name="connsiteX17" fmla="*/ 713675 w 3911334"/>
                      <a:gd name="connsiteY17" fmla="*/ 990488 h 1912527"/>
                      <a:gd name="connsiteX18" fmla="*/ 1230920 w 3911334"/>
                      <a:gd name="connsiteY18" fmla="*/ 1369686 h 1912527"/>
                      <a:gd name="connsiteX19" fmla="*/ 1746440 w 3911334"/>
                      <a:gd name="connsiteY19" fmla="*/ 652992 h 1912527"/>
                      <a:gd name="connsiteX20" fmla="*/ 2201995 w 3911334"/>
                      <a:gd name="connsiteY20" fmla="*/ 10785 h 1912527"/>
                      <a:gd name="connsiteX21" fmla="*/ 2205734 w 3911334"/>
                      <a:gd name="connsiteY21" fmla="*/ 10785 h 1912527"/>
                      <a:gd name="connsiteX22" fmla="*/ 2565807 w 3911334"/>
                      <a:gd name="connsiteY22" fmla="*/ 640481 h 1912527"/>
                      <a:gd name="connsiteX23" fmla="*/ 2877995 w 3911334"/>
                      <a:gd name="connsiteY23" fmla="*/ 1218697 h 1912527"/>
                      <a:gd name="connsiteX24" fmla="*/ 3192484 w 3911334"/>
                      <a:gd name="connsiteY24" fmla="*/ 879044 h 1912527"/>
                      <a:gd name="connsiteX25" fmla="*/ 3519627 w 3911334"/>
                      <a:gd name="connsiteY25" fmla="*/ 578935 h 1912527"/>
                      <a:gd name="connsiteX26" fmla="*/ 3911623 w 3911334"/>
                      <a:gd name="connsiteY26" fmla="*/ 1906488 h 1912527"/>
                      <a:gd name="connsiteX27" fmla="*/ 3900838 w 3911334"/>
                      <a:gd name="connsiteY27" fmla="*/ 1907495 h 1912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3911334" h="1912527">
                        <a:moveTo>
                          <a:pt x="3900838" y="1907495"/>
                        </a:moveTo>
                        <a:cubicBezTo>
                          <a:pt x="3899687" y="1895128"/>
                          <a:pt x="3783067" y="673411"/>
                          <a:pt x="3516319" y="589145"/>
                        </a:cubicBezTo>
                        <a:cubicBezTo>
                          <a:pt x="3369069" y="542698"/>
                          <a:pt x="3287966" y="708354"/>
                          <a:pt x="3202118" y="883645"/>
                        </a:cubicBezTo>
                        <a:cubicBezTo>
                          <a:pt x="3119002" y="1053616"/>
                          <a:pt x="3032867" y="1229338"/>
                          <a:pt x="2877995" y="1229338"/>
                        </a:cubicBezTo>
                        <a:cubicBezTo>
                          <a:pt x="2700116" y="1229338"/>
                          <a:pt x="2629798" y="944472"/>
                          <a:pt x="2555310" y="642926"/>
                        </a:cubicBezTo>
                        <a:cubicBezTo>
                          <a:pt x="2479815" y="337353"/>
                          <a:pt x="2401877" y="21426"/>
                          <a:pt x="2205590" y="21426"/>
                        </a:cubicBezTo>
                        <a:cubicBezTo>
                          <a:pt x="2204440" y="21426"/>
                          <a:pt x="2203290" y="21426"/>
                          <a:pt x="2202139" y="21426"/>
                        </a:cubicBezTo>
                        <a:cubicBezTo>
                          <a:pt x="2020665" y="24877"/>
                          <a:pt x="1892253" y="331888"/>
                          <a:pt x="1756362" y="657018"/>
                        </a:cubicBezTo>
                        <a:cubicBezTo>
                          <a:pt x="1611556" y="1003142"/>
                          <a:pt x="1461862" y="1361058"/>
                          <a:pt x="1231783" y="1380327"/>
                        </a:cubicBezTo>
                        <a:cubicBezTo>
                          <a:pt x="1219417" y="1381334"/>
                          <a:pt x="1207337" y="1381909"/>
                          <a:pt x="1195546" y="1381909"/>
                        </a:cubicBezTo>
                        <a:cubicBezTo>
                          <a:pt x="963022" y="1381909"/>
                          <a:pt x="831734" y="1186055"/>
                          <a:pt x="704616" y="996384"/>
                        </a:cubicBezTo>
                        <a:cubicBezTo>
                          <a:pt x="603093" y="844820"/>
                          <a:pt x="507036" y="701596"/>
                          <a:pt x="367407" y="675712"/>
                        </a:cubicBezTo>
                        <a:cubicBezTo>
                          <a:pt x="329444" y="668666"/>
                          <a:pt x="293782" y="678588"/>
                          <a:pt x="261571" y="705334"/>
                        </a:cubicBezTo>
                        <a:cubicBezTo>
                          <a:pt x="29048" y="897594"/>
                          <a:pt x="21570" y="1889951"/>
                          <a:pt x="21570" y="1900017"/>
                        </a:cubicBezTo>
                        <a:lnTo>
                          <a:pt x="10785" y="1900017"/>
                        </a:lnTo>
                        <a:cubicBezTo>
                          <a:pt x="10929" y="1858891"/>
                          <a:pt x="18263" y="892561"/>
                          <a:pt x="254812" y="697138"/>
                        </a:cubicBezTo>
                        <a:cubicBezTo>
                          <a:pt x="289612" y="668234"/>
                          <a:pt x="328294" y="657593"/>
                          <a:pt x="369564" y="665215"/>
                        </a:cubicBezTo>
                        <a:cubicBezTo>
                          <a:pt x="513650" y="692105"/>
                          <a:pt x="610859" y="837054"/>
                          <a:pt x="713675" y="990488"/>
                        </a:cubicBezTo>
                        <a:cubicBezTo>
                          <a:pt x="845539" y="1187205"/>
                          <a:pt x="981861" y="1390537"/>
                          <a:pt x="1230920" y="1369686"/>
                        </a:cubicBezTo>
                        <a:cubicBezTo>
                          <a:pt x="1454528" y="1350992"/>
                          <a:pt x="1602928" y="996096"/>
                          <a:pt x="1746440" y="652992"/>
                        </a:cubicBezTo>
                        <a:cubicBezTo>
                          <a:pt x="1883768" y="324554"/>
                          <a:pt x="2013475" y="14380"/>
                          <a:pt x="2201995" y="10785"/>
                        </a:cubicBezTo>
                        <a:cubicBezTo>
                          <a:pt x="2203290" y="10785"/>
                          <a:pt x="2204440" y="10785"/>
                          <a:pt x="2205734" y="10785"/>
                        </a:cubicBezTo>
                        <a:cubicBezTo>
                          <a:pt x="2410361" y="10785"/>
                          <a:pt x="2489306" y="330882"/>
                          <a:pt x="2565807" y="640481"/>
                        </a:cubicBezTo>
                        <a:cubicBezTo>
                          <a:pt x="2639289" y="937858"/>
                          <a:pt x="2708600" y="1218697"/>
                          <a:pt x="2877995" y="1218697"/>
                        </a:cubicBezTo>
                        <a:cubicBezTo>
                          <a:pt x="3026252" y="1218697"/>
                          <a:pt x="3110662" y="1045994"/>
                          <a:pt x="3192484" y="879044"/>
                        </a:cubicBezTo>
                        <a:cubicBezTo>
                          <a:pt x="3280489" y="699439"/>
                          <a:pt x="3363605" y="529756"/>
                          <a:pt x="3519627" y="578935"/>
                        </a:cubicBezTo>
                        <a:cubicBezTo>
                          <a:pt x="3793133" y="665358"/>
                          <a:pt x="3906877" y="1855871"/>
                          <a:pt x="3911623" y="1906488"/>
                        </a:cubicBezTo>
                        <a:lnTo>
                          <a:pt x="3900838" y="1907495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28575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  <p:grpSp>
                <p:nvGrpSpPr>
                  <p:cNvPr id="2" name="Group 1">
                    <a:extLst>
                      <a:ext uri="{FF2B5EF4-FFF2-40B4-BE49-F238E27FC236}">
                        <a16:creationId xmlns:a16="http://schemas.microsoft.com/office/drawing/2014/main" id="{90B2497A-95F0-469F-8E6E-ABC33BDA557D}"/>
                      </a:ext>
                    </a:extLst>
                  </p:cNvPr>
                  <p:cNvGrpSpPr/>
                  <p:nvPr/>
                </p:nvGrpSpPr>
                <p:grpSpPr>
                  <a:xfrm rot="20040041">
                    <a:off x="3511993" y="9946599"/>
                    <a:ext cx="1783367" cy="1821312"/>
                    <a:chOff x="1964057" y="8274985"/>
                    <a:chExt cx="2027566" cy="2070707"/>
                  </a:xfrm>
                </p:grpSpPr>
                <p:sp>
                  <p:nvSpPr>
                    <p:cNvPr id="3362" name="Freeform: Shape 3361">
                      <a:extLst>
                        <a:ext uri="{FF2B5EF4-FFF2-40B4-BE49-F238E27FC236}">
                          <a16:creationId xmlns:a16="http://schemas.microsoft.com/office/drawing/2014/main" id="{8AF0FEED-6411-4C20-A5A9-DF689584D3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64057" y="9986194"/>
                      <a:ext cx="244458" cy="359498"/>
                    </a:xfrm>
                    <a:custGeom>
                      <a:avLst/>
                      <a:gdLst>
                        <a:gd name="connsiteX0" fmla="*/ 10785 w 244458"/>
                        <a:gd name="connsiteY0" fmla="*/ 10785 h 359497"/>
                        <a:gd name="connsiteX1" fmla="*/ 240863 w 244458"/>
                        <a:gd name="connsiteY1" fmla="*/ 10785 h 359497"/>
                        <a:gd name="connsiteX2" fmla="*/ 240863 w 244458"/>
                        <a:gd name="connsiteY2" fmla="*/ 355903 h 359497"/>
                        <a:gd name="connsiteX3" fmla="*/ 10785 w 244458"/>
                        <a:gd name="connsiteY3" fmla="*/ 355903 h 3594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4458" h="359497">
                          <a:moveTo>
                            <a:pt x="10785" y="10785"/>
                          </a:moveTo>
                          <a:lnTo>
                            <a:pt x="240863" y="10785"/>
                          </a:lnTo>
                          <a:lnTo>
                            <a:pt x="240863" y="355903"/>
                          </a:lnTo>
                          <a:lnTo>
                            <a:pt x="10785" y="355903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363" name="Freeform: Shape 3362">
                      <a:extLst>
                        <a:ext uri="{FF2B5EF4-FFF2-40B4-BE49-F238E27FC236}">
                          <a16:creationId xmlns:a16="http://schemas.microsoft.com/office/drawing/2014/main" id="{AEF8140C-2E59-41DD-9194-EE3A172200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37934" y="9526037"/>
                      <a:ext cx="244458" cy="819655"/>
                    </a:xfrm>
                    <a:custGeom>
                      <a:avLst/>
                      <a:gdLst>
                        <a:gd name="connsiteX0" fmla="*/ 10785 w 244458"/>
                        <a:gd name="connsiteY0" fmla="*/ 10785 h 819654"/>
                        <a:gd name="connsiteX1" fmla="*/ 240863 w 244458"/>
                        <a:gd name="connsiteY1" fmla="*/ 10785 h 819654"/>
                        <a:gd name="connsiteX2" fmla="*/ 240863 w 244458"/>
                        <a:gd name="connsiteY2" fmla="*/ 816060 h 819654"/>
                        <a:gd name="connsiteX3" fmla="*/ 10785 w 244458"/>
                        <a:gd name="connsiteY3" fmla="*/ 816060 h 8196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4458" h="819654">
                          <a:moveTo>
                            <a:pt x="10785" y="10785"/>
                          </a:moveTo>
                          <a:lnTo>
                            <a:pt x="240863" y="10785"/>
                          </a:lnTo>
                          <a:lnTo>
                            <a:pt x="240863" y="816060"/>
                          </a:lnTo>
                          <a:lnTo>
                            <a:pt x="10785" y="81606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364" name="Freeform: Shape 3363">
                      <a:extLst>
                        <a:ext uri="{FF2B5EF4-FFF2-40B4-BE49-F238E27FC236}">
                          <a16:creationId xmlns:a16="http://schemas.microsoft.com/office/drawing/2014/main" id="{D3DB1E42-CC0A-43E1-BC6F-2F73F9912C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83052" y="9209679"/>
                      <a:ext cx="244458" cy="1136013"/>
                    </a:xfrm>
                    <a:custGeom>
                      <a:avLst/>
                      <a:gdLst>
                        <a:gd name="connsiteX0" fmla="*/ 10785 w 244458"/>
                        <a:gd name="connsiteY0" fmla="*/ 10785 h 1136012"/>
                        <a:gd name="connsiteX1" fmla="*/ 240863 w 244458"/>
                        <a:gd name="connsiteY1" fmla="*/ 10785 h 1136012"/>
                        <a:gd name="connsiteX2" fmla="*/ 240863 w 244458"/>
                        <a:gd name="connsiteY2" fmla="*/ 1132418 h 1136012"/>
                        <a:gd name="connsiteX3" fmla="*/ 10785 w 244458"/>
                        <a:gd name="connsiteY3" fmla="*/ 1132418 h 11360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4458" h="1136012">
                          <a:moveTo>
                            <a:pt x="10785" y="10785"/>
                          </a:moveTo>
                          <a:lnTo>
                            <a:pt x="240863" y="10785"/>
                          </a:lnTo>
                          <a:lnTo>
                            <a:pt x="240863" y="1132418"/>
                          </a:lnTo>
                          <a:lnTo>
                            <a:pt x="10785" y="1132418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365" name="Freeform: Shape 3364">
                      <a:extLst>
                        <a:ext uri="{FF2B5EF4-FFF2-40B4-BE49-F238E27FC236}">
                          <a16:creationId xmlns:a16="http://schemas.microsoft.com/office/drawing/2014/main" id="{AA5566CA-12D8-4A4C-BEB6-406C4F986F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8170" y="9526037"/>
                      <a:ext cx="244458" cy="819655"/>
                    </a:xfrm>
                    <a:custGeom>
                      <a:avLst/>
                      <a:gdLst>
                        <a:gd name="connsiteX0" fmla="*/ 10785 w 244458"/>
                        <a:gd name="connsiteY0" fmla="*/ 10785 h 819654"/>
                        <a:gd name="connsiteX1" fmla="*/ 240863 w 244458"/>
                        <a:gd name="connsiteY1" fmla="*/ 10785 h 819654"/>
                        <a:gd name="connsiteX2" fmla="*/ 240863 w 244458"/>
                        <a:gd name="connsiteY2" fmla="*/ 816060 h 819654"/>
                        <a:gd name="connsiteX3" fmla="*/ 10785 w 244458"/>
                        <a:gd name="connsiteY3" fmla="*/ 816060 h 8196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4458" h="819654">
                          <a:moveTo>
                            <a:pt x="10785" y="10785"/>
                          </a:moveTo>
                          <a:lnTo>
                            <a:pt x="240863" y="10785"/>
                          </a:lnTo>
                          <a:lnTo>
                            <a:pt x="240863" y="816060"/>
                          </a:lnTo>
                          <a:lnTo>
                            <a:pt x="10785" y="81606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366" name="Freeform: Shape 3365">
                      <a:extLst>
                        <a:ext uri="{FF2B5EF4-FFF2-40B4-BE49-F238E27FC236}">
                          <a16:creationId xmlns:a16="http://schemas.microsoft.com/office/drawing/2014/main" id="{00663A04-46DA-4D6B-95C0-9271371280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87667" y="8576963"/>
                      <a:ext cx="244458" cy="1768729"/>
                    </a:xfrm>
                    <a:custGeom>
                      <a:avLst/>
                      <a:gdLst>
                        <a:gd name="connsiteX0" fmla="*/ 10785 w 244458"/>
                        <a:gd name="connsiteY0" fmla="*/ 10785 h 1768728"/>
                        <a:gd name="connsiteX1" fmla="*/ 240863 w 244458"/>
                        <a:gd name="connsiteY1" fmla="*/ 10785 h 1768728"/>
                        <a:gd name="connsiteX2" fmla="*/ 240863 w 244458"/>
                        <a:gd name="connsiteY2" fmla="*/ 1765134 h 1768728"/>
                        <a:gd name="connsiteX3" fmla="*/ 10785 w 244458"/>
                        <a:gd name="connsiteY3" fmla="*/ 1765134 h 1768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4458" h="1768728">
                          <a:moveTo>
                            <a:pt x="10785" y="10785"/>
                          </a:moveTo>
                          <a:lnTo>
                            <a:pt x="240863" y="10785"/>
                          </a:lnTo>
                          <a:lnTo>
                            <a:pt x="240863" y="1765134"/>
                          </a:lnTo>
                          <a:lnTo>
                            <a:pt x="10785" y="1765134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367" name="Freeform: Shape 3366">
                      <a:extLst>
                        <a:ext uri="{FF2B5EF4-FFF2-40B4-BE49-F238E27FC236}">
                          <a16:creationId xmlns:a16="http://schemas.microsoft.com/office/drawing/2014/main" id="{0260635E-6B53-43A6-943E-A1CAA27B42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7165" y="8274985"/>
                      <a:ext cx="244458" cy="2070707"/>
                    </a:xfrm>
                    <a:custGeom>
                      <a:avLst/>
                      <a:gdLst>
                        <a:gd name="connsiteX0" fmla="*/ 10785 w 244458"/>
                        <a:gd name="connsiteY0" fmla="*/ 10785 h 2070706"/>
                        <a:gd name="connsiteX1" fmla="*/ 240863 w 244458"/>
                        <a:gd name="connsiteY1" fmla="*/ 10785 h 2070706"/>
                        <a:gd name="connsiteX2" fmla="*/ 240863 w 244458"/>
                        <a:gd name="connsiteY2" fmla="*/ 2067112 h 2070706"/>
                        <a:gd name="connsiteX3" fmla="*/ 10785 w 244458"/>
                        <a:gd name="connsiteY3" fmla="*/ 2067112 h 20707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4458" h="2070706">
                          <a:moveTo>
                            <a:pt x="10785" y="10785"/>
                          </a:moveTo>
                          <a:lnTo>
                            <a:pt x="240863" y="10785"/>
                          </a:lnTo>
                          <a:lnTo>
                            <a:pt x="240863" y="2067112"/>
                          </a:lnTo>
                          <a:lnTo>
                            <a:pt x="10785" y="2067112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780F7765-B46F-4B3D-A4D6-2D3F822DD26D}"/>
                      </a:ext>
                    </a:extLst>
                  </p:cNvPr>
                  <p:cNvGrpSpPr/>
                  <p:nvPr/>
                </p:nvGrpSpPr>
                <p:grpSpPr>
                  <a:xfrm>
                    <a:off x="6913617" y="9451987"/>
                    <a:ext cx="202984" cy="2367025"/>
                    <a:chOff x="6615947" y="9310383"/>
                    <a:chExt cx="217853" cy="2540420"/>
                  </a:xfrm>
                </p:grpSpPr>
                <p:cxnSp>
                  <p:nvCxnSpPr>
                    <p:cNvPr id="514" name="Straight Connector 513">
                      <a:extLst>
                        <a:ext uri="{FF2B5EF4-FFF2-40B4-BE49-F238E27FC236}">
                          <a16:creationId xmlns:a16="http://schemas.microsoft.com/office/drawing/2014/main" id="{1EF4198A-4677-41F2-B890-38C5F0AAAF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24873" y="9415608"/>
                      <a:ext cx="1" cy="2435195"/>
                    </a:xfrm>
                    <a:prstGeom prst="line">
                      <a:avLst/>
                    </a:prstGeom>
                    <a:ln w="38100"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4"/>
                    </a:lnRef>
                    <a:fillRef idx="0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15" name="Oval 514">
                      <a:extLst>
                        <a:ext uri="{FF2B5EF4-FFF2-40B4-BE49-F238E27FC236}">
                          <a16:creationId xmlns:a16="http://schemas.microsoft.com/office/drawing/2014/main" id="{A0C5AFE6-506E-494F-858C-E99D416168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5947" y="9310383"/>
                      <a:ext cx="217853" cy="217853"/>
                    </a:xfrm>
                    <a:prstGeom prst="ellipse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9D650BEB-870A-4FF9-93D3-9307D995F922}"/>
                      </a:ext>
                    </a:extLst>
                  </p:cNvPr>
                  <p:cNvGrpSpPr/>
                  <p:nvPr/>
                </p:nvGrpSpPr>
                <p:grpSpPr>
                  <a:xfrm>
                    <a:off x="5822964" y="11696681"/>
                    <a:ext cx="202984" cy="1808082"/>
                    <a:chOff x="7462802" y="10950643"/>
                    <a:chExt cx="217853" cy="1940532"/>
                  </a:xfrm>
                </p:grpSpPr>
                <p:cxnSp>
                  <p:nvCxnSpPr>
                    <p:cNvPr id="124" name="Straight Connector 123">
                      <a:extLst>
                        <a:ext uri="{FF2B5EF4-FFF2-40B4-BE49-F238E27FC236}">
                          <a16:creationId xmlns:a16="http://schemas.microsoft.com/office/drawing/2014/main" id="{BE5B9DC8-2555-4835-94BF-9F7FC07EF2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71728" y="11057718"/>
                      <a:ext cx="1" cy="1833457"/>
                    </a:xfrm>
                    <a:prstGeom prst="line">
                      <a:avLst/>
                    </a:prstGeom>
                    <a:ln w="38100"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4"/>
                    </a:lnRef>
                    <a:fillRef idx="0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5" name="Oval 124">
                      <a:extLst>
                        <a:ext uri="{FF2B5EF4-FFF2-40B4-BE49-F238E27FC236}">
                          <a16:creationId xmlns:a16="http://schemas.microsoft.com/office/drawing/2014/main" id="{3A9AF456-B0E4-4E6F-AAE7-0A438D037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2802" y="10950643"/>
                      <a:ext cx="217853" cy="217853"/>
                    </a:xfrm>
                    <a:prstGeom prst="ellipse">
                      <a:avLst/>
                    </a:prstGeom>
                    <a:solidFill>
                      <a:schemeClr val="accent4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/>
                    </a:p>
                  </p:txBody>
                </p:sp>
              </p:grp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12BF7A17-DBA3-4BD0-90EA-D12968492FA1}"/>
                      </a:ext>
                    </a:extLst>
                  </p:cNvPr>
                  <p:cNvGrpSpPr/>
                  <p:nvPr/>
                </p:nvGrpSpPr>
                <p:grpSpPr>
                  <a:xfrm>
                    <a:off x="3170098" y="10317084"/>
                    <a:ext cx="202984" cy="1809807"/>
                    <a:chOff x="2653441" y="10126322"/>
                    <a:chExt cx="217853" cy="1942384"/>
                  </a:xfrm>
                </p:grpSpPr>
                <p:cxnSp>
                  <p:nvCxnSpPr>
                    <p:cNvPr id="128" name="Straight Connector 127">
                      <a:extLst>
                        <a:ext uri="{FF2B5EF4-FFF2-40B4-BE49-F238E27FC236}">
                          <a16:creationId xmlns:a16="http://schemas.microsoft.com/office/drawing/2014/main" id="{03E836ED-635C-4347-A025-7FDEEF9A8F2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62367" y="10235249"/>
                      <a:ext cx="1" cy="1833457"/>
                    </a:xfrm>
                    <a:prstGeom prst="line">
                      <a:avLst/>
                    </a:prstGeom>
                    <a:ln w="38100"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4"/>
                    </a:lnRef>
                    <a:fillRef idx="0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9" name="Oval 128">
                      <a:extLst>
                        <a:ext uri="{FF2B5EF4-FFF2-40B4-BE49-F238E27FC236}">
                          <a16:creationId xmlns:a16="http://schemas.microsoft.com/office/drawing/2014/main" id="{6BAE2262-9665-4AAB-A03F-239B11160B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53441" y="10126322"/>
                      <a:ext cx="217853" cy="217853"/>
                    </a:xfrm>
                    <a:prstGeom prst="ellipse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000" dirty="0"/>
                    </a:p>
                  </p:txBody>
                </p:sp>
              </p:grpSp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3DCCCDF1-7A88-4EA6-AF54-108821B51A53}"/>
                      </a:ext>
                    </a:extLst>
                  </p:cNvPr>
                  <p:cNvGrpSpPr/>
                  <p:nvPr/>
                </p:nvGrpSpPr>
                <p:grpSpPr>
                  <a:xfrm rot="9206261">
                    <a:off x="6937356" y="12872295"/>
                    <a:ext cx="1493302" cy="1525075"/>
                    <a:chOff x="1964057" y="8274985"/>
                    <a:chExt cx="2027566" cy="2070707"/>
                  </a:xfrm>
                  <a:solidFill>
                    <a:schemeClr val="accent4">
                      <a:lumMod val="50000"/>
                    </a:schemeClr>
                  </a:solidFill>
                </p:grpSpPr>
                <p:sp>
                  <p:nvSpPr>
                    <p:cNvPr id="53" name="Freeform: Shape 52">
                      <a:extLst>
                        <a:ext uri="{FF2B5EF4-FFF2-40B4-BE49-F238E27FC236}">
                          <a16:creationId xmlns:a16="http://schemas.microsoft.com/office/drawing/2014/main" id="{3B297F25-FDD9-4B09-91FD-615B4EDC87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64057" y="9986194"/>
                      <a:ext cx="244458" cy="359498"/>
                    </a:xfrm>
                    <a:custGeom>
                      <a:avLst/>
                      <a:gdLst>
                        <a:gd name="connsiteX0" fmla="*/ 10785 w 244458"/>
                        <a:gd name="connsiteY0" fmla="*/ 10785 h 359497"/>
                        <a:gd name="connsiteX1" fmla="*/ 240863 w 244458"/>
                        <a:gd name="connsiteY1" fmla="*/ 10785 h 359497"/>
                        <a:gd name="connsiteX2" fmla="*/ 240863 w 244458"/>
                        <a:gd name="connsiteY2" fmla="*/ 355903 h 359497"/>
                        <a:gd name="connsiteX3" fmla="*/ 10785 w 244458"/>
                        <a:gd name="connsiteY3" fmla="*/ 355903 h 3594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4458" h="359497">
                          <a:moveTo>
                            <a:pt x="10785" y="10785"/>
                          </a:moveTo>
                          <a:lnTo>
                            <a:pt x="240863" y="10785"/>
                          </a:lnTo>
                          <a:lnTo>
                            <a:pt x="240863" y="355903"/>
                          </a:lnTo>
                          <a:lnTo>
                            <a:pt x="10785" y="355903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" name="Freeform: Shape 53">
                      <a:extLst>
                        <a:ext uri="{FF2B5EF4-FFF2-40B4-BE49-F238E27FC236}">
                          <a16:creationId xmlns:a16="http://schemas.microsoft.com/office/drawing/2014/main" id="{F71F0EB3-19E6-42E7-8A80-DB62426460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37934" y="9526037"/>
                      <a:ext cx="244458" cy="819655"/>
                    </a:xfrm>
                    <a:custGeom>
                      <a:avLst/>
                      <a:gdLst>
                        <a:gd name="connsiteX0" fmla="*/ 10785 w 244458"/>
                        <a:gd name="connsiteY0" fmla="*/ 10785 h 819654"/>
                        <a:gd name="connsiteX1" fmla="*/ 240863 w 244458"/>
                        <a:gd name="connsiteY1" fmla="*/ 10785 h 819654"/>
                        <a:gd name="connsiteX2" fmla="*/ 240863 w 244458"/>
                        <a:gd name="connsiteY2" fmla="*/ 816060 h 819654"/>
                        <a:gd name="connsiteX3" fmla="*/ 10785 w 244458"/>
                        <a:gd name="connsiteY3" fmla="*/ 816060 h 8196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4458" h="819654">
                          <a:moveTo>
                            <a:pt x="10785" y="10785"/>
                          </a:moveTo>
                          <a:lnTo>
                            <a:pt x="240863" y="10785"/>
                          </a:lnTo>
                          <a:lnTo>
                            <a:pt x="240863" y="816060"/>
                          </a:lnTo>
                          <a:lnTo>
                            <a:pt x="10785" y="81606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" name="Freeform: Shape 54">
                      <a:extLst>
                        <a:ext uri="{FF2B5EF4-FFF2-40B4-BE49-F238E27FC236}">
                          <a16:creationId xmlns:a16="http://schemas.microsoft.com/office/drawing/2014/main" id="{99EF9B7D-ABFF-41AC-A34D-275C53D8B5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83052" y="9209679"/>
                      <a:ext cx="244458" cy="1136013"/>
                    </a:xfrm>
                    <a:custGeom>
                      <a:avLst/>
                      <a:gdLst>
                        <a:gd name="connsiteX0" fmla="*/ 10785 w 244458"/>
                        <a:gd name="connsiteY0" fmla="*/ 10785 h 1136012"/>
                        <a:gd name="connsiteX1" fmla="*/ 240863 w 244458"/>
                        <a:gd name="connsiteY1" fmla="*/ 10785 h 1136012"/>
                        <a:gd name="connsiteX2" fmla="*/ 240863 w 244458"/>
                        <a:gd name="connsiteY2" fmla="*/ 1132418 h 1136012"/>
                        <a:gd name="connsiteX3" fmla="*/ 10785 w 244458"/>
                        <a:gd name="connsiteY3" fmla="*/ 1132418 h 11360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4458" h="1136012">
                          <a:moveTo>
                            <a:pt x="10785" y="10785"/>
                          </a:moveTo>
                          <a:lnTo>
                            <a:pt x="240863" y="10785"/>
                          </a:lnTo>
                          <a:lnTo>
                            <a:pt x="240863" y="1132418"/>
                          </a:lnTo>
                          <a:lnTo>
                            <a:pt x="10785" y="1132418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" name="Freeform: Shape 55">
                      <a:extLst>
                        <a:ext uri="{FF2B5EF4-FFF2-40B4-BE49-F238E27FC236}">
                          <a16:creationId xmlns:a16="http://schemas.microsoft.com/office/drawing/2014/main" id="{F206B60B-411E-488D-BBE8-F5F1A7436E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8170" y="9526037"/>
                      <a:ext cx="244458" cy="819655"/>
                    </a:xfrm>
                    <a:custGeom>
                      <a:avLst/>
                      <a:gdLst>
                        <a:gd name="connsiteX0" fmla="*/ 10785 w 244458"/>
                        <a:gd name="connsiteY0" fmla="*/ 10785 h 819654"/>
                        <a:gd name="connsiteX1" fmla="*/ 240863 w 244458"/>
                        <a:gd name="connsiteY1" fmla="*/ 10785 h 819654"/>
                        <a:gd name="connsiteX2" fmla="*/ 240863 w 244458"/>
                        <a:gd name="connsiteY2" fmla="*/ 816060 h 819654"/>
                        <a:gd name="connsiteX3" fmla="*/ 10785 w 244458"/>
                        <a:gd name="connsiteY3" fmla="*/ 816060 h 8196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4458" h="819654">
                          <a:moveTo>
                            <a:pt x="10785" y="10785"/>
                          </a:moveTo>
                          <a:lnTo>
                            <a:pt x="240863" y="10785"/>
                          </a:lnTo>
                          <a:lnTo>
                            <a:pt x="240863" y="816060"/>
                          </a:lnTo>
                          <a:lnTo>
                            <a:pt x="10785" y="81606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7" name="Freeform: Shape 56">
                      <a:extLst>
                        <a:ext uri="{FF2B5EF4-FFF2-40B4-BE49-F238E27FC236}">
                          <a16:creationId xmlns:a16="http://schemas.microsoft.com/office/drawing/2014/main" id="{46603457-F04C-4807-AD3E-4AE309D95F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87667" y="8576963"/>
                      <a:ext cx="244458" cy="1768729"/>
                    </a:xfrm>
                    <a:custGeom>
                      <a:avLst/>
                      <a:gdLst>
                        <a:gd name="connsiteX0" fmla="*/ 10785 w 244458"/>
                        <a:gd name="connsiteY0" fmla="*/ 10785 h 1768728"/>
                        <a:gd name="connsiteX1" fmla="*/ 240863 w 244458"/>
                        <a:gd name="connsiteY1" fmla="*/ 10785 h 1768728"/>
                        <a:gd name="connsiteX2" fmla="*/ 240863 w 244458"/>
                        <a:gd name="connsiteY2" fmla="*/ 1765134 h 1768728"/>
                        <a:gd name="connsiteX3" fmla="*/ 10785 w 244458"/>
                        <a:gd name="connsiteY3" fmla="*/ 1765134 h 1768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4458" h="1768728">
                          <a:moveTo>
                            <a:pt x="10785" y="10785"/>
                          </a:moveTo>
                          <a:lnTo>
                            <a:pt x="240863" y="10785"/>
                          </a:lnTo>
                          <a:lnTo>
                            <a:pt x="240863" y="1765134"/>
                          </a:lnTo>
                          <a:lnTo>
                            <a:pt x="10785" y="1765134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" name="Freeform: Shape 57">
                      <a:extLst>
                        <a:ext uri="{FF2B5EF4-FFF2-40B4-BE49-F238E27FC236}">
                          <a16:creationId xmlns:a16="http://schemas.microsoft.com/office/drawing/2014/main" id="{7CEFAF06-2563-45F9-9483-F8C1647333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7165" y="8274985"/>
                      <a:ext cx="244458" cy="2070707"/>
                    </a:xfrm>
                    <a:custGeom>
                      <a:avLst/>
                      <a:gdLst>
                        <a:gd name="connsiteX0" fmla="*/ 10785 w 244458"/>
                        <a:gd name="connsiteY0" fmla="*/ 10785 h 2070706"/>
                        <a:gd name="connsiteX1" fmla="*/ 240863 w 244458"/>
                        <a:gd name="connsiteY1" fmla="*/ 10785 h 2070706"/>
                        <a:gd name="connsiteX2" fmla="*/ 240863 w 244458"/>
                        <a:gd name="connsiteY2" fmla="*/ 2067112 h 2070706"/>
                        <a:gd name="connsiteX3" fmla="*/ 10785 w 244458"/>
                        <a:gd name="connsiteY3" fmla="*/ 2067112 h 20707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4458" h="2070706">
                          <a:moveTo>
                            <a:pt x="10785" y="10785"/>
                          </a:moveTo>
                          <a:lnTo>
                            <a:pt x="240863" y="10785"/>
                          </a:lnTo>
                          <a:lnTo>
                            <a:pt x="240863" y="2067112"/>
                          </a:lnTo>
                          <a:lnTo>
                            <a:pt x="10785" y="2067112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D1017468-CA7B-4261-9F8C-1ABB2AA9E06C}"/>
                    </a:ext>
                  </a:extLst>
                </p:cNvPr>
                <p:cNvSpPr/>
                <p:nvPr/>
              </p:nvSpPr>
              <p:spPr>
                <a:xfrm>
                  <a:off x="10451353" y="1"/>
                  <a:ext cx="8316039" cy="2388626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30C849C-01C7-49E2-8B0D-BCB366C42EA0}"/>
                    </a:ext>
                  </a:extLst>
                </p:cNvPr>
                <p:cNvSpPr/>
                <p:nvPr/>
              </p:nvSpPr>
              <p:spPr>
                <a:xfrm>
                  <a:off x="-1" y="23397496"/>
                  <a:ext cx="18751529" cy="2929846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pic>
              <p:nvPicPr>
                <p:cNvPr id="20" name="Graphic 19">
                  <a:extLst>
                    <a:ext uri="{FF2B5EF4-FFF2-40B4-BE49-F238E27FC236}">
                      <a16:creationId xmlns:a16="http://schemas.microsoft.com/office/drawing/2014/main" id="{B94A8E56-C4B3-44D0-B40E-6F997BDE3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3254" y="1871847"/>
                  <a:ext cx="3843078" cy="964071"/>
                </a:xfrm>
                <a:prstGeom prst="rect">
                  <a:avLst/>
                </a:prstGeom>
              </p:spPr>
            </p:pic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F6472DC3-EA7D-4219-AE13-884C6B31D58A}"/>
                    </a:ext>
                  </a:extLst>
                </p:cNvPr>
                <p:cNvCxnSpPr/>
                <p:nvPr/>
              </p:nvCxnSpPr>
              <p:spPr>
                <a:xfrm>
                  <a:off x="1425089" y="15963735"/>
                  <a:ext cx="7630610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6" name="Graphic 5" descr="Lightbulb and gear">
                <a:extLst>
                  <a:ext uri="{FF2B5EF4-FFF2-40B4-BE49-F238E27FC236}">
                    <a16:creationId xmlns:a16="http://schemas.microsoft.com/office/drawing/2014/main" id="{F8A66D0E-BA44-431B-98B5-1590A37097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20165720">
                <a:off x="16174789" y="11695296"/>
                <a:ext cx="4727819" cy="4727819"/>
              </a:xfrm>
              <a:prstGeom prst="rect">
                <a:avLst/>
              </a:prstGeom>
            </p:spPr>
          </p:pic>
          <p:pic>
            <p:nvPicPr>
              <p:cNvPr id="5" name="Graphic 4" descr="Target">
                <a:extLst>
                  <a:ext uri="{FF2B5EF4-FFF2-40B4-BE49-F238E27FC236}">
                    <a16:creationId xmlns:a16="http://schemas.microsoft.com/office/drawing/2014/main" id="{0623FE6B-0678-48EB-996B-5CBC3F4A9E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433307" y="582979"/>
                <a:ext cx="4068000" cy="4068000"/>
              </a:xfrm>
              <a:prstGeom prst="rect">
                <a:avLst/>
              </a:prstGeom>
            </p:spPr>
          </p:pic>
        </p:grpSp>
        <p:pic>
          <p:nvPicPr>
            <p:cNvPr id="8" name="Graphic 7" descr="Research">
              <a:extLst>
                <a:ext uri="{FF2B5EF4-FFF2-40B4-BE49-F238E27FC236}">
                  <a16:creationId xmlns:a16="http://schemas.microsoft.com/office/drawing/2014/main" id="{AF9E713E-CDEA-4AFB-8C6C-451416921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5876432">
              <a:off x="-644911" y="15816800"/>
              <a:ext cx="4140000" cy="41400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C3EDE49-A272-4A27-BCF9-271BAF6DCBEC}"/>
              </a:ext>
            </a:extLst>
          </p:cNvPr>
          <p:cNvSpPr txBox="1"/>
          <p:nvPr/>
        </p:nvSpPr>
        <p:spPr>
          <a:xfrm>
            <a:off x="1013254" y="4917169"/>
            <a:ext cx="8768013" cy="186204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8400" b="1" dirty="0">
                <a:solidFill>
                  <a:schemeClr val="accent4"/>
                </a:solidFill>
                <a:latin typeface="Segoe UI"/>
              </a:rPr>
              <a:t>WGRDBES‑EST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FD060C-8F95-4F40-8612-C76677824A3E}"/>
              </a:ext>
            </a:extLst>
          </p:cNvPr>
          <p:cNvSpPr txBox="1"/>
          <p:nvPr/>
        </p:nvSpPr>
        <p:spPr>
          <a:xfrm>
            <a:off x="1013254" y="6859855"/>
            <a:ext cx="876801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800" b="0" dirty="0">
                <a:solidFill>
                  <a:schemeClr val="tx2"/>
                </a:solidFill>
                <a:latin typeface="Segoe UI"/>
              </a:rPr>
              <a:t>Working Group on Estimation</a:t>
            </a:r>
          </a:p>
          <a:p>
            <a:pPr algn="l">
              <a:spcAft>
                <a:spcPts val="0"/>
              </a:spcAft>
              <a:buNone/>
            </a:pPr>
            <a:r>
              <a:rPr sz="4800" b="0" dirty="0">
                <a:solidFill>
                  <a:schemeClr val="tx2"/>
                </a:solidFill>
                <a:latin typeface="Segoe UI"/>
              </a:rPr>
              <a:t>with the RDBES data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48E548-1B26-41EC-BB76-E32589D80BA6}"/>
              </a:ext>
            </a:extLst>
          </p:cNvPr>
          <p:cNvSpPr txBox="1"/>
          <p:nvPr/>
        </p:nvSpPr>
        <p:spPr>
          <a:xfrm>
            <a:off x="11361044" y="11649126"/>
            <a:ext cx="6143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  <a:latin typeface="Segoe UI"/>
                <a:cs typeface="Segoe UI"/>
              </a:rPr>
              <a:t>OUR EXPERTISE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A1EAD0-7FA7-4357-8B6B-5365A5D09616}"/>
              </a:ext>
            </a:extLst>
          </p:cNvPr>
          <p:cNvSpPr txBox="1"/>
          <p:nvPr/>
        </p:nvSpPr>
        <p:spPr>
          <a:xfrm>
            <a:off x="2135885" y="16223567"/>
            <a:ext cx="7125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4"/>
                </a:solidFill>
                <a:latin typeface="Segoe UI"/>
                <a:cs typeface="Segoe UI"/>
              </a:rPr>
              <a:t>RESEARCH FOCUS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631AE5-683E-458E-8317-B0FF874C46C0}"/>
              </a:ext>
            </a:extLst>
          </p:cNvPr>
          <p:cNvSpPr txBox="1"/>
          <p:nvPr/>
        </p:nvSpPr>
        <p:spPr>
          <a:xfrm>
            <a:off x="1713634" y="17143319"/>
            <a:ext cx="7630610" cy="44935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l">
              <a:spcAft>
                <a:spcPts val="0"/>
              </a:spcAft>
              <a:buClr>
                <a:schemeClr val="accent4"/>
              </a:buClr>
              <a:buFont typeface="Wingdings" panose="05000000000000000000" pitchFamily="2" charset="2"/>
              <a:buNone/>
            </a:pPr>
            <a:r>
              <a:rPr sz="2200" b="0" dirty="0">
                <a:solidFill>
                  <a:schemeClr val="tx2"/>
                </a:solidFill>
                <a:latin typeface="Segoe UI"/>
              </a:rPr>
              <a:t>WGRDBES-EST develops statistical methods and</a:t>
            </a:r>
            <a:r>
              <a:rPr lang="en-US" sz="2200" b="0" dirty="0">
                <a:solidFill>
                  <a:schemeClr val="tx2"/>
                </a:solidFill>
                <a:latin typeface="Segoe UI"/>
              </a:rPr>
              <a:t> </a:t>
            </a:r>
            <a:r>
              <a:rPr sz="2200" b="0" dirty="0">
                <a:solidFill>
                  <a:schemeClr val="tx2"/>
                </a:solidFill>
                <a:latin typeface="Segoe UI"/>
              </a:rPr>
              <a:t>reproducible workflows for commercial fisheries data stored in the ICES Regional Database &amp; Estimation System</a:t>
            </a:r>
            <a:r>
              <a:rPr lang="et-EE" sz="2200" b="0" dirty="0">
                <a:solidFill>
                  <a:schemeClr val="tx2"/>
                </a:solidFill>
                <a:latin typeface="Segoe UI"/>
              </a:rPr>
              <a:t> (RDBES)</a:t>
            </a:r>
            <a:r>
              <a:rPr sz="2200" b="0" dirty="0">
                <a:solidFill>
                  <a:schemeClr val="tx2"/>
                </a:solidFill>
                <a:latin typeface="Segoe UI"/>
              </a:rPr>
              <a:t>.</a:t>
            </a:r>
          </a:p>
          <a:p>
            <a:pPr algn="l">
              <a:spcAft>
                <a:spcPts val="0"/>
              </a:spcAft>
              <a:buNone/>
            </a:pPr>
            <a:endParaRPr sz="2200" b="0" dirty="0">
              <a:solidFill>
                <a:schemeClr val="tx2"/>
              </a:solidFill>
              <a:latin typeface="Segoe UI"/>
            </a:endParaRPr>
          </a:p>
          <a:p>
            <a:r>
              <a:rPr sz="2200" b="0" dirty="0">
                <a:solidFill>
                  <a:schemeClr val="tx2"/>
                </a:solidFill>
                <a:latin typeface="Segoe UI"/>
              </a:rPr>
              <a:t>Current work includes design-based and ratio-estimation approaches, preparation of zeros and NAs from species-list </a:t>
            </a:r>
            <a:r>
              <a:rPr sz="2200" dirty="0">
                <a:solidFill>
                  <a:schemeClr val="tx2"/>
                </a:solidFill>
                <a:latin typeface="Segoe UI"/>
              </a:rPr>
              <a:t>information, and generation of outputs compatible with</a:t>
            </a:r>
            <a:r>
              <a:rPr lang="en-US" sz="2200" dirty="0">
                <a:solidFill>
                  <a:schemeClr val="tx2"/>
                </a:solidFill>
                <a:latin typeface="Segoe UI"/>
              </a:rPr>
              <a:t> Catch Estimates Format</a:t>
            </a:r>
            <a:r>
              <a:rPr lang="et-EE" sz="2200" dirty="0">
                <a:solidFill>
                  <a:schemeClr val="tx2"/>
                </a:solidFill>
                <a:latin typeface="Segoe UI"/>
              </a:rPr>
              <a:t> (CEF) </a:t>
            </a:r>
            <a:r>
              <a:rPr sz="2200" dirty="0">
                <a:solidFill>
                  <a:schemeClr val="tx2"/>
                </a:solidFill>
                <a:latin typeface="Segoe UI"/>
              </a:rPr>
              <a:t>and downstream assessment use.</a:t>
            </a:r>
          </a:p>
          <a:p>
            <a:pPr algn="l">
              <a:spcAft>
                <a:spcPts val="0"/>
              </a:spcAft>
              <a:buNone/>
            </a:pPr>
            <a:endParaRPr sz="2200" b="0" dirty="0">
              <a:solidFill>
                <a:schemeClr val="tx2"/>
              </a:solidFill>
              <a:latin typeface="Segoe UI"/>
            </a:endParaRPr>
          </a:p>
          <a:p>
            <a:pPr algn="l">
              <a:spcAft>
                <a:spcPts val="0"/>
              </a:spcAft>
              <a:buNone/>
            </a:pPr>
            <a:r>
              <a:rPr sz="2200" b="0" dirty="0">
                <a:solidFill>
                  <a:schemeClr val="tx2"/>
                </a:solidFill>
                <a:latin typeface="Segoe UI"/>
              </a:rPr>
              <a:t>The group also evaluates how changes in the RDBES data model affect estimation and reporting.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45A307A-D9C1-4360-BAD9-7DD3760B6B17}"/>
              </a:ext>
            </a:extLst>
          </p:cNvPr>
          <p:cNvGrpSpPr/>
          <p:nvPr/>
        </p:nvGrpSpPr>
        <p:grpSpPr>
          <a:xfrm>
            <a:off x="6609224" y="24174014"/>
            <a:ext cx="5501352" cy="1440000"/>
            <a:chOff x="6203092" y="24636105"/>
            <a:chExt cx="5501352" cy="144000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5A5AB27-059C-4723-98DC-EDC197ABC1C4}"/>
                </a:ext>
              </a:extLst>
            </p:cNvPr>
            <p:cNvSpPr txBox="1"/>
            <p:nvPr/>
          </p:nvSpPr>
          <p:spPr>
            <a:xfrm>
              <a:off x="8093221" y="24848274"/>
              <a:ext cx="361122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spcAft>
                  <a:spcPts val="0"/>
                </a:spcAft>
                <a:buNone/>
              </a:pPr>
              <a:r>
                <a:rPr sz="2400" b="0" dirty="0">
                  <a:solidFill>
                    <a:schemeClr val="bg1"/>
                  </a:solidFill>
                  <a:latin typeface="Segoe UI"/>
                </a:rPr>
                <a:t>Scan to explore the</a:t>
              </a:r>
            </a:p>
            <a:p>
              <a:pPr algn="l">
                <a:spcAft>
                  <a:spcPts val="0"/>
                </a:spcAft>
                <a:buNone/>
              </a:pPr>
              <a:r>
                <a:rPr sz="2400" b="1" dirty="0" err="1">
                  <a:solidFill>
                    <a:schemeClr val="bg1"/>
                  </a:solidFill>
                  <a:latin typeface="Segoe UI"/>
                </a:rPr>
                <a:t>RDBEScore</a:t>
              </a:r>
              <a:r>
                <a:rPr sz="2400" b="0" dirty="0">
                  <a:solidFill>
                    <a:schemeClr val="bg1"/>
                  </a:solidFill>
                  <a:latin typeface="Segoe UI"/>
                </a:rPr>
                <a:t> dev repository</a:t>
              </a:r>
              <a:r>
                <a:rPr lang="et-EE" sz="2400" b="0" dirty="0">
                  <a:solidFill>
                    <a:schemeClr val="bg1"/>
                  </a:solidFill>
                  <a:latin typeface="Segoe UI"/>
                </a:rPr>
                <a:t> in </a:t>
              </a:r>
              <a:r>
                <a:rPr lang="et-EE" sz="2400" b="0" dirty="0" err="1">
                  <a:solidFill>
                    <a:schemeClr val="bg1"/>
                  </a:solidFill>
                  <a:latin typeface="Segoe UI"/>
                </a:rPr>
                <a:t>github</a:t>
              </a:r>
              <a:endParaRPr sz="2400" b="0" dirty="0">
                <a:solidFill>
                  <a:schemeClr val="bg1"/>
                </a:solidFill>
                <a:latin typeface="Segoe UI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C702465-E149-4186-A92F-A14DA7A3C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3092" y="24636105"/>
              <a:ext cx="1440000" cy="1440000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B59194B-6FA7-4E47-9341-4D580AC3BA03}"/>
              </a:ext>
            </a:extLst>
          </p:cNvPr>
          <p:cNvSpPr txBox="1"/>
          <p:nvPr/>
        </p:nvSpPr>
        <p:spPr>
          <a:xfrm>
            <a:off x="11368771" y="3272654"/>
            <a:ext cx="6135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  <a:latin typeface="Segoe UI"/>
                <a:cs typeface="Segoe UI"/>
              </a:rPr>
              <a:t>OUR OBJECTIVE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92B2CB-B15C-4EE1-A7D1-B093B99F6390}"/>
              </a:ext>
            </a:extLst>
          </p:cNvPr>
          <p:cNvSpPr txBox="1"/>
          <p:nvPr/>
        </p:nvSpPr>
        <p:spPr>
          <a:xfrm>
            <a:off x="11368772" y="4919829"/>
            <a:ext cx="5712492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0">
                <a:solidFill>
                  <a:schemeClr val="bg1"/>
                </a:solidFill>
                <a:latin typeface="Segoe UI"/>
              </a:rPr>
              <a:t>The group develops and documents transparent R-based tools for importing, validating, filtering, summarizing and estimating RDBES data.</a:t>
            </a:r>
          </a:p>
          <a:p>
            <a:pPr algn="l">
              <a:spcAft>
                <a:spcPts val="0"/>
              </a:spcAft>
              <a:buNone/>
            </a:pPr>
            <a:endParaRPr sz="2200" b="0">
              <a:solidFill>
                <a:schemeClr val="bg1"/>
              </a:solidFill>
              <a:latin typeface="Segoe UI"/>
            </a:endParaRPr>
          </a:p>
          <a:p>
            <a:pPr algn="l">
              <a:spcAft>
                <a:spcPts val="0"/>
              </a:spcAft>
              <a:buNone/>
            </a:pPr>
            <a:r>
              <a:rPr sz="2200" b="0">
                <a:solidFill>
                  <a:schemeClr val="bg1"/>
                </a:solidFill>
                <a:latin typeface="Segoe UI"/>
              </a:rPr>
              <a:t>A central aim is to make national and regional estimation workflows more robust, reproducible and easier to review.</a:t>
            </a:r>
          </a:p>
          <a:p>
            <a:pPr algn="l">
              <a:spcAft>
                <a:spcPts val="0"/>
              </a:spcAft>
              <a:buNone/>
            </a:pPr>
            <a:endParaRPr sz="2200" b="0">
              <a:solidFill>
                <a:schemeClr val="bg1"/>
              </a:solidFill>
              <a:latin typeface="Segoe UI"/>
            </a:endParaRPr>
          </a:p>
          <a:p>
            <a:pPr algn="l">
              <a:spcAft>
                <a:spcPts val="0"/>
              </a:spcAft>
              <a:buNone/>
            </a:pPr>
            <a:r>
              <a:rPr sz="2200" b="0">
                <a:solidFill>
                  <a:schemeClr val="bg1"/>
                </a:solidFill>
                <a:latin typeface="Segoe UI"/>
              </a:rPr>
              <a:t>The work supports open package development, method documentation and future integration of estimation outputs into ICES advisory workflows.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1EA7AC-A559-4316-948E-B3FFBEAADD7B}"/>
              </a:ext>
            </a:extLst>
          </p:cNvPr>
          <p:cNvSpPr txBox="1"/>
          <p:nvPr/>
        </p:nvSpPr>
        <p:spPr>
          <a:xfrm>
            <a:off x="11368770" y="13140708"/>
            <a:ext cx="6135947" cy="68788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2100" dirty="0">
                <a:solidFill>
                  <a:schemeClr val="bg1"/>
                </a:solidFill>
                <a:latin typeface="Segoe UI"/>
              </a:rPr>
              <a:t>Our expertise spans</a:t>
            </a:r>
            <a:r>
              <a:rPr lang="en-US" sz="2100" dirty="0">
                <a:solidFill>
                  <a:schemeClr val="bg1"/>
                </a:solidFill>
                <a:latin typeface="Segoe UI"/>
              </a:rPr>
              <a:t> </a:t>
            </a:r>
            <a:r>
              <a:rPr lang="pt-PT" sz="2100" dirty="0">
                <a:solidFill>
                  <a:schemeClr val="bg1"/>
                </a:solidFill>
                <a:latin typeface="Segoe UI"/>
              </a:rPr>
              <a:t>comercial fisheries </a:t>
            </a:r>
            <a:r>
              <a:rPr sz="2100" dirty="0">
                <a:solidFill>
                  <a:schemeClr val="bg1"/>
                </a:solidFill>
                <a:latin typeface="Segoe UI"/>
              </a:rPr>
              <a:t>sampling</a:t>
            </a:r>
            <a:r>
              <a:rPr lang="pt-PT" sz="2100" dirty="0">
                <a:solidFill>
                  <a:schemeClr val="bg1"/>
                </a:solidFill>
                <a:latin typeface="Segoe UI"/>
              </a:rPr>
              <a:t> </a:t>
            </a:r>
            <a:r>
              <a:rPr sz="2100" dirty="0">
                <a:solidFill>
                  <a:schemeClr val="bg1"/>
                </a:solidFill>
                <a:latin typeface="Segoe UI"/>
              </a:rPr>
              <a:t>data analysis, R package development and reproducible analytical workflows.</a:t>
            </a:r>
          </a:p>
          <a:p>
            <a:endParaRPr sz="2100" dirty="0">
              <a:solidFill>
                <a:schemeClr val="bg1"/>
              </a:solidFill>
              <a:latin typeface="Segoe UI"/>
            </a:endParaRPr>
          </a:p>
          <a:p>
            <a:r>
              <a:rPr sz="2100" dirty="0">
                <a:solidFill>
                  <a:schemeClr val="bg1"/>
                </a:solidFill>
                <a:latin typeface="Segoe UI"/>
              </a:rPr>
              <a:t>The current </a:t>
            </a:r>
            <a:r>
              <a:rPr sz="2100" b="1" dirty="0" err="1">
                <a:solidFill>
                  <a:schemeClr val="bg1"/>
                </a:solidFill>
                <a:latin typeface="Segoe UI"/>
              </a:rPr>
              <a:t>RDBEScore</a:t>
            </a:r>
            <a:r>
              <a:rPr sz="2100" dirty="0">
                <a:solidFill>
                  <a:schemeClr val="bg1"/>
                </a:solidFill>
                <a:latin typeface="Segoe UI"/>
              </a:rPr>
              <a:t> </a:t>
            </a:r>
            <a:r>
              <a:rPr lang="pt-PT" sz="2100" dirty="0">
                <a:solidFill>
                  <a:schemeClr val="bg1"/>
                </a:solidFill>
                <a:latin typeface="Segoe UI"/>
              </a:rPr>
              <a:t>package </a:t>
            </a:r>
            <a:r>
              <a:rPr sz="2100" dirty="0">
                <a:solidFill>
                  <a:schemeClr val="bg1"/>
                </a:solidFill>
                <a:latin typeface="Segoe UI"/>
              </a:rPr>
              <a:t>development supports creation and validation of RDBES data objects, tidying and linking of hierarchy tables, estimation across strata, biological-variable estimation and export of results for assessment data calls.</a:t>
            </a:r>
            <a:endParaRPr lang="pt-PT" sz="2100" dirty="0">
              <a:solidFill>
                <a:schemeClr val="bg1"/>
              </a:solidFill>
              <a:latin typeface="Segoe UI"/>
            </a:endParaRPr>
          </a:p>
          <a:p>
            <a:endParaRPr lang="pt-PT" sz="2100" dirty="0">
              <a:solidFill>
                <a:schemeClr val="bg1"/>
              </a:solidFill>
              <a:latin typeface="Segoe UI"/>
            </a:endParaRPr>
          </a:p>
          <a:p>
            <a:r>
              <a:rPr lang="pt-PT" sz="2100" dirty="0">
                <a:solidFill>
                  <a:schemeClr val="bg1"/>
                </a:solidFill>
                <a:latin typeface="Segoe UI"/>
              </a:rPr>
              <a:t>The </a:t>
            </a:r>
            <a:r>
              <a:rPr lang="pt-PT" sz="2100" b="1" dirty="0">
                <a:solidFill>
                  <a:schemeClr val="bg1"/>
                </a:solidFill>
                <a:latin typeface="Segoe UI"/>
              </a:rPr>
              <a:t>RDBESvisualise</a:t>
            </a:r>
            <a:r>
              <a:rPr lang="pt-PT" sz="2100" dirty="0">
                <a:solidFill>
                  <a:schemeClr val="bg1"/>
                </a:solidFill>
                <a:latin typeface="Segoe UI"/>
              </a:rPr>
              <a:t> package development aims to provide tools that allow exploring that RDBES data and produce overviews built on them.</a:t>
            </a:r>
            <a:endParaRPr sz="2100" dirty="0">
              <a:solidFill>
                <a:schemeClr val="bg1"/>
              </a:solidFill>
              <a:latin typeface="Segoe UI"/>
            </a:endParaRPr>
          </a:p>
          <a:p>
            <a:endParaRPr sz="2100" dirty="0">
              <a:solidFill>
                <a:schemeClr val="bg1"/>
              </a:solidFill>
              <a:latin typeface="Segoe UI"/>
            </a:endParaRPr>
          </a:p>
          <a:p>
            <a:r>
              <a:rPr sz="2100" dirty="0">
                <a:solidFill>
                  <a:schemeClr val="bg1"/>
                </a:solidFill>
                <a:latin typeface="Segoe UI"/>
              </a:rPr>
              <a:t>We also contribute to documentation, vignettes, peer review</a:t>
            </a:r>
            <a:r>
              <a:rPr lang="pt-PT" sz="2100" dirty="0">
                <a:solidFill>
                  <a:schemeClr val="bg1"/>
                </a:solidFill>
                <a:latin typeface="Segoe UI"/>
              </a:rPr>
              <a:t>,</a:t>
            </a:r>
            <a:r>
              <a:rPr sz="2100" dirty="0">
                <a:solidFill>
                  <a:schemeClr val="bg1"/>
                </a:solidFill>
                <a:latin typeface="Segoe UI"/>
              </a:rPr>
              <a:t> and </a:t>
            </a:r>
            <a:r>
              <a:rPr lang="pt-PT" sz="2100" dirty="0">
                <a:solidFill>
                  <a:schemeClr val="bg1"/>
                </a:solidFill>
                <a:latin typeface="Segoe UI"/>
              </a:rPr>
              <a:t>provide </a:t>
            </a:r>
            <a:r>
              <a:rPr sz="2100" dirty="0">
                <a:solidFill>
                  <a:schemeClr val="bg1"/>
                </a:solidFill>
                <a:latin typeface="Segoe UI"/>
              </a:rPr>
              <a:t>recommendations on RDBES data-model development.</a:t>
            </a:r>
            <a:endParaRPr lang="et-EE" sz="2100" dirty="0">
              <a:solidFill>
                <a:schemeClr val="bg1"/>
              </a:solidFill>
              <a:latin typeface="Segoe UI"/>
            </a:endParaRPr>
          </a:p>
          <a:p>
            <a:endParaRPr lang="et-EE" sz="2100" dirty="0">
              <a:solidFill>
                <a:schemeClr val="bg1"/>
              </a:solidFill>
              <a:latin typeface="Segoe UI"/>
            </a:endParaRPr>
          </a:p>
          <a:p>
            <a:r>
              <a:rPr lang="et-EE" sz="2100" dirty="0" err="1">
                <a:solidFill>
                  <a:schemeClr val="bg1"/>
                </a:solidFill>
                <a:latin typeface="Segoe UI"/>
              </a:rPr>
              <a:t>We</a:t>
            </a:r>
            <a:r>
              <a:rPr lang="et-EE" sz="2100" dirty="0">
                <a:solidFill>
                  <a:schemeClr val="bg1"/>
                </a:solidFill>
                <a:latin typeface="Segoe UI"/>
              </a:rPr>
              <a:t> </a:t>
            </a:r>
            <a:r>
              <a:rPr lang="pt-PT" sz="2100" dirty="0">
                <a:solidFill>
                  <a:schemeClr val="bg1"/>
                </a:solidFill>
                <a:latin typeface="Segoe UI"/>
              </a:rPr>
              <a:t>welcome </a:t>
            </a:r>
            <a:r>
              <a:rPr lang="et-EE" sz="2100" dirty="0" err="1">
                <a:solidFill>
                  <a:schemeClr val="bg1"/>
                </a:solidFill>
                <a:latin typeface="Segoe UI"/>
              </a:rPr>
              <a:t>new</a:t>
            </a:r>
            <a:r>
              <a:rPr lang="et-EE" sz="2100" dirty="0">
                <a:solidFill>
                  <a:schemeClr val="bg1"/>
                </a:solidFill>
                <a:latin typeface="Segoe UI"/>
              </a:rPr>
              <a:t> </a:t>
            </a:r>
            <a:r>
              <a:rPr lang="et-EE" sz="2100" dirty="0" err="1">
                <a:solidFill>
                  <a:schemeClr val="bg1"/>
                </a:solidFill>
                <a:latin typeface="Segoe UI"/>
              </a:rPr>
              <a:t>contributors</a:t>
            </a:r>
            <a:r>
              <a:rPr lang="et-EE" sz="2100" dirty="0">
                <a:solidFill>
                  <a:schemeClr val="bg1"/>
                </a:solidFill>
                <a:latin typeface="Segoe UI"/>
              </a:rPr>
              <a:t> </a:t>
            </a:r>
            <a:r>
              <a:rPr lang="pt-PT" sz="2100" dirty="0">
                <a:solidFill>
                  <a:schemeClr val="bg1"/>
                </a:solidFill>
                <a:latin typeface="Segoe UI"/>
              </a:rPr>
              <a:t>who are interested in </a:t>
            </a:r>
            <a:r>
              <a:rPr lang="et-EE" sz="2100" dirty="0" err="1">
                <a:solidFill>
                  <a:schemeClr val="bg1"/>
                </a:solidFill>
                <a:latin typeface="Segoe UI"/>
              </a:rPr>
              <a:t>joining</a:t>
            </a:r>
            <a:r>
              <a:rPr lang="et-EE" sz="2100" dirty="0">
                <a:solidFill>
                  <a:schemeClr val="bg1"/>
                </a:solidFill>
                <a:latin typeface="Segoe UI"/>
              </a:rPr>
              <a:t> </a:t>
            </a:r>
            <a:r>
              <a:rPr lang="et-EE" sz="2100" dirty="0" err="1">
                <a:solidFill>
                  <a:schemeClr val="bg1"/>
                </a:solidFill>
                <a:latin typeface="Segoe UI"/>
              </a:rPr>
              <a:t>th</a:t>
            </a:r>
            <a:r>
              <a:rPr lang="pt-PT" sz="2100" dirty="0">
                <a:solidFill>
                  <a:schemeClr val="bg1"/>
                </a:solidFill>
                <a:latin typeface="Segoe UI"/>
              </a:rPr>
              <a:t>is </a:t>
            </a:r>
            <a:r>
              <a:rPr lang="et-EE" sz="2100" dirty="0" err="1">
                <a:solidFill>
                  <a:schemeClr val="bg1"/>
                </a:solidFill>
                <a:latin typeface="Segoe UI"/>
              </a:rPr>
              <a:t>work</a:t>
            </a:r>
            <a:r>
              <a:rPr lang="pt-PT" sz="2100" dirty="0">
                <a:solidFill>
                  <a:schemeClr val="bg1"/>
                </a:solidFill>
                <a:latin typeface="Segoe UI"/>
              </a:rPr>
              <a:t>ing </a:t>
            </a:r>
            <a:r>
              <a:rPr lang="et-EE" sz="2100" dirty="0" err="1">
                <a:solidFill>
                  <a:schemeClr val="bg1"/>
                </a:solidFill>
                <a:latin typeface="Segoe UI"/>
              </a:rPr>
              <a:t>group</a:t>
            </a:r>
            <a:r>
              <a:rPr lang="et-EE" sz="2100" dirty="0">
                <a:solidFill>
                  <a:schemeClr val="bg1"/>
                </a:solidFill>
                <a:latin typeface="Segoe UI"/>
              </a:rPr>
              <a:t>.</a:t>
            </a:r>
            <a:endParaRPr sz="2100" dirty="0">
              <a:solidFill>
                <a:schemeClr val="bg1"/>
              </a:solidFill>
              <a:latin typeface="Segoe UI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1F56E74-79CB-497A-AB96-70F3C2914898}"/>
              </a:ext>
            </a:extLst>
          </p:cNvPr>
          <p:cNvCxnSpPr/>
          <p:nvPr/>
        </p:nvCxnSpPr>
        <p:spPr>
          <a:xfrm>
            <a:off x="11361044" y="10599908"/>
            <a:ext cx="61436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80" name="Picture 3379" descr="rdbescore_dev_q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9224" y="24174014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60595"/>
      </p:ext>
    </p:extLst>
  </p:cSld>
  <p:clrMapOvr>
    <a:masterClrMapping/>
  </p:clrMapOvr>
</p:sld>
</file>

<file path=ppt/theme/theme1.xml><?xml version="1.0" encoding="utf-8"?>
<a:theme xmlns:a="http://schemas.openxmlformats.org/drawingml/2006/main" name="ICES Theme">
  <a:themeElements>
    <a:clrScheme name="ICES Pallete">
      <a:dk1>
        <a:srgbClr val="002C5C"/>
      </a:dk1>
      <a:lt1>
        <a:srgbClr val="FFFFFF"/>
      </a:lt1>
      <a:dk2>
        <a:srgbClr val="000000"/>
      </a:dk2>
      <a:lt2>
        <a:srgbClr val="E8EAEA"/>
      </a:lt2>
      <a:accent1>
        <a:srgbClr val="7FA99C"/>
      </a:accent1>
      <a:accent2>
        <a:srgbClr val="E9500E"/>
      </a:accent2>
      <a:accent3>
        <a:srgbClr val="00AE9E"/>
      </a:accent3>
      <a:accent4>
        <a:srgbClr val="00ACE9"/>
      </a:accent4>
      <a:accent5>
        <a:srgbClr val="B0BC22"/>
      </a:accent5>
      <a:accent6>
        <a:srgbClr val="71B5BC"/>
      </a:accent6>
      <a:hlink>
        <a:srgbClr val="7FA99C"/>
      </a:hlink>
      <a:folHlink>
        <a:srgbClr val="E9500E"/>
      </a:folHlink>
    </a:clrScheme>
    <a:fontScheme name="ICES FONT">
      <a:majorFont>
        <a:latin typeface="Soho Gothic Pro Medium"/>
        <a:ea typeface=""/>
        <a:cs typeface=""/>
      </a:majorFont>
      <a:minorFont>
        <a:latin typeface="Soho Gothic Pro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ES Theme" id="{C9D9D888-FCB2-46B5-9870-2D0885643C46}" vid="{FD0502A3-C136-4AE5-96FA-062AEBC023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c47f6974-2345-4997-91b1-c52c30586ff7">
      <UserInfo>
        <DisplayName/>
        <AccountId xsi:nil="true"/>
        <AccountType/>
      </UserInfo>
    </SharedWithUsers>
    <_activity xmlns="9a29517f-2255-4a56-8bed-c44b84ebd30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0A1501C2C152B478F611F2D02F2C39B" ma:contentTypeVersion="18" ma:contentTypeDescription="Loo uus dokument" ma:contentTypeScope="" ma:versionID="f8a051bd53a1c65c8ebb2db3d47699d4">
  <xsd:schema xmlns:xsd="http://www.w3.org/2001/XMLSchema" xmlns:xs="http://www.w3.org/2001/XMLSchema" xmlns:p="http://schemas.microsoft.com/office/2006/metadata/properties" xmlns:ns3="c47f6974-2345-4997-91b1-c52c30586ff7" xmlns:ns4="9a29517f-2255-4a56-8bed-c44b84ebd303" targetNamespace="http://schemas.microsoft.com/office/2006/metadata/properties" ma:root="true" ma:fieldsID="7e445827f1b8cc3870b3d0579064d343" ns3:_="" ns4:_="">
    <xsd:import namespace="c47f6974-2345-4997-91b1-c52c30586ff7"/>
    <xsd:import namespace="9a29517f-2255-4a56-8bed-c44b84ebd30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7f6974-2345-4997-91b1-c52c30586ff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Ühiskasutuse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Ühiskasutusse andmise üksikasjad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Vihjeräsi jagamine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29517f-2255-4a56-8bed-c44b84ebd3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utüüp"/>
        <xsd:element ref="dc:title" minOccurs="0" maxOccurs="1" ma:index="4" ma:displayName="Pealkiri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EC039A-C861-4250-9B8D-E29EB3A233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373D17-745A-42D5-84C6-C50D34E9E048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dcmitype/"/>
    <ds:schemaRef ds:uri="9a29517f-2255-4a56-8bed-c44b84ebd303"/>
    <ds:schemaRef ds:uri="http://schemas.microsoft.com/office/infopath/2007/PartnerControls"/>
    <ds:schemaRef ds:uri="c47f6974-2345-4997-91b1-c52c30586ff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C2D2FBD-197F-4BBD-A424-D8FDE7F037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7f6974-2345-4997-91b1-c52c30586ff7"/>
    <ds:schemaRef ds:uri="9a29517f-2255-4a56-8bed-c44b84ebd3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2422</TotalTime>
  <Words>271</Words>
  <Application>Microsoft Office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Segoe UI</vt:lpstr>
      <vt:lpstr>Soho Gothic Pro Light</vt:lpstr>
      <vt:lpstr>Soho Gothic Pro Medium</vt:lpstr>
      <vt:lpstr>Wingdings</vt:lpstr>
      <vt:lpstr>ICES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Angelica Torres Karlsmose</dc:creator>
  <cp:lastModifiedBy>Richard Meitern</cp:lastModifiedBy>
  <cp:revision>101</cp:revision>
  <dcterms:created xsi:type="dcterms:W3CDTF">2023-03-20T12:44:57Z</dcterms:created>
  <dcterms:modified xsi:type="dcterms:W3CDTF">2026-05-05T06:21:04Z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0x01010050A1501C2C152B478F611F2D02F2C39B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