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256" r:id="rId2"/>
    <p:sldId id="257" r:id="rId3"/>
    <p:sldId id="258" r:id="rId4"/>
    <p:sldId id="259" r:id="rId5"/>
    <p:sldId id="281" r:id="rId6"/>
    <p:sldId id="290"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91" r:id="rId28"/>
    <p:sldId id="280" r:id="rId29"/>
    <p:sldId id="292" r:id="rId30"/>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119" d="100"/>
          <a:sy n="119" d="100"/>
        </p:scale>
        <p:origin x="96" y="336"/>
      </p:cViewPr>
      <p:guideLst>
        <p:guide orient="horz" pos="2160"/>
        <p:guide pos="3840"/>
      </p:guideLst>
    </p:cSldViewPr>
  </p:slideViewPr>
  <p:notesTextViewPr>
    <p:cViewPr>
      <p:scale>
        <a:sx n="3" d="2"/>
        <a:sy n="3" d="2"/>
      </p:scale>
      <p:origin x="0" y="0"/>
    </p:cViewPr>
  </p:notesTextViewPr>
  <p:notesViewPr>
    <p:cSldViewPr snapToGrid="0">
      <p:cViewPr varScale="1">
        <p:scale>
          <a:sx n="87" d="100"/>
          <a:sy n="87"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objects - Turquoise">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r>
              <a:rPr lang="en-US" dirty="0"/>
              <a:t>Click to edit Master title style</a:t>
            </a:r>
            <a:endParaRPr lang="en-GB" dirty="0"/>
          </a:p>
        </p:txBody>
      </p:sp>
      <p:sp>
        <p:nvSpPr>
          <p:cNvPr id="15" name="Content Placeholder 2">
            <a:extLst>
              <a:ext uri="{FF2B5EF4-FFF2-40B4-BE49-F238E27FC236}">
                <a16:creationId xmlns:a16="http://schemas.microsoft.com/office/drawing/2014/main" id="{721D465C-25A6-4B18-9B14-0DBDE3EF4677}"/>
              </a:ext>
            </a:extLst>
          </p:cNvPr>
          <p:cNvSpPr>
            <a:spLocks noGrp="1"/>
          </p:cNvSpPr>
          <p:nvPr>
            <p:ph sz="quarter" idx="12" hasCustomPrompt="1"/>
          </p:nvPr>
        </p:nvSpPr>
        <p:spPr>
          <a:xfrm>
            <a:off x="647700" y="1825625"/>
            <a:ext cx="3792220" cy="422625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Content Placeholder 5">
            <a:extLst>
              <a:ext uri="{FF2B5EF4-FFF2-40B4-BE49-F238E27FC236}">
                <a16:creationId xmlns:a16="http://schemas.microsoft.com/office/drawing/2014/main" id="{F222F2F0-F6B4-4E5B-8718-B38DF1BB96E1}"/>
              </a:ext>
            </a:extLst>
          </p:cNvPr>
          <p:cNvSpPr>
            <a:spLocks noGrp="1"/>
          </p:cNvSpPr>
          <p:nvPr>
            <p:ph sz="quarter" idx="13" hasCustomPrompt="1"/>
          </p:nvPr>
        </p:nvSpPr>
        <p:spPr>
          <a:xfrm>
            <a:off x="5810250" y="1825624"/>
            <a:ext cx="5600700" cy="3739133"/>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Rektangel 11"/>
          <p:cNvSpPr/>
          <p:nvPr userDrawn="1"/>
        </p:nvSpPr>
        <p:spPr>
          <a:xfrm>
            <a:off x="-1" y="6296025"/>
            <a:ext cx="12192001" cy="561975"/>
          </a:xfrm>
          <a:prstGeom prst="rect">
            <a:avLst/>
          </a:prstGeom>
          <a:solidFill>
            <a:srgbClr val="00A6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Billed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Tree>
    <p:extLst>
      <p:ext uri="{BB962C8B-B14F-4D97-AF65-F5344CB8AC3E}">
        <p14:creationId xmlns:p14="http://schemas.microsoft.com/office/powerpoint/2010/main" val="279826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6844936" cy="871538"/>
          </a:xfrm>
        </p:spPr>
        <p:txBody>
          <a:bodyPr anchor="b">
            <a:noAutofit/>
          </a:bodyPr>
          <a:lstStyle>
            <a:lvl1pPr algn="l">
              <a:defRPr sz="3200" b="1"/>
            </a:lvl1pPr>
          </a:lstStyle>
          <a:p>
            <a:r>
              <a:rPr lang="en-US" dirty="0"/>
              <a:t>Click to edit Master title style</a:t>
            </a:r>
          </a:p>
        </p:txBody>
      </p:sp>
      <p:sp>
        <p:nvSpPr>
          <p:cNvPr id="3" name="Content Placeholder 2"/>
          <p:cNvSpPr>
            <a:spLocks noGrp="1"/>
          </p:cNvSpPr>
          <p:nvPr>
            <p:ph idx="1"/>
          </p:nvPr>
        </p:nvSpPr>
        <p:spPr>
          <a:xfrm>
            <a:off x="6623049" y="1436915"/>
            <a:ext cx="5111750" cy="502569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6915"/>
            <a:ext cx="6061166" cy="5025698"/>
          </a:xfrm>
        </p:spPr>
        <p:txBody>
          <a:bodyPr>
            <a:normAutofit/>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9135979" cy="1325563"/>
          </a:xfrm>
          <a:prstGeom prst="rect">
            <a:avLst/>
          </a:prstGeom>
        </p:spPr>
        <p:txBody>
          <a:bodyPr vert="horz" lIns="91440" tIns="45720" rIns="91440" bIns="45720" rtlCol="0" anchor="ctr">
            <a:norm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endParaRPr lang="en-GB" dirty="0"/>
          </a:p>
          <a:p>
            <a:pPr lvl="5"/>
            <a:r>
              <a:rPr lang="en-GB" dirty="0"/>
              <a:t>6</a:t>
            </a:r>
          </a:p>
          <a:p>
            <a:pPr lvl="6"/>
            <a:r>
              <a:rPr lang="en-GB" dirty="0"/>
              <a:t>7</a:t>
            </a:r>
          </a:p>
          <a:p>
            <a:pPr lvl="7"/>
            <a:r>
              <a:rPr lang="en-GB" dirty="0"/>
              <a:t>8</a:t>
            </a:r>
          </a:p>
          <a:p>
            <a:pPr lvl="8"/>
            <a:r>
              <a:rPr lang="en-GB" dirty="0"/>
              <a:t>9</a:t>
            </a:r>
          </a:p>
        </p:txBody>
      </p:sp>
      <p:sp>
        <p:nvSpPr>
          <p:cNvPr id="4" name="Pladsholder til dato 3"/>
          <p:cNvSpPr>
            <a:spLocks noGrp="1"/>
          </p:cNvSpPr>
          <p:nvPr>
            <p:ph type="dt" sz="half" idx="2"/>
          </p:nvPr>
        </p:nvSpPr>
        <p:spPr>
          <a:xfrm>
            <a:off x="0" y="6858000"/>
            <a:ext cx="0" cy="0"/>
          </a:xfrm>
          <a:prstGeom prst="rect">
            <a:avLst/>
          </a:prstGeom>
        </p:spPr>
        <p:txBody>
          <a:bodyPr vert="horz" lIns="91440" tIns="45720" rIns="91440" bIns="45720" rtlCol="0" anchor="ctr"/>
          <a:lstStyle>
            <a:lvl1pPr algn="l">
              <a:defRPr sz="100">
                <a:solidFill>
                  <a:schemeClr val="tx1">
                    <a:tint val="75000"/>
                  </a:schemeClr>
                </a:solidFill>
              </a:defRPr>
            </a:lvl1pPr>
          </a:lstStyle>
          <a:p>
            <a:r>
              <a:rPr lang="en-GB" dirty="0"/>
              <a:t>.</a:t>
            </a:r>
          </a:p>
        </p:txBody>
      </p:sp>
      <p:sp>
        <p:nvSpPr>
          <p:cNvPr id="5" name="Pladsholder til sidefod 4"/>
          <p:cNvSpPr>
            <a:spLocks noGrp="1"/>
          </p:cNvSpPr>
          <p:nvPr>
            <p:ph type="ftr" sz="quarter" idx="3"/>
          </p:nvPr>
        </p:nvSpPr>
        <p:spPr>
          <a:xfrm>
            <a:off x="0" y="6858000"/>
            <a:ext cx="0" cy="0"/>
          </a:xfrm>
          <a:prstGeom prst="rect">
            <a:avLst/>
          </a:prstGeom>
        </p:spPr>
        <p:txBody>
          <a:bodyPr vert="horz" lIns="91440" tIns="45720" rIns="91440" bIns="45720" rtlCol="0" anchor="ctr"/>
          <a:lstStyle>
            <a:lvl1pPr algn="ctr">
              <a:defRPr sz="100">
                <a:solidFill>
                  <a:schemeClr val="tx1">
                    <a:tint val="75000"/>
                  </a:schemeClr>
                </a:solidFill>
              </a:defRPr>
            </a:lvl1pPr>
          </a:lstStyle>
          <a:p>
            <a:r>
              <a:rPr lang="en-GB" dirty="0"/>
              <a:t>.</a:t>
            </a:r>
          </a:p>
        </p:txBody>
      </p:sp>
      <p:sp>
        <p:nvSpPr>
          <p:cNvPr id="6" name="Pladsholder til slidenummer 5"/>
          <p:cNvSpPr>
            <a:spLocks noGrp="1"/>
          </p:cNvSpPr>
          <p:nvPr>
            <p:ph type="sldNum" sz="quarter" idx="4"/>
          </p:nvPr>
        </p:nvSpPr>
        <p:spPr>
          <a:xfrm>
            <a:off x="0" y="6858000"/>
            <a:ext cx="0" cy="0"/>
          </a:xfrm>
          <a:prstGeom prst="rect">
            <a:avLst/>
          </a:prstGeom>
        </p:spPr>
        <p:txBody>
          <a:bodyPr vert="horz" lIns="91440" tIns="45720" rIns="91440" bIns="45720" rtlCol="0" anchor="ctr"/>
          <a:lstStyle>
            <a:lvl1pPr algn="r">
              <a:defRPr sz="100">
                <a:noFill/>
              </a:defRPr>
            </a:lvl1pPr>
          </a:lstStyle>
          <a:p>
            <a:endParaRPr lang="en-GB" dirty="0"/>
          </a:p>
        </p:txBody>
      </p:sp>
      <p:pic>
        <p:nvPicPr>
          <p:cNvPr id="7" name="Billede 6">
            <a:extLst>
              <a:ext uri="{FF2B5EF4-FFF2-40B4-BE49-F238E27FC236}">
                <a16:creationId xmlns:a16="http://schemas.microsoft.com/office/drawing/2014/main" id="{5501499D-F55E-49F4-B2E9-CBEF800A0415}"/>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Tree>
    <p:extLst>
      <p:ext uri="{BB962C8B-B14F-4D97-AF65-F5344CB8AC3E}">
        <p14:creationId xmlns:p14="http://schemas.microsoft.com/office/powerpoint/2010/main" val="206948723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1" r:id="rId5"/>
    <p:sldLayoutId id="2147483662" r:id="rId6"/>
    <p:sldLayoutId id="2147483654" r:id="rId7"/>
    <p:sldLayoutId id="2147483655" r:id="rId8"/>
  </p:sldLayoutIdLst>
  <p:txStyles>
    <p:title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p:titleStyle>
    <p:bodyStyle>
      <a:lvl1pPr marL="180000" indent="-180000" algn="l" defTabSz="914400" rtl="0" eaLnBrk="1" latinLnBrk="0" hangingPunct="1">
        <a:lnSpc>
          <a:spcPct val="90000"/>
        </a:lnSpc>
        <a:spcBef>
          <a:spcPts val="600"/>
        </a:spcBef>
        <a:buFont typeface="Arial" panose="020B0604020202020204" pitchFamily="34" charset="0"/>
        <a:buChar char="•"/>
        <a:defRPr sz="2000" kern="1200">
          <a:solidFill>
            <a:schemeClr val="accent1"/>
          </a:solidFill>
          <a:latin typeface="+mn-lt"/>
          <a:ea typeface="+mn-ea"/>
          <a:cs typeface="+mn-cs"/>
        </a:defRPr>
      </a:lvl1pPr>
      <a:lvl2pPr marL="360000" indent="-180000" algn="l" defTabSz="914400" rtl="0" eaLnBrk="1" latinLnBrk="0" hangingPunct="1">
        <a:lnSpc>
          <a:spcPct val="100000"/>
        </a:lnSpc>
        <a:spcBef>
          <a:spcPts val="600"/>
        </a:spcBef>
        <a:spcAft>
          <a:spcPts val="0"/>
        </a:spcAft>
        <a:buFont typeface="Arial" panose="020B0604020202020204" pitchFamily="34" charset="0"/>
        <a:buChar char="•"/>
        <a:defRPr sz="1800" kern="1200">
          <a:solidFill>
            <a:schemeClr val="accent1"/>
          </a:solidFill>
          <a:latin typeface="+mn-lt"/>
          <a:ea typeface="+mn-ea"/>
          <a:cs typeface="+mn-cs"/>
        </a:defRPr>
      </a:lvl2pPr>
      <a:lvl3pPr marL="540000" indent="-180000" algn="l" defTabSz="914400" rtl="0" eaLnBrk="1" latinLnBrk="0" hangingPunct="1">
        <a:lnSpc>
          <a:spcPct val="100000"/>
        </a:lnSpc>
        <a:spcBef>
          <a:spcPts val="600"/>
        </a:spcBef>
        <a:spcAft>
          <a:spcPts val="0"/>
        </a:spcAft>
        <a:buFont typeface="Arial" panose="020B0604020202020204" pitchFamily="34" charset="0"/>
        <a:buChar char="•"/>
        <a:defRPr sz="1600" kern="1200">
          <a:solidFill>
            <a:schemeClr val="accent1"/>
          </a:solidFill>
          <a:latin typeface="+mn-lt"/>
          <a:ea typeface="+mn-ea"/>
          <a:cs typeface="+mn-cs"/>
        </a:defRPr>
      </a:lvl3pPr>
      <a:lvl4pPr marL="72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4pPr>
      <a:lvl5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5pPr>
      <a:lvl6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6pPr>
      <a:lvl7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7pPr>
      <a:lvl8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8pPr>
      <a:lvl9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rdbes.ices.d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ces-tools-dev.github.io/RDBEScore/" TargetMode="External"/><Relationship Id="rId2" Type="http://schemas.openxmlformats.org/officeDocument/2006/relationships/hyperlink" Target="https://github.com/ices-tools-dev/RDBEScor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ices-tools-dev/RDBEScore/issues/13" TargetMode="Externa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CRAN.R-project.org/package=SDAResources" TargetMode="External"/><Relationship Id="rId2" Type="http://schemas.openxmlformats.org/officeDocument/2006/relationships/hyperlink" Target="https://CRAN.R-project.org/package=survey"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ices-tools-dev/RDBEScore/issue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ices-tools-dev/RDBEScore/blob/dev/R/downloadRDBESDataZip.R" TargetMode="External"/><Relationship Id="rId2" Type="http://schemas.openxmlformats.org/officeDocument/2006/relationships/hyperlink" Target="https://github.com/ices-tools-dev/RDBEScore/issues" TargetMode="External"/><Relationship Id="rId1" Type="http://schemas.openxmlformats.org/officeDocument/2006/relationships/slideLayout" Target="../slideLayouts/slideLayout2.xml"/><Relationship Id="rId5" Type="http://schemas.openxmlformats.org/officeDocument/2006/relationships/hyperlink" Target="https://github.com/ices-tools-dev/RDBEScore/blob/dev/R/doEstimationForAllStrata.R" TargetMode="External"/><Relationship Id="rId4" Type="http://schemas.openxmlformats.org/officeDocument/2006/relationships/hyperlink" Target="https://github.com/ices-tools-dev/RDBEScore/blob/dev/R/doEstimationRatio.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fontScale="90000"/>
          </a:bodyPr>
          <a:lstStyle/>
          <a:p>
            <a:pPr marL="0" lvl="0" indent="0">
              <a:buNone/>
            </a:pPr>
            <a:r>
              <a:t>RDBEScore: Using R for ICES Regional Database &amp; Estimation System (RDBES) Data</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endParaRPr/>
          </a:p>
        </p:txBody>
      </p:sp>
      <p:sp>
        <p:nvSpPr>
          <p:cNvPr id="4" name="TextBox 3">
            <a:extLst>
              <a:ext uri="{FF2B5EF4-FFF2-40B4-BE49-F238E27FC236}">
                <a16:creationId xmlns:a16="http://schemas.microsoft.com/office/drawing/2014/main" id="{144C87FA-F832-4A6C-9CBE-592FC7D8D0AF}"/>
              </a:ext>
            </a:extLst>
          </p:cNvPr>
          <p:cNvSpPr txBox="1"/>
          <p:nvPr/>
        </p:nvSpPr>
        <p:spPr>
          <a:xfrm>
            <a:off x="6296526" y="5486400"/>
            <a:ext cx="4539916" cy="914400"/>
          </a:xfrm>
          <a:prstGeom prst="rect">
            <a:avLst/>
          </a:prstGeom>
        </p:spPr>
        <p:txBody>
          <a:bodyPr vert="horz" wrap="none" lIns="0" tIns="0" rIns="0" bIns="0" rtlCol="0" anchor="t">
            <a:noAutofit/>
          </a:bodyPr>
          <a:lstStyle/>
          <a:p>
            <a:pPr algn="r"/>
            <a:r>
              <a:rPr lang="et-EE" sz="2000" dirty="0">
                <a:solidFill>
                  <a:schemeClr val="accent1"/>
                </a:solidFill>
                <a:latin typeface="+mn-lt"/>
              </a:rPr>
              <a:t>Richard Meitern</a:t>
            </a:r>
            <a:br>
              <a:rPr lang="et-EE" sz="2000" dirty="0">
                <a:solidFill>
                  <a:schemeClr val="accent1"/>
                </a:solidFill>
                <a:latin typeface="+mn-lt"/>
              </a:rPr>
            </a:br>
            <a:r>
              <a:rPr lang="et-EE" sz="2000" dirty="0">
                <a:solidFill>
                  <a:schemeClr val="accent1"/>
                </a:solidFill>
                <a:latin typeface="+mn-lt"/>
              </a:rPr>
              <a:t> 11.03.2026</a:t>
            </a:r>
            <a:endParaRPr lang="en-US" sz="2000" dirty="0" err="1">
              <a:solidFill>
                <a:schemeClr val="accent1"/>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Introduction</a:t>
            </a:r>
          </a:p>
        </p:txBody>
      </p:sp>
      <p:sp>
        <p:nvSpPr>
          <p:cNvPr id="3" name="Content Placeholder 2"/>
          <p:cNvSpPr>
            <a:spLocks noGrp="1"/>
          </p:cNvSpPr>
          <p:nvPr>
            <p:ph idx="1"/>
          </p:nvPr>
        </p:nvSpPr>
        <p:spPr/>
        <p:txBody>
          <a:bodyPr>
            <a:normAutofit lnSpcReduction="10000"/>
          </a:bodyPr>
          <a:lstStyle/>
          <a:p>
            <a:pPr marL="0" lvl="0" indent="0">
              <a:buNone/>
            </a:pPr>
            <a:r>
              <a:rPr b="1"/>
              <a:t>RDBEScore</a:t>
            </a:r>
            <a:r>
              <a:t> is an R package developed to facilitate the analysis of data from the ICES Regional Database and Estimation System (RDBES). The package provides functions to:</a:t>
            </a:r>
          </a:p>
          <a:p>
            <a:pPr lvl="0"/>
            <a:r>
              <a:t>import functions like </a:t>
            </a:r>
            <a:r>
              <a:rPr>
                <a:latin typeface="Courier"/>
              </a:rPr>
              <a:t>createRDBESDataObject</a:t>
            </a:r>
            <a:r>
              <a:t> and </a:t>
            </a:r>
            <a:r>
              <a:rPr>
                <a:latin typeface="Courier"/>
              </a:rPr>
              <a:t>validateRDBESDataObject</a:t>
            </a:r>
          </a:p>
          <a:p>
            <a:pPr lvl="0"/>
            <a:r>
              <a:t>manipulate functions such as </a:t>
            </a:r>
            <a:r>
              <a:rPr>
                <a:latin typeface="Courier"/>
              </a:rPr>
              <a:t>filterAndTidyRDBESDataObject</a:t>
            </a:r>
            <a:r>
              <a:t>, </a:t>
            </a:r>
            <a:r>
              <a:rPr>
                <a:latin typeface="Courier"/>
              </a:rPr>
              <a:t>combineRDBESDataObjects</a:t>
            </a:r>
            <a:r>
              <a:t> and </a:t>
            </a:r>
            <a:r>
              <a:rPr>
                <a:latin typeface="Courier"/>
              </a:rPr>
              <a:t>removeBrokenVesselLinks</a:t>
            </a:r>
          </a:p>
          <a:p>
            <a:pPr lvl="0"/>
            <a:r>
              <a:t>analysis functions including </a:t>
            </a:r>
            <a:r>
              <a:rPr>
                <a:latin typeface="Courier"/>
              </a:rPr>
              <a:t>createRDBESEstObject</a:t>
            </a:r>
            <a:r>
              <a:t>, </a:t>
            </a:r>
            <a:r>
              <a:rPr>
                <a:latin typeface="Courier"/>
              </a:rPr>
              <a:t>doEstimationForAllStrata</a:t>
            </a:r>
            <a:r>
              <a:t>, </a:t>
            </a:r>
            <a:r>
              <a:rPr>
                <a:latin typeface="Courier"/>
              </a:rPr>
              <a:t>doBVestimCANUM</a:t>
            </a:r>
            <a:r>
              <a:t> and </a:t>
            </a:r>
            <a:r>
              <a:rPr>
                <a:latin typeface="Courier"/>
              </a:rPr>
              <a:t>exportEstimationResultsToInterCatchFormat</a:t>
            </a:r>
            <a:r>
              <a:t> to generate estimates and export them to InterCatch format.</a:t>
            </a:r>
          </a:p>
          <a:p>
            <a:pPr marL="0" lvl="0" indent="0">
              <a:buNone/>
            </a:pPr>
            <a:r>
              <a:t>These functions support the entire workflow from data import through cleaning to estimation and reporting. The package is designed to work with data from the RDBES, which is a relational database system used by ICES to store data from regional sampling programmes. The </a:t>
            </a:r>
            <a:r>
              <a:rPr>
                <a:latin typeface="Courier"/>
              </a:rPr>
              <a:t>RDBEScore</a:t>
            </a:r>
            <a:r>
              <a:t> package is intended to be used by national data coordinators, data analysts, and scientists working with data from the RDBES.</a:t>
            </a:r>
          </a:p>
          <a:p>
            <a:pPr marL="0" lvl="0" indent="0">
              <a:buNone/>
            </a:pPr>
            <a:r>
              <a:t>The aim of this document is to outline the basic workflow of importing and processing data downloaded from the </a:t>
            </a:r>
            <a:r>
              <a:rPr>
                <a:hlinkClick r:id="rId2"/>
              </a:rPr>
              <a:t>ICES Regional Database &amp; Estimation System (RDBES)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RDBEScore package</a:t>
            </a:r>
          </a:p>
        </p:txBody>
      </p:sp>
      <p:sp>
        <p:nvSpPr>
          <p:cNvPr id="3" name="Content Placeholder 2"/>
          <p:cNvSpPr>
            <a:spLocks noGrp="1"/>
          </p:cNvSpPr>
          <p:nvPr>
            <p:ph idx="1"/>
          </p:nvPr>
        </p:nvSpPr>
        <p:spPr/>
        <p:txBody>
          <a:bodyPr/>
          <a:lstStyle/>
          <a:p>
            <a:pPr marL="0" lvl="0" indent="0">
              <a:buNone/>
            </a:pPr>
            <a:r>
              <a:t>The package can be found on </a:t>
            </a:r>
            <a:r>
              <a:rPr>
                <a:hlinkClick r:id="rId2"/>
              </a:rPr>
              <a:t>RDBEScore GitHub</a:t>
            </a:r>
            <a:r>
              <a:t>.</a:t>
            </a:r>
          </a:p>
          <a:p>
            <a:pPr marL="0" lvl="0" indent="0">
              <a:buNone/>
            </a:pPr>
            <a:r>
              <a:t>The best way to get started is to read the package documentation and the vignettes. The package documentation can be found on the </a:t>
            </a:r>
            <a:r>
              <a:rPr>
                <a:hlinkClick r:id="rId3"/>
              </a:rPr>
              <a:t>RDBEScore GitHub pages</a:t>
            </a:r>
            <a:r>
              <a:t>, which describe the installation methods and provide worked examples for the available functions under </a:t>
            </a:r>
            <a:r>
              <a:rPr b="1"/>
              <a:t>articles</a:t>
            </a:r>
            <a:r>
              <a:t> section.</a:t>
            </a:r>
          </a:p>
          <a:p>
            <a:pPr marL="0" lvl="0" indent="0">
              <a:buNone/>
            </a:pPr>
            <a:r>
              <a:t>These resources provide information on how to install the package, how to use the functions, and how to contribute to the development of the package. The following will now demonstrate some of the functionality of the package using the current </a:t>
            </a:r>
            <a:r>
              <a:rPr b="1"/>
              <a:t>main</a:t>
            </a:r>
            <a:r>
              <a:t> version.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Installation</a:t>
            </a:r>
          </a:p>
        </p:txBody>
      </p:sp>
      <p:sp>
        <p:nvSpPr>
          <p:cNvPr id="3" name="Content Placeholder 2"/>
          <p:cNvSpPr>
            <a:spLocks noGrp="1"/>
          </p:cNvSpPr>
          <p:nvPr>
            <p:ph idx="1"/>
          </p:nvPr>
        </p:nvSpPr>
        <p:spPr/>
        <p:txBody>
          <a:bodyPr/>
          <a:lstStyle/>
          <a:p>
            <a:pPr marL="0" lvl="0" indent="0">
              <a:buNone/>
            </a:pPr>
            <a:r>
              <a:t>The most recent production version of </a:t>
            </a:r>
            <a:r>
              <a:rPr b="1"/>
              <a:t>RDBEScore</a:t>
            </a:r>
            <a:r>
              <a:t> can be installed using the ICES tools production repository:</a:t>
            </a:r>
          </a:p>
          <a:p>
            <a:pPr lvl="0" indent="0">
              <a:buNone/>
            </a:pPr>
            <a:r>
              <a:rPr>
                <a:solidFill>
                  <a:srgbClr val="06287E"/>
                </a:solidFill>
                <a:latin typeface="Courier"/>
              </a:rPr>
              <a:t>install.packages</a:t>
            </a:r>
            <a:r>
              <a:rPr>
                <a:latin typeface="Courier"/>
              </a:rPr>
              <a:t>(</a:t>
            </a:r>
            <a:r>
              <a:rPr>
                <a:solidFill>
                  <a:srgbClr val="4070A0"/>
                </a:solidFill>
                <a:latin typeface="Courier"/>
              </a:rPr>
              <a:t>"RDBEScore"</a:t>
            </a:r>
            <a:r>
              <a:rPr>
                <a:latin typeface="Courier"/>
              </a:rPr>
              <a:t>,</a:t>
            </a:r>
            <a:br/>
            <a:r>
              <a:rPr>
                <a:latin typeface="Courier"/>
              </a:rPr>
              <a:t>  </a:t>
            </a:r>
            <a:r>
              <a:rPr>
                <a:solidFill>
                  <a:srgbClr val="7D9029"/>
                </a:solidFill>
                <a:latin typeface="Courier"/>
              </a:rPr>
              <a:t>repos =</a:t>
            </a:r>
            <a:r>
              <a:rPr>
                <a:latin typeface="Courier"/>
              </a:rPr>
              <a:t> </a:t>
            </a:r>
            <a:r>
              <a:rPr>
                <a:solidFill>
                  <a:srgbClr val="06287E"/>
                </a:solidFill>
                <a:latin typeface="Courier"/>
              </a:rPr>
              <a:t>c</a:t>
            </a:r>
            <a:r>
              <a:rPr>
                <a:latin typeface="Courier"/>
              </a:rPr>
              <a:t>(</a:t>
            </a:r>
            <a:r>
              <a:rPr>
                <a:solidFill>
                  <a:srgbClr val="4070A0"/>
                </a:solidFill>
                <a:latin typeface="Courier"/>
              </a:rPr>
              <a:t>"https://ices-tools-prod.r-universe.dev"</a:t>
            </a:r>
            <a:r>
              <a:rPr>
                <a:latin typeface="Courier"/>
              </a:rPr>
              <a:t>,</a:t>
            </a:r>
            <a:br/>
            <a:r>
              <a:rPr>
                <a:latin typeface="Courier"/>
              </a:rPr>
              <a:t>            </a:t>
            </a:r>
            <a:r>
              <a:rPr>
                <a:solidFill>
                  <a:srgbClr val="4070A0"/>
                </a:solidFill>
                <a:latin typeface="Courier"/>
              </a:rPr>
              <a:t>"https://cloud.r-project.org"</a:t>
            </a:r>
            <a:r>
              <a:rPr>
                <a:latin typeface="Courier"/>
              </a:rPr>
              <a:t>))</a:t>
            </a:r>
          </a:p>
          <a:p>
            <a:pPr marL="0" lvl="0" indent="0">
              <a:buNone/>
            </a:pPr>
            <a:r>
              <a:t>A more recent development version is available from GitHub:</a:t>
            </a:r>
          </a:p>
          <a:p>
            <a:pPr lvl="0" indent="0">
              <a:buNone/>
            </a:pPr>
            <a:r>
              <a:rPr>
                <a:solidFill>
                  <a:srgbClr val="06287E"/>
                </a:solidFill>
                <a:latin typeface="Courier"/>
              </a:rPr>
              <a:t>install.packages</a:t>
            </a:r>
            <a:r>
              <a:rPr>
                <a:latin typeface="Courier"/>
              </a:rPr>
              <a:t>(</a:t>
            </a:r>
            <a:r>
              <a:rPr>
                <a:solidFill>
                  <a:srgbClr val="4070A0"/>
                </a:solidFill>
                <a:latin typeface="Courier"/>
              </a:rPr>
              <a:t>"remotes"</a:t>
            </a:r>
            <a:r>
              <a:rPr>
                <a:latin typeface="Courier"/>
              </a:rPr>
              <a:t>)</a:t>
            </a:r>
            <a:br/>
            <a:r>
              <a:rPr>
                <a:latin typeface="Courier"/>
              </a:rPr>
              <a:t>remotes</a:t>
            </a:r>
            <a:r>
              <a:rPr>
                <a:solidFill>
                  <a:srgbClr val="4070A0"/>
                </a:solidFill>
                <a:latin typeface="Courier"/>
              </a:rPr>
              <a:t>::</a:t>
            </a:r>
            <a:r>
              <a:rPr>
                <a:solidFill>
                  <a:srgbClr val="06287E"/>
                </a:solidFill>
                <a:latin typeface="Courier"/>
              </a:rPr>
              <a:t>install_github</a:t>
            </a:r>
            <a:r>
              <a:rPr>
                <a:latin typeface="Courier"/>
              </a:rPr>
              <a:t>(</a:t>
            </a:r>
            <a:r>
              <a:rPr>
                <a:solidFill>
                  <a:srgbClr val="4070A0"/>
                </a:solidFill>
                <a:latin typeface="Courier"/>
              </a:rPr>
              <a:t>"ices-tools-dev/RDBEScore/dev"</a:t>
            </a:r>
            <a:r>
              <a:rPr>
                <a:latin typeface="Courier"/>
              </a:rPr>
              <a:t>, </a:t>
            </a:r>
            <a:r>
              <a:rPr>
                <a:solidFill>
                  <a:srgbClr val="7D9029"/>
                </a:solidFill>
                <a:latin typeface="Courier"/>
              </a:rPr>
              <a:t>build_vignettes =</a:t>
            </a:r>
            <a:r>
              <a:rPr>
                <a:latin typeface="Courier"/>
              </a:rPr>
              <a:t> </a:t>
            </a:r>
            <a:r>
              <a:rPr>
                <a:solidFill>
                  <a:srgbClr val="880000"/>
                </a:solidFill>
                <a:latin typeface="Courier"/>
              </a:rPr>
              <a:t>TRUE</a:t>
            </a:r>
            <a:r>
              <a:rPr>
                <a:latin typeface="Courier"/>
              </a:rPr>
              <a:t>)</a:t>
            </a:r>
          </a:p>
          <a:p>
            <a:pPr marL="0" lvl="0" indent="0">
              <a:buNone/>
            </a:pPr>
            <a:r>
              <a:t>Then you can load the package using:</a:t>
            </a:r>
          </a:p>
          <a:p>
            <a:pPr lvl="0" indent="0">
              <a:buNone/>
            </a:pPr>
            <a:r>
              <a:rPr>
                <a:solidFill>
                  <a:srgbClr val="06287E"/>
                </a:solidFill>
                <a:latin typeface="Courier"/>
              </a:rPr>
              <a:t>library</a:t>
            </a:r>
            <a:r>
              <a:rPr>
                <a:latin typeface="Courier"/>
              </a:rPr>
              <a:t>(RDBEScore)</a:t>
            </a:r>
          </a:p>
          <a:p>
            <a:pPr marL="0" lvl="0" indent="0">
              <a:buNone/>
            </a:pPr>
            <a:r>
              <a:t>To see the complete list of vignettes available in the package use the following command:</a:t>
            </a:r>
          </a:p>
          <a:p>
            <a:pPr lvl="0" indent="0">
              <a:buNone/>
            </a:pPr>
            <a:r>
              <a:rPr>
                <a:solidFill>
                  <a:srgbClr val="06287E"/>
                </a:solidFill>
                <a:latin typeface="Courier"/>
              </a:rPr>
              <a:t>browseVignettes</a:t>
            </a:r>
            <a:r>
              <a:rPr>
                <a:latin typeface="Courier"/>
              </a:rPr>
              <a:t>(</a:t>
            </a:r>
            <a:r>
              <a:rPr>
                <a:solidFill>
                  <a:srgbClr val="7D9029"/>
                </a:solidFill>
                <a:latin typeface="Courier"/>
              </a:rPr>
              <a:t>package =</a:t>
            </a:r>
            <a:r>
              <a:rPr>
                <a:latin typeface="Courier"/>
              </a:rPr>
              <a:t> </a:t>
            </a:r>
            <a:r>
              <a:rPr>
                <a:solidFill>
                  <a:srgbClr val="4070A0"/>
                </a:solidFill>
                <a:latin typeface="Courier"/>
              </a:rPr>
              <a:t>"RDBEScore"</a:t>
            </a:r>
            <a:r>
              <a:rPr>
                <a:latin typeface="Courier"/>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365125"/>
            <a:ext cx="3890554" cy="3214098"/>
          </a:xfrm>
        </p:spPr>
        <p:txBody>
          <a:bodyPr>
            <a:normAutofit/>
          </a:bodyPr>
          <a:lstStyle/>
          <a:p>
            <a:pPr marL="0" lvl="0" indent="0">
              <a:buNone/>
            </a:pPr>
            <a:r>
              <a:rPr dirty="0"/>
              <a:t>Importing </a:t>
            </a:r>
            <a:r>
              <a:rPr lang="et-EE" dirty="0"/>
              <a:t>RDBES </a:t>
            </a:r>
            <a:r>
              <a:rPr lang="et-EE" dirty="0" err="1"/>
              <a:t>download</a:t>
            </a:r>
            <a:r>
              <a:rPr dirty="0"/>
              <a:t> files</a:t>
            </a:r>
          </a:p>
        </p:txBody>
      </p:sp>
      <p:sp>
        <p:nvSpPr>
          <p:cNvPr id="6" name="Content Placeholder 5">
            <a:extLst>
              <a:ext uri="{FF2B5EF4-FFF2-40B4-BE49-F238E27FC236}">
                <a16:creationId xmlns:a16="http://schemas.microsoft.com/office/drawing/2014/main" id="{24DE049F-136A-49F7-8760-8DD7669CD6FC}"/>
              </a:ext>
            </a:extLst>
          </p:cNvPr>
          <p:cNvSpPr>
            <a:spLocks noGrp="1"/>
          </p:cNvSpPr>
          <p:nvPr>
            <p:ph idx="1"/>
          </p:nvPr>
        </p:nvSpPr>
        <p:spPr>
          <a:xfrm>
            <a:off x="838200" y="3840479"/>
            <a:ext cx="10515600" cy="2336483"/>
          </a:xfrm>
        </p:spPr>
        <p:txBody>
          <a:bodyPr/>
          <a:lstStyle/>
          <a:p>
            <a:r>
              <a:rPr lang="en-US" dirty="0"/>
              <a:t>https://rdbes.ices.dk/#</a:t>
            </a:r>
          </a:p>
        </p:txBody>
      </p:sp>
      <p:sp>
        <p:nvSpPr>
          <p:cNvPr id="7" name="Rectangle 6">
            <a:extLst>
              <a:ext uri="{FF2B5EF4-FFF2-40B4-BE49-F238E27FC236}">
                <a16:creationId xmlns:a16="http://schemas.microsoft.com/office/drawing/2014/main" id="{42539BF6-3F63-4B8E-97BE-77A7E3FA887B}"/>
              </a:ext>
            </a:extLst>
          </p:cNvPr>
          <p:cNvSpPr/>
          <p:nvPr/>
        </p:nvSpPr>
        <p:spPr>
          <a:xfrm>
            <a:off x="8053252" y="1567543"/>
            <a:ext cx="45719" cy="9144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grpSp>
        <p:nvGrpSpPr>
          <p:cNvPr id="11" name="Group 10">
            <a:extLst>
              <a:ext uri="{FF2B5EF4-FFF2-40B4-BE49-F238E27FC236}">
                <a16:creationId xmlns:a16="http://schemas.microsoft.com/office/drawing/2014/main" id="{3F14FA1A-31DB-4769-8ABE-648E6805F0D4}"/>
              </a:ext>
            </a:extLst>
          </p:cNvPr>
          <p:cNvGrpSpPr/>
          <p:nvPr/>
        </p:nvGrpSpPr>
        <p:grpSpPr>
          <a:xfrm>
            <a:off x="4728755" y="470263"/>
            <a:ext cx="6943725" cy="6315891"/>
            <a:chOff x="4728755" y="470263"/>
            <a:chExt cx="6943725" cy="6315891"/>
          </a:xfrm>
        </p:grpSpPr>
        <p:pic>
          <p:nvPicPr>
            <p:cNvPr id="4" name="Picture 3">
              <a:extLst>
                <a:ext uri="{FF2B5EF4-FFF2-40B4-BE49-F238E27FC236}">
                  <a16:creationId xmlns:a16="http://schemas.microsoft.com/office/drawing/2014/main" id="{F074824D-D595-42DF-852E-35EAE0A3FE38}"/>
                </a:ext>
              </a:extLst>
            </p:cNvPr>
            <p:cNvPicPr>
              <a:picLocks noChangeAspect="1"/>
            </p:cNvPicPr>
            <p:nvPr/>
          </p:nvPicPr>
          <p:blipFill rotWithShape="1">
            <a:blip r:embed="rId2"/>
            <a:srcRect t="11429"/>
            <a:stretch/>
          </p:blipFill>
          <p:spPr>
            <a:xfrm>
              <a:off x="4728755" y="470263"/>
              <a:ext cx="6943725" cy="6315891"/>
            </a:xfrm>
            <a:prstGeom prst="rect">
              <a:avLst/>
            </a:prstGeom>
          </p:spPr>
        </p:pic>
        <p:sp>
          <p:nvSpPr>
            <p:cNvPr id="8" name="Rectangle 7">
              <a:extLst>
                <a:ext uri="{FF2B5EF4-FFF2-40B4-BE49-F238E27FC236}">
                  <a16:creationId xmlns:a16="http://schemas.microsoft.com/office/drawing/2014/main" id="{47604964-8A52-4DCB-9266-F34FE93ABBC5}"/>
                </a:ext>
              </a:extLst>
            </p:cNvPr>
            <p:cNvSpPr/>
            <p:nvPr/>
          </p:nvSpPr>
          <p:spPr>
            <a:xfrm>
              <a:off x="9562011" y="470263"/>
              <a:ext cx="1567543" cy="3396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9" name="Rectangle 8">
              <a:extLst>
                <a:ext uri="{FF2B5EF4-FFF2-40B4-BE49-F238E27FC236}">
                  <a16:creationId xmlns:a16="http://schemas.microsoft.com/office/drawing/2014/main" id="{6A4097CE-AED8-4803-A5D4-D729DC6CFA85}"/>
                </a:ext>
              </a:extLst>
            </p:cNvPr>
            <p:cNvSpPr/>
            <p:nvPr/>
          </p:nvSpPr>
          <p:spPr>
            <a:xfrm>
              <a:off x="4946468" y="6307387"/>
              <a:ext cx="4615543" cy="3396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10" name="Rectangle 9">
              <a:extLst>
                <a:ext uri="{FF2B5EF4-FFF2-40B4-BE49-F238E27FC236}">
                  <a16:creationId xmlns:a16="http://schemas.microsoft.com/office/drawing/2014/main" id="{D0A94498-8A09-46B7-95F6-94D62AD31731}"/>
                </a:ext>
              </a:extLst>
            </p:cNvPr>
            <p:cNvSpPr/>
            <p:nvPr/>
          </p:nvSpPr>
          <p:spPr>
            <a:xfrm>
              <a:off x="5011782" y="2351314"/>
              <a:ext cx="2734492" cy="3984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Importing </a:t>
            </a:r>
            <a:r>
              <a:rPr lang="et-EE" dirty="0"/>
              <a:t>RDBES </a:t>
            </a:r>
            <a:r>
              <a:rPr lang="et-EE" dirty="0" err="1"/>
              <a:t>download</a:t>
            </a:r>
            <a:r>
              <a:rPr dirty="0"/>
              <a:t> files</a:t>
            </a:r>
          </a:p>
        </p:txBody>
      </p:sp>
      <p:sp>
        <p:nvSpPr>
          <p:cNvPr id="3" name="Content Placeholder 2"/>
          <p:cNvSpPr>
            <a:spLocks noGrp="1"/>
          </p:cNvSpPr>
          <p:nvPr>
            <p:ph idx="1"/>
          </p:nvPr>
        </p:nvSpPr>
        <p:spPr>
          <a:xfrm>
            <a:off x="838200" y="1825625"/>
            <a:ext cx="7474308" cy="4351338"/>
          </a:xfrm>
        </p:spPr>
        <p:txBody>
          <a:bodyPr/>
          <a:lstStyle/>
          <a:p>
            <a:pPr marL="0" lvl="0" indent="0">
              <a:buNone/>
            </a:pPr>
            <a:r>
              <a:rPr dirty="0"/>
              <a:t>It can directly import the </a:t>
            </a:r>
            <a:r>
              <a:rPr dirty="0">
                <a:latin typeface="Courier"/>
              </a:rPr>
              <a:t>.zip</a:t>
            </a:r>
            <a:r>
              <a:rPr dirty="0"/>
              <a:t> archive from the RDBES download containing all mandatory hierarchy tables plus VD and SL:</a:t>
            </a:r>
          </a:p>
          <a:p>
            <a:pPr lvl="0" indent="0">
              <a:buNone/>
            </a:pPr>
            <a:r>
              <a:rPr dirty="0">
                <a:latin typeface="Courier"/>
              </a:rPr>
              <a:t>importedH1 </a:t>
            </a:r>
            <a:r>
              <a:rPr dirty="0">
                <a:solidFill>
                  <a:srgbClr val="007020"/>
                </a:solidFill>
                <a:latin typeface="Courier"/>
              </a:rPr>
              <a:t>&lt;-</a:t>
            </a:r>
            <a:r>
              <a:rPr dirty="0">
                <a:latin typeface="Courier"/>
              </a:rPr>
              <a:t> </a:t>
            </a:r>
            <a:r>
              <a:rPr dirty="0" err="1">
                <a:solidFill>
                  <a:srgbClr val="06287E"/>
                </a:solidFill>
                <a:latin typeface="Courier"/>
              </a:rPr>
              <a:t>createRDBESDataObject</a:t>
            </a:r>
            <a:r>
              <a:rPr dirty="0">
                <a:latin typeface="Courier"/>
              </a:rPr>
              <a:t>(</a:t>
            </a:r>
            <a:r>
              <a:rPr dirty="0">
                <a:solidFill>
                  <a:srgbClr val="7D9029"/>
                </a:solidFill>
                <a:latin typeface="Courier"/>
              </a:rPr>
              <a:t>input =</a:t>
            </a:r>
            <a:r>
              <a:rPr dirty="0">
                <a:latin typeface="Courier"/>
              </a:rPr>
              <a:t> </a:t>
            </a:r>
            <a:r>
              <a:rPr lang="en-US" dirty="0">
                <a:solidFill>
                  <a:srgbClr val="4070A0"/>
                </a:solidFill>
                <a:latin typeface="Courier"/>
              </a:rPr>
              <a:t>"./data-raw/</a:t>
            </a:r>
            <a:r>
              <a:rPr lang="en-US" dirty="0" err="1">
                <a:solidFill>
                  <a:srgbClr val="4070A0"/>
                </a:solidFill>
                <a:latin typeface="Courier"/>
              </a:rPr>
              <a:t>exampleData</a:t>
            </a:r>
            <a:r>
              <a:rPr lang="en-US" dirty="0">
                <a:solidFill>
                  <a:srgbClr val="4070A0"/>
                </a:solidFill>
                <a:latin typeface="Courier"/>
              </a:rPr>
              <a:t>/H1_2025_02_11.zip"</a:t>
            </a:r>
            <a:r>
              <a:rPr lang="en-US" dirty="0">
                <a:latin typeface="Courier"/>
              </a:rPr>
              <a:t>)</a:t>
            </a:r>
            <a:br>
              <a:rPr dirty="0"/>
            </a:br>
            <a:r>
              <a:rPr i="1" dirty="0">
                <a:solidFill>
                  <a:srgbClr val="60A0B0"/>
                </a:solidFill>
                <a:latin typeface="Courier"/>
              </a:rPr>
              <a:t>#print the not NULL table names</a:t>
            </a:r>
            <a:br>
              <a:rPr dirty="0"/>
            </a:br>
            <a:r>
              <a:rPr dirty="0">
                <a:solidFill>
                  <a:srgbClr val="06287E"/>
                </a:solidFill>
                <a:latin typeface="Courier"/>
              </a:rPr>
              <a:t>names</a:t>
            </a:r>
            <a:r>
              <a:rPr dirty="0">
                <a:latin typeface="Courier"/>
              </a:rPr>
              <a:t>(importedH1[</a:t>
            </a:r>
            <a:r>
              <a:rPr dirty="0">
                <a:solidFill>
                  <a:srgbClr val="4070A0"/>
                </a:solidFill>
                <a:latin typeface="Courier"/>
              </a:rPr>
              <a:t>!</a:t>
            </a:r>
            <a:r>
              <a:rPr dirty="0" err="1">
                <a:solidFill>
                  <a:srgbClr val="06287E"/>
                </a:solidFill>
                <a:latin typeface="Courier"/>
              </a:rPr>
              <a:t>unlist</a:t>
            </a:r>
            <a:r>
              <a:rPr dirty="0">
                <a:latin typeface="Courier"/>
              </a:rPr>
              <a:t>(</a:t>
            </a:r>
            <a:r>
              <a:rPr dirty="0" err="1">
                <a:solidFill>
                  <a:srgbClr val="06287E"/>
                </a:solidFill>
                <a:latin typeface="Courier"/>
              </a:rPr>
              <a:t>lapply</a:t>
            </a:r>
            <a:r>
              <a:rPr dirty="0">
                <a:latin typeface="Courier"/>
              </a:rPr>
              <a:t>(importedH1, </a:t>
            </a:r>
            <a:r>
              <a:rPr dirty="0" err="1">
                <a:latin typeface="Courier"/>
              </a:rPr>
              <a:t>is.null</a:t>
            </a:r>
            <a:r>
              <a:rPr dirty="0">
                <a:latin typeface="Courier"/>
              </a:rPr>
              <a:t>))])</a:t>
            </a:r>
          </a:p>
          <a:p>
            <a:pPr lvl="0" indent="0">
              <a:buNone/>
            </a:pPr>
            <a:r>
              <a:rPr dirty="0">
                <a:latin typeface="Courier"/>
              </a:rPr>
              <a:t>##  [1] "DE" "SD" "VS" "FT" "FO" "SS" "SA" "FM" "BV" "VD" "SL"</a:t>
            </a:r>
          </a:p>
          <a:p>
            <a:pPr marL="0" lvl="0" indent="0">
              <a:buNone/>
            </a:pPr>
            <a:r>
              <a:rPr lang="et-EE" dirty="0" err="1"/>
              <a:t>You</a:t>
            </a:r>
            <a:r>
              <a:rPr lang="et-EE" dirty="0"/>
              <a:t> </a:t>
            </a:r>
            <a:r>
              <a:rPr lang="et-EE" dirty="0" err="1"/>
              <a:t>can</a:t>
            </a:r>
            <a:r>
              <a:rPr lang="et-EE" dirty="0"/>
              <a:t> </a:t>
            </a:r>
            <a:r>
              <a:rPr lang="et-EE" dirty="0" err="1"/>
              <a:t>only</a:t>
            </a:r>
            <a:r>
              <a:rPr lang="et-EE" dirty="0"/>
              <a:t> read in </a:t>
            </a:r>
            <a:r>
              <a:rPr lang="et-EE" dirty="0" err="1"/>
              <a:t>one</a:t>
            </a:r>
            <a:r>
              <a:rPr lang="et-EE" dirty="0"/>
              <a:t> </a:t>
            </a:r>
            <a:r>
              <a:rPr lang="et-EE" dirty="0" err="1"/>
              <a:t>hierarchy</a:t>
            </a:r>
            <a:r>
              <a:rPr lang="et-EE" dirty="0"/>
              <a:t> at a </a:t>
            </a:r>
            <a:r>
              <a:rPr lang="et-EE" dirty="0" err="1"/>
              <a:t>time</a:t>
            </a:r>
            <a:r>
              <a:rPr dirty="0"/>
              <a:t>.</a:t>
            </a:r>
            <a:r>
              <a:rPr lang="et-EE" dirty="0"/>
              <a:t> </a:t>
            </a:r>
            <a:r>
              <a:rPr lang="et-EE" dirty="0" err="1"/>
              <a:t>If</a:t>
            </a:r>
            <a:r>
              <a:rPr lang="et-EE" dirty="0"/>
              <a:t> </a:t>
            </a:r>
            <a:r>
              <a:rPr lang="et-EE" dirty="0" err="1"/>
              <a:t>the</a:t>
            </a:r>
            <a:r>
              <a:rPr lang="et-EE" dirty="0"/>
              <a:t> </a:t>
            </a:r>
            <a:r>
              <a:rPr lang="et-EE" dirty="0" err="1"/>
              <a:t>zip</a:t>
            </a:r>
            <a:r>
              <a:rPr lang="et-EE" dirty="0"/>
              <a:t> </a:t>
            </a:r>
            <a:r>
              <a:rPr lang="et-EE" dirty="0" err="1"/>
              <a:t>file</a:t>
            </a:r>
            <a:r>
              <a:rPr lang="et-EE" dirty="0"/>
              <a:t> </a:t>
            </a:r>
            <a:r>
              <a:rPr lang="et-EE" dirty="0" err="1"/>
              <a:t>contains</a:t>
            </a:r>
            <a:r>
              <a:rPr lang="et-EE" dirty="0"/>
              <a:t> </a:t>
            </a:r>
            <a:r>
              <a:rPr lang="et-EE" dirty="0" err="1"/>
              <a:t>multiple</a:t>
            </a:r>
            <a:r>
              <a:rPr lang="et-EE" dirty="0"/>
              <a:t> </a:t>
            </a:r>
            <a:r>
              <a:rPr lang="en-US" dirty="0"/>
              <a:t>hierarch</a:t>
            </a:r>
            <a:r>
              <a:rPr lang="et-EE" dirty="0" err="1"/>
              <a:t>ies</a:t>
            </a:r>
            <a:r>
              <a:rPr lang="et-EE" dirty="0"/>
              <a:t> </a:t>
            </a:r>
            <a:r>
              <a:rPr lang="et-EE" dirty="0" err="1"/>
              <a:t>you</a:t>
            </a:r>
            <a:r>
              <a:rPr lang="et-EE" dirty="0"/>
              <a:t> need </a:t>
            </a:r>
            <a:r>
              <a:rPr lang="et-EE" dirty="0" err="1"/>
              <a:t>to</a:t>
            </a:r>
            <a:r>
              <a:rPr lang="et-EE" dirty="0"/>
              <a:t> read </a:t>
            </a:r>
            <a:r>
              <a:rPr lang="et-EE" dirty="0" err="1"/>
              <a:t>them</a:t>
            </a:r>
            <a:r>
              <a:rPr lang="et-EE" dirty="0"/>
              <a:t> </a:t>
            </a:r>
            <a:r>
              <a:rPr lang="et-EE" dirty="0" err="1"/>
              <a:t>separately</a:t>
            </a:r>
            <a:r>
              <a:rPr lang="et-EE" dirty="0"/>
              <a:t>.</a:t>
            </a:r>
            <a:endParaRPr dirty="0"/>
          </a:p>
        </p:txBody>
      </p:sp>
      <p:grpSp>
        <p:nvGrpSpPr>
          <p:cNvPr id="5" name="Group 4">
            <a:extLst>
              <a:ext uri="{FF2B5EF4-FFF2-40B4-BE49-F238E27FC236}">
                <a16:creationId xmlns:a16="http://schemas.microsoft.com/office/drawing/2014/main" id="{F255FE11-B350-4BF7-B2AA-4EAA9BBC656D}"/>
              </a:ext>
            </a:extLst>
          </p:cNvPr>
          <p:cNvGrpSpPr/>
          <p:nvPr/>
        </p:nvGrpSpPr>
        <p:grpSpPr>
          <a:xfrm>
            <a:off x="8312508" y="2014630"/>
            <a:ext cx="3696882" cy="2828108"/>
            <a:chOff x="4728755" y="470263"/>
            <a:chExt cx="6943725" cy="6315891"/>
          </a:xfrm>
        </p:grpSpPr>
        <p:pic>
          <p:nvPicPr>
            <p:cNvPr id="6" name="Picture 5">
              <a:extLst>
                <a:ext uri="{FF2B5EF4-FFF2-40B4-BE49-F238E27FC236}">
                  <a16:creationId xmlns:a16="http://schemas.microsoft.com/office/drawing/2014/main" id="{F57F5AA6-58E0-42AE-878F-26F6751A50FE}"/>
                </a:ext>
              </a:extLst>
            </p:cNvPr>
            <p:cNvPicPr>
              <a:picLocks noChangeAspect="1"/>
            </p:cNvPicPr>
            <p:nvPr/>
          </p:nvPicPr>
          <p:blipFill rotWithShape="1">
            <a:blip r:embed="rId2"/>
            <a:srcRect t="11429"/>
            <a:stretch/>
          </p:blipFill>
          <p:spPr>
            <a:xfrm>
              <a:off x="4728755" y="470263"/>
              <a:ext cx="6943725" cy="6315891"/>
            </a:xfrm>
            <a:prstGeom prst="rect">
              <a:avLst/>
            </a:prstGeom>
          </p:spPr>
        </p:pic>
        <p:sp>
          <p:nvSpPr>
            <p:cNvPr id="7" name="Rectangle 6">
              <a:extLst>
                <a:ext uri="{FF2B5EF4-FFF2-40B4-BE49-F238E27FC236}">
                  <a16:creationId xmlns:a16="http://schemas.microsoft.com/office/drawing/2014/main" id="{0EDA3922-F171-4F18-9693-9AF1368CD8BE}"/>
                </a:ext>
              </a:extLst>
            </p:cNvPr>
            <p:cNvSpPr/>
            <p:nvPr/>
          </p:nvSpPr>
          <p:spPr>
            <a:xfrm>
              <a:off x="9562011" y="470263"/>
              <a:ext cx="1567543" cy="3396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8" name="Rectangle 7">
              <a:extLst>
                <a:ext uri="{FF2B5EF4-FFF2-40B4-BE49-F238E27FC236}">
                  <a16:creationId xmlns:a16="http://schemas.microsoft.com/office/drawing/2014/main" id="{ABF76E28-EFFE-4238-8620-C7A77343B267}"/>
                </a:ext>
              </a:extLst>
            </p:cNvPr>
            <p:cNvSpPr/>
            <p:nvPr/>
          </p:nvSpPr>
          <p:spPr>
            <a:xfrm>
              <a:off x="4946468" y="6307387"/>
              <a:ext cx="4615543" cy="3396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9" name="Rectangle 8">
              <a:extLst>
                <a:ext uri="{FF2B5EF4-FFF2-40B4-BE49-F238E27FC236}">
                  <a16:creationId xmlns:a16="http://schemas.microsoft.com/office/drawing/2014/main" id="{18F65898-1C6D-4031-B668-6A9E7DC74E2B}"/>
                </a:ext>
              </a:extLst>
            </p:cNvPr>
            <p:cNvSpPr/>
            <p:nvPr/>
          </p:nvSpPr>
          <p:spPr>
            <a:xfrm>
              <a:off x="5011782" y="2351314"/>
              <a:ext cx="2734492" cy="3984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grpSp>
    </p:spTree>
    <p:extLst>
      <p:ext uri="{BB962C8B-B14F-4D97-AF65-F5344CB8AC3E}">
        <p14:creationId xmlns:p14="http://schemas.microsoft.com/office/powerpoint/2010/main" val="1114304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Importing zipped files</a:t>
            </a:r>
          </a:p>
        </p:txBody>
      </p:sp>
      <p:sp>
        <p:nvSpPr>
          <p:cNvPr id="3" name="Content Placeholder 2"/>
          <p:cNvSpPr>
            <a:spLocks noGrp="1"/>
          </p:cNvSpPr>
          <p:nvPr>
            <p:ph idx="1"/>
          </p:nvPr>
        </p:nvSpPr>
        <p:spPr/>
        <p:txBody>
          <a:bodyPr/>
          <a:lstStyle/>
          <a:p>
            <a:pPr marL="0" lvl="0" indent="0">
              <a:buNone/>
            </a:pPr>
            <a:r>
              <a:rPr dirty="0"/>
              <a:t>It can directly import the </a:t>
            </a:r>
            <a:r>
              <a:rPr dirty="0">
                <a:latin typeface="Courier"/>
              </a:rPr>
              <a:t>.zip</a:t>
            </a:r>
            <a:r>
              <a:rPr dirty="0"/>
              <a:t> archive from the RDBES download containing all mandatory hierarchy tables plus VD and SL:</a:t>
            </a:r>
          </a:p>
          <a:p>
            <a:pPr lvl="0" indent="0">
              <a:buNone/>
            </a:pPr>
            <a:r>
              <a:rPr dirty="0">
                <a:latin typeface="Courier"/>
              </a:rPr>
              <a:t>importedH1 </a:t>
            </a:r>
            <a:r>
              <a:rPr dirty="0">
                <a:solidFill>
                  <a:srgbClr val="007020"/>
                </a:solidFill>
                <a:latin typeface="Courier"/>
              </a:rPr>
              <a:t>&lt;-</a:t>
            </a:r>
            <a:r>
              <a:rPr dirty="0">
                <a:latin typeface="Courier"/>
              </a:rPr>
              <a:t> </a:t>
            </a:r>
            <a:r>
              <a:rPr dirty="0" err="1">
                <a:solidFill>
                  <a:srgbClr val="06287E"/>
                </a:solidFill>
                <a:latin typeface="Courier"/>
              </a:rPr>
              <a:t>createRDBESDataObject</a:t>
            </a:r>
            <a:r>
              <a:rPr dirty="0">
                <a:latin typeface="Courier"/>
              </a:rPr>
              <a:t>(</a:t>
            </a:r>
            <a:r>
              <a:rPr dirty="0">
                <a:solidFill>
                  <a:srgbClr val="7D9029"/>
                </a:solidFill>
                <a:latin typeface="Courier"/>
              </a:rPr>
              <a:t>input =</a:t>
            </a:r>
            <a:r>
              <a:rPr dirty="0">
                <a:latin typeface="Courier"/>
              </a:rPr>
              <a:t> </a:t>
            </a:r>
            <a:r>
              <a:rPr dirty="0">
                <a:solidFill>
                  <a:srgbClr val="4070A0"/>
                </a:solidFill>
                <a:latin typeface="Courier"/>
              </a:rPr>
              <a:t>"./data-raw/</a:t>
            </a:r>
            <a:r>
              <a:rPr dirty="0" err="1">
                <a:solidFill>
                  <a:srgbClr val="4070A0"/>
                </a:solidFill>
                <a:latin typeface="Courier"/>
              </a:rPr>
              <a:t>exampleData</a:t>
            </a:r>
            <a:r>
              <a:rPr dirty="0">
                <a:solidFill>
                  <a:srgbClr val="4070A0"/>
                </a:solidFill>
                <a:latin typeface="Courier"/>
              </a:rPr>
              <a:t>/H1_2025_02_11.zip"</a:t>
            </a:r>
            <a:r>
              <a:rPr dirty="0">
                <a:latin typeface="Courier"/>
              </a:rPr>
              <a:t>)</a:t>
            </a:r>
            <a:br>
              <a:rPr dirty="0"/>
            </a:br>
            <a:r>
              <a:rPr i="1" dirty="0">
                <a:solidFill>
                  <a:srgbClr val="60A0B0"/>
                </a:solidFill>
                <a:latin typeface="Courier"/>
              </a:rPr>
              <a:t>#print the not NULL table names</a:t>
            </a:r>
            <a:br>
              <a:rPr dirty="0"/>
            </a:br>
            <a:r>
              <a:rPr dirty="0">
                <a:solidFill>
                  <a:srgbClr val="06287E"/>
                </a:solidFill>
                <a:latin typeface="Courier"/>
              </a:rPr>
              <a:t>names</a:t>
            </a:r>
            <a:r>
              <a:rPr dirty="0">
                <a:latin typeface="Courier"/>
              </a:rPr>
              <a:t>(importedH1[</a:t>
            </a:r>
            <a:r>
              <a:rPr dirty="0">
                <a:solidFill>
                  <a:srgbClr val="4070A0"/>
                </a:solidFill>
                <a:latin typeface="Courier"/>
              </a:rPr>
              <a:t>!</a:t>
            </a:r>
            <a:r>
              <a:rPr dirty="0" err="1">
                <a:solidFill>
                  <a:srgbClr val="06287E"/>
                </a:solidFill>
                <a:latin typeface="Courier"/>
              </a:rPr>
              <a:t>unlist</a:t>
            </a:r>
            <a:r>
              <a:rPr dirty="0">
                <a:latin typeface="Courier"/>
              </a:rPr>
              <a:t>(</a:t>
            </a:r>
            <a:r>
              <a:rPr dirty="0" err="1">
                <a:solidFill>
                  <a:srgbClr val="06287E"/>
                </a:solidFill>
                <a:latin typeface="Courier"/>
              </a:rPr>
              <a:t>lapply</a:t>
            </a:r>
            <a:r>
              <a:rPr dirty="0">
                <a:latin typeface="Courier"/>
              </a:rPr>
              <a:t>(importedH1, </a:t>
            </a:r>
            <a:r>
              <a:rPr dirty="0" err="1">
                <a:latin typeface="Courier"/>
              </a:rPr>
              <a:t>is.null</a:t>
            </a:r>
            <a:r>
              <a:rPr dirty="0">
                <a:latin typeface="Courier"/>
              </a:rPr>
              <a:t>))])</a:t>
            </a:r>
          </a:p>
          <a:p>
            <a:pPr lvl="0" indent="0">
              <a:buNone/>
            </a:pPr>
            <a:r>
              <a:rPr dirty="0">
                <a:latin typeface="Courier"/>
              </a:rPr>
              <a:t>##  [1] "DE" "SD" "VS" "FT" "FO" "SS" "SA" "FM" "BV" "VD" "SL" "IS"</a:t>
            </a:r>
          </a:p>
          <a:p>
            <a:pPr marL="0" lvl="0" indent="0">
              <a:buNone/>
            </a:pPr>
            <a:r>
              <a:rPr dirty="0"/>
              <a:t>For this to work the zip file should contain these tables in the root of the zip file.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Object Structure</a:t>
            </a:r>
          </a:p>
        </p:txBody>
      </p:sp>
      <p:sp>
        <p:nvSpPr>
          <p:cNvPr id="3" name="Content Placeholder 2"/>
          <p:cNvSpPr>
            <a:spLocks noGrp="1"/>
          </p:cNvSpPr>
          <p:nvPr>
            <p:ph idx="1"/>
          </p:nvPr>
        </p:nvSpPr>
        <p:spPr/>
        <p:txBody>
          <a:bodyPr>
            <a:normAutofit fontScale="92500" lnSpcReduction="20000"/>
          </a:bodyPr>
          <a:lstStyle/>
          <a:p>
            <a:pPr marL="0" lvl="0" indent="0">
              <a:buNone/>
            </a:pPr>
            <a:r>
              <a:rPr dirty="0"/>
              <a:t>The easiest way to get a glimpse of the imported data hierarchy and single table row counts is just to print it. The information also includes the range of number sampled and number total for each table together with the selection method and number of rows.</a:t>
            </a:r>
          </a:p>
          <a:p>
            <a:pPr lvl="0" indent="0">
              <a:buNone/>
            </a:pPr>
            <a:r>
              <a:rPr i="1" dirty="0">
                <a:solidFill>
                  <a:srgbClr val="60A0B0"/>
                </a:solidFill>
                <a:latin typeface="Courier"/>
              </a:rPr>
              <a:t>#calls the print function </a:t>
            </a:r>
            <a:br>
              <a:rPr dirty="0"/>
            </a:br>
            <a:r>
              <a:rPr dirty="0">
                <a:latin typeface="Courier"/>
              </a:rPr>
              <a:t>importedH1</a:t>
            </a:r>
          </a:p>
          <a:p>
            <a:pPr lvl="0" indent="0">
              <a:buNone/>
            </a:pPr>
            <a:r>
              <a:rPr dirty="0">
                <a:latin typeface="Courier"/>
              </a:rPr>
              <a:t>## Hierarchy 1 </a:t>
            </a:r>
            <a:r>
              <a:rPr dirty="0" err="1">
                <a:latin typeface="Courier"/>
              </a:rPr>
              <a:t>RDBESdataObject</a:t>
            </a:r>
            <a:r>
              <a:rPr dirty="0">
                <a:latin typeface="Courier"/>
              </a:rPr>
              <a:t>:
##  DE: 8
##  SD: 8
##  VS: 1214 (SRSWOR,CENSUS,SRSWR: 2-135/4-1382)
##  FT: 1430 (CENSUS,SRSWR: 1-3/1-100)
##  FO: 1916 (CENSUS,SRSWR: 1-3/1-20)
##  SS: 1916 (CENSUS,SRSWR: 1/1-4)
##  SA: 1916 (CENSUS,SRSWR: 1/1-2)
##  FM: 7290
##  BV: 14580 (SRSWR: 2/2)
##  VD: 311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Import Formats</a:t>
            </a:r>
          </a:p>
        </p:txBody>
      </p:sp>
      <p:sp>
        <p:nvSpPr>
          <p:cNvPr id="3" name="Content Placeholder 2"/>
          <p:cNvSpPr>
            <a:spLocks noGrp="1"/>
          </p:cNvSpPr>
          <p:nvPr>
            <p:ph idx="1"/>
          </p:nvPr>
        </p:nvSpPr>
        <p:spPr/>
        <p:txBody>
          <a:bodyPr/>
          <a:lstStyle/>
          <a:p>
            <a:pPr marL="0" lvl="0" indent="0">
              <a:buNone/>
            </a:pPr>
            <a:r>
              <a:t>It can import the CL, CE, VD or SL tables </a:t>
            </a:r>
            <a:r>
              <a:rPr>
                <a:latin typeface="Courier"/>
              </a:rPr>
              <a:t>.zip</a:t>
            </a:r>
            <a:r>
              <a:t> archives, but will include all other tables as </a:t>
            </a:r>
            <a:r>
              <a:rPr>
                <a:latin typeface="Courier"/>
              </a:rPr>
              <a:t>NULL</a:t>
            </a:r>
            <a:r>
              <a:t>:</a:t>
            </a:r>
          </a:p>
          <a:p>
            <a:pPr lvl="0" indent="0">
              <a:buNone/>
            </a:pPr>
            <a:r>
              <a:rPr>
                <a:latin typeface="Courier"/>
              </a:rPr>
              <a:t>importedHSL </a:t>
            </a:r>
            <a:r>
              <a:rPr>
                <a:solidFill>
                  <a:srgbClr val="007020"/>
                </a:solidFill>
                <a:latin typeface="Courier"/>
              </a:rPr>
              <a:t>&lt;-</a:t>
            </a:r>
            <a:r>
              <a:rPr>
                <a:latin typeface="Courier"/>
              </a:rPr>
              <a:t> </a:t>
            </a:r>
            <a:r>
              <a:rPr>
                <a:solidFill>
                  <a:srgbClr val="06287E"/>
                </a:solidFill>
                <a:latin typeface="Courier"/>
              </a:rPr>
              <a:t>createRDBESDataObject</a:t>
            </a:r>
            <a:r>
              <a:rPr>
                <a:latin typeface="Courier"/>
              </a:rPr>
              <a:t>(</a:t>
            </a:r>
            <a:r>
              <a:rPr>
                <a:solidFill>
                  <a:srgbClr val="7D9029"/>
                </a:solidFill>
                <a:latin typeface="Courier"/>
              </a:rPr>
              <a:t>input =</a:t>
            </a:r>
            <a:r>
              <a:rPr>
                <a:latin typeface="Courier"/>
              </a:rPr>
              <a:t> </a:t>
            </a:r>
            <a:r>
              <a:rPr>
                <a:solidFill>
                  <a:srgbClr val="4070A0"/>
                </a:solidFill>
                <a:latin typeface="Courier"/>
              </a:rPr>
              <a:t>"./inst/extdata/HSL_Example.zip"</a:t>
            </a:r>
            <a:r>
              <a:rPr>
                <a:latin typeface="Courier"/>
              </a:rPr>
              <a:t>)</a:t>
            </a:r>
            <a:br/>
            <a:r>
              <a:rPr i="1">
                <a:solidFill>
                  <a:srgbClr val="60A0B0"/>
                </a:solidFill>
                <a:latin typeface="Courier"/>
              </a:rPr>
              <a:t>#print the not NULL table names</a:t>
            </a:r>
            <a:br/>
            <a:r>
              <a:rPr>
                <a:latin typeface="Courier"/>
              </a:rPr>
              <a:t>importedHSL</a:t>
            </a:r>
          </a:p>
          <a:p>
            <a:pPr lvl="0" indent="0">
              <a:buNone/>
            </a:pPr>
            <a:r>
              <a:rPr>
                <a:latin typeface="Courier"/>
              </a:rPr>
              <a:t>## No hierarchy, RDBESdataObject:
##  SL: 6
##  IS: 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Importing a List of Data Frames</a:t>
            </a:r>
          </a:p>
        </p:txBody>
      </p:sp>
      <p:sp>
        <p:nvSpPr>
          <p:cNvPr id="3" name="Content Placeholder 2"/>
          <p:cNvSpPr>
            <a:spLocks noGrp="1"/>
          </p:cNvSpPr>
          <p:nvPr>
            <p:ph idx="1"/>
          </p:nvPr>
        </p:nvSpPr>
        <p:spPr/>
        <p:txBody>
          <a:bodyPr/>
          <a:lstStyle/>
          <a:p>
            <a:pPr marL="0" lvl="0" indent="0">
              <a:buNone/>
            </a:pPr>
            <a:r>
              <a:t>It can also import a </a:t>
            </a:r>
            <a:r>
              <a:rPr>
                <a:latin typeface="Courier"/>
              </a:rPr>
              <a:t>list</a:t>
            </a:r>
            <a:r>
              <a:t> object containing data frames (or data.tables). However, it should be noted that this type of import bypasses the RDBES upload data integrity checks.</a:t>
            </a:r>
          </a:p>
          <a:p>
            <a:pPr lvl="0" indent="0">
              <a:buNone/>
            </a:pPr>
            <a:r>
              <a:rPr i="1">
                <a:solidFill>
                  <a:srgbClr val="60A0B0"/>
                </a:solidFill>
                <a:latin typeface="Courier"/>
              </a:rPr>
              <a:t>#list of data frames </a:t>
            </a:r>
            <a:br/>
            <a:r>
              <a:rPr>
                <a:latin typeface="Courier"/>
              </a:rPr>
              <a:t>listOfDfsH1 </a:t>
            </a:r>
            <a:r>
              <a:rPr>
                <a:solidFill>
                  <a:srgbClr val="007020"/>
                </a:solidFill>
                <a:latin typeface="Courier"/>
              </a:rPr>
              <a:t>&lt;-</a:t>
            </a:r>
            <a:r>
              <a:rPr>
                <a:latin typeface="Courier"/>
              </a:rPr>
              <a:t> </a:t>
            </a:r>
            <a:r>
              <a:rPr>
                <a:solidFill>
                  <a:srgbClr val="06287E"/>
                </a:solidFill>
                <a:latin typeface="Courier"/>
              </a:rPr>
              <a:t>list</a:t>
            </a:r>
            <a:r>
              <a:rPr>
                <a:latin typeface="Courier"/>
              </a:rPr>
              <a:t>(</a:t>
            </a:r>
            <a:r>
              <a:rPr>
                <a:solidFill>
                  <a:srgbClr val="7D9029"/>
                </a:solidFill>
                <a:latin typeface="Courier"/>
              </a:rPr>
              <a:t>DE =</a:t>
            </a:r>
            <a:r>
              <a:rPr>
                <a:latin typeface="Courier"/>
              </a:rPr>
              <a:t> </a:t>
            </a:r>
            <a:r>
              <a:rPr>
                <a:solidFill>
                  <a:srgbClr val="06287E"/>
                </a:solidFill>
                <a:latin typeface="Courier"/>
              </a:rPr>
              <a:t>as.data.frame</a:t>
            </a:r>
            <a:r>
              <a:rPr>
                <a:latin typeface="Courier"/>
              </a:rPr>
              <a:t>(H1Example</a:t>
            </a:r>
            <a:r>
              <a:rPr>
                <a:solidFill>
                  <a:srgbClr val="4070A0"/>
                </a:solidFill>
                <a:latin typeface="Courier"/>
              </a:rPr>
              <a:t>$</a:t>
            </a:r>
            <a:r>
              <a:rPr>
                <a:latin typeface="Courier"/>
              </a:rPr>
              <a:t>DE),</a:t>
            </a:r>
            <a:br/>
            <a:r>
              <a:rPr>
                <a:latin typeface="Courier"/>
              </a:rPr>
              <a:t>                  </a:t>
            </a:r>
            <a:r>
              <a:rPr>
                <a:solidFill>
                  <a:srgbClr val="7D9029"/>
                </a:solidFill>
                <a:latin typeface="Courier"/>
              </a:rPr>
              <a:t>SD =</a:t>
            </a:r>
            <a:r>
              <a:rPr>
                <a:latin typeface="Courier"/>
              </a:rPr>
              <a:t>  </a:t>
            </a:r>
            <a:r>
              <a:rPr>
                <a:solidFill>
                  <a:srgbClr val="06287E"/>
                </a:solidFill>
                <a:latin typeface="Courier"/>
              </a:rPr>
              <a:t>as.data.frame</a:t>
            </a:r>
            <a:r>
              <a:rPr>
                <a:latin typeface="Courier"/>
              </a:rPr>
              <a:t>(H1Example</a:t>
            </a:r>
            <a:r>
              <a:rPr>
                <a:solidFill>
                  <a:srgbClr val="4070A0"/>
                </a:solidFill>
                <a:latin typeface="Courier"/>
              </a:rPr>
              <a:t>$</a:t>
            </a:r>
            <a:r>
              <a:rPr>
                <a:latin typeface="Courier"/>
              </a:rPr>
              <a:t>SD))</a:t>
            </a:r>
            <a:br/>
            <a:r>
              <a:rPr>
                <a:latin typeface="Courier"/>
              </a:rPr>
              <a:t>importedList </a:t>
            </a:r>
            <a:r>
              <a:rPr>
                <a:solidFill>
                  <a:srgbClr val="007020"/>
                </a:solidFill>
                <a:latin typeface="Courier"/>
              </a:rPr>
              <a:t>&lt;-</a:t>
            </a:r>
            <a:r>
              <a:rPr>
                <a:latin typeface="Courier"/>
              </a:rPr>
              <a:t> </a:t>
            </a:r>
            <a:r>
              <a:rPr>
                <a:solidFill>
                  <a:srgbClr val="06287E"/>
                </a:solidFill>
                <a:latin typeface="Courier"/>
              </a:rPr>
              <a:t>createRDBESDataObject</a:t>
            </a:r>
            <a:r>
              <a:rPr>
                <a:latin typeface="Courier"/>
              </a:rPr>
              <a:t>(listOfDfsH1)</a:t>
            </a:r>
          </a:p>
          <a:p>
            <a:pPr lvl="0" indent="0">
              <a:buNone/>
            </a:pPr>
            <a:r>
              <a:rPr>
                <a:latin typeface="Courier"/>
              </a:rPr>
              <a:t>## Warning in createRDBESDataObject(listOfDfsH1): NOTE: Creating RDBES data objects from a list of local data frames or data.tables bypasses the RDBES upload data integrity checks.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Object class RDBESDataObject</a:t>
            </a:r>
          </a:p>
        </p:txBody>
      </p:sp>
      <p:sp>
        <p:nvSpPr>
          <p:cNvPr id="3" name="Content Placeholder 2"/>
          <p:cNvSpPr>
            <a:spLocks noGrp="1"/>
          </p:cNvSpPr>
          <p:nvPr>
            <p:ph idx="1"/>
          </p:nvPr>
        </p:nvSpPr>
        <p:spPr/>
        <p:txBody>
          <a:bodyPr>
            <a:normAutofit fontScale="85000" lnSpcReduction="10000"/>
          </a:bodyPr>
          <a:lstStyle/>
          <a:p>
            <a:pPr marL="0" lvl="0" indent="0">
              <a:buNone/>
            </a:pPr>
            <a:r>
              <a:rPr dirty="0"/>
              <a:t>It should be noted that the objects created are of the S3 class “</a:t>
            </a:r>
            <a:r>
              <a:rPr b="1" dirty="0" err="1"/>
              <a:t>RDBESDataObject</a:t>
            </a:r>
            <a:r>
              <a:rPr dirty="0"/>
              <a:t>”. The class has defined </a:t>
            </a:r>
            <a:r>
              <a:rPr b="1" dirty="0"/>
              <a:t>print()</a:t>
            </a:r>
            <a:r>
              <a:rPr dirty="0"/>
              <a:t>, </a:t>
            </a:r>
            <a:r>
              <a:rPr b="1" dirty="0"/>
              <a:t>summary()</a:t>
            </a:r>
            <a:r>
              <a:rPr dirty="0"/>
              <a:t> and </a:t>
            </a:r>
            <a:r>
              <a:rPr b="1" dirty="0"/>
              <a:t>sort()</a:t>
            </a:r>
            <a:r>
              <a:rPr dirty="0"/>
              <a:t> methods. For more info on these see vignettes</a:t>
            </a:r>
          </a:p>
          <a:p>
            <a:pPr marL="0" lvl="0" indent="0">
              <a:spcBef>
                <a:spcPts val="3000"/>
              </a:spcBef>
              <a:buNone/>
            </a:pPr>
            <a:r>
              <a:rPr b="1" dirty="0"/>
              <a:t>validate </a:t>
            </a:r>
            <a:r>
              <a:rPr b="1" dirty="0" err="1"/>
              <a:t>RDBESDataObject</a:t>
            </a:r>
            <a:endParaRPr b="1" dirty="0"/>
          </a:p>
          <a:p>
            <a:pPr marL="0" lvl="0" indent="0">
              <a:buNone/>
            </a:pPr>
            <a:r>
              <a:rPr dirty="0" err="1"/>
              <a:t>RDBESDataObject</a:t>
            </a:r>
            <a:r>
              <a:rPr dirty="0"/>
              <a:t> structure can be validated using the </a:t>
            </a:r>
            <a:r>
              <a:rPr b="1" dirty="0" err="1"/>
              <a:t>validateRDBESDataObject</a:t>
            </a:r>
            <a:r>
              <a:rPr b="1" dirty="0"/>
              <a:t>()</a:t>
            </a:r>
            <a:r>
              <a:rPr dirty="0"/>
              <a:t> function.</a:t>
            </a:r>
          </a:p>
          <a:p>
            <a:pPr lvl="0" indent="0">
              <a:buNone/>
            </a:pPr>
            <a:r>
              <a:rPr dirty="0" err="1">
                <a:solidFill>
                  <a:srgbClr val="06287E"/>
                </a:solidFill>
                <a:latin typeface="Courier"/>
              </a:rPr>
              <a:t>validateRDBESDataObject</a:t>
            </a:r>
            <a:r>
              <a:rPr dirty="0">
                <a:latin typeface="Courier"/>
              </a:rPr>
              <a:t>(</a:t>
            </a:r>
            <a:r>
              <a:rPr dirty="0" err="1">
                <a:latin typeface="Courier"/>
              </a:rPr>
              <a:t>importedList</a:t>
            </a:r>
            <a:r>
              <a:rPr dirty="0">
                <a:latin typeface="Courier"/>
              </a:rPr>
              <a:t>, </a:t>
            </a:r>
            <a:r>
              <a:rPr dirty="0">
                <a:solidFill>
                  <a:srgbClr val="7D9029"/>
                </a:solidFill>
                <a:latin typeface="Courier"/>
              </a:rPr>
              <a:t>verbose =</a:t>
            </a:r>
            <a:r>
              <a:rPr dirty="0">
                <a:latin typeface="Courier"/>
              </a:rPr>
              <a:t> </a:t>
            </a:r>
            <a:r>
              <a:rPr dirty="0">
                <a:solidFill>
                  <a:srgbClr val="880000"/>
                </a:solidFill>
                <a:latin typeface="Courier"/>
              </a:rPr>
              <a:t>TRUE</a:t>
            </a:r>
            <a:r>
              <a:rPr dirty="0">
                <a:latin typeface="Courier"/>
              </a:rPr>
              <a:t>)</a:t>
            </a:r>
          </a:p>
          <a:p>
            <a:pPr lvl="0" indent="0">
              <a:buNone/>
            </a:pPr>
            <a:r>
              <a:rPr dirty="0">
                <a:latin typeface="Courier"/>
              </a:rPr>
              <a:t>##  [1] "Note that VS is NULL but this is allowed in an </a:t>
            </a:r>
            <a:r>
              <a:rPr dirty="0" err="1">
                <a:latin typeface="Courier"/>
              </a:rPr>
              <a:t>RDBESDataObject</a:t>
            </a:r>
            <a:r>
              <a:rPr dirty="0">
                <a:latin typeface="Courier"/>
              </a:rPr>
              <a:t>"
##  [2] "Note that FT is NULL but this is allowed in an </a:t>
            </a:r>
            <a:r>
              <a:rPr dirty="0" err="1">
                <a:latin typeface="Courier"/>
              </a:rPr>
              <a:t>RDBESDataObject</a:t>
            </a:r>
            <a:r>
              <a:rPr dirty="0">
                <a:latin typeface="Courier"/>
              </a:rPr>
              <a:t>"
##  [3] "Note that FO is NULL but this is allowed in an </a:t>
            </a:r>
            <a:r>
              <a:rPr dirty="0" err="1">
                <a:latin typeface="Courier"/>
              </a:rPr>
              <a:t>RDBESDataObject</a:t>
            </a:r>
            <a:r>
              <a:rPr dirty="0">
                <a:latin typeface="Courier"/>
              </a:rPr>
              <a:t>"
##  [4] "Note that TE is NULL but this is allowed in an </a:t>
            </a:r>
            <a:r>
              <a:rPr dirty="0" err="1">
                <a:latin typeface="Courier"/>
              </a:rPr>
              <a:t>RDBESDataObject</a:t>
            </a:r>
            <a:r>
              <a:rPr dirty="0">
                <a:latin typeface="Courier"/>
              </a:rPr>
              <a:t>"
##  [5] "Note that LO is NULL but this is allowed in an </a:t>
            </a:r>
            <a:r>
              <a:rPr dirty="0" err="1">
                <a:latin typeface="Courier"/>
              </a:rPr>
              <a:t>RDBESDataObject</a:t>
            </a:r>
            <a:r>
              <a:rPr dirty="0">
                <a:latin typeface="Courier"/>
              </a:rPr>
              <a:t>"
##  [6] "Note that OS is NULL but this is allowed in an </a:t>
            </a:r>
            <a:r>
              <a:rPr dirty="0" err="1">
                <a:latin typeface="Courier"/>
              </a:rPr>
              <a:t>RDBESDataObject</a:t>
            </a:r>
            <a:r>
              <a:rPr dirty="0">
                <a:latin typeface="Courier"/>
              </a:rPr>
              <a:t>"
</a:t>
            </a:r>
            <a:r>
              <a:rPr lang="et-EE" dirty="0">
                <a:latin typeface="Courier"/>
              </a:rPr>
              <a:t>...</a:t>
            </a:r>
            <a:r>
              <a:rPr dirty="0">
                <a:latin typeface="Courier"/>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Filtering RDBESDataObjects</a:t>
            </a:r>
          </a:p>
        </p:txBody>
      </p:sp>
      <p:sp>
        <p:nvSpPr>
          <p:cNvPr id="3" name="Content Placeholder 2"/>
          <p:cNvSpPr>
            <a:spLocks noGrp="1"/>
          </p:cNvSpPr>
          <p:nvPr>
            <p:ph idx="1"/>
          </p:nvPr>
        </p:nvSpPr>
        <p:spPr>
          <a:xfrm>
            <a:off x="457200" y="1627516"/>
            <a:ext cx="5111750" cy="5025697"/>
          </a:xfrm>
        </p:spPr>
        <p:txBody>
          <a:bodyPr>
            <a:normAutofit fontScale="92500" lnSpcReduction="20000"/>
          </a:bodyPr>
          <a:lstStyle/>
          <a:p>
            <a:pPr marL="0" lvl="0" indent="0">
              <a:buNone/>
            </a:pPr>
            <a:r>
              <a:rPr dirty="0" err="1"/>
              <a:t>RDBESDataObjects</a:t>
            </a:r>
            <a:r>
              <a:rPr dirty="0"/>
              <a:t> can be filtered using the </a:t>
            </a:r>
            <a:r>
              <a:rPr b="1" dirty="0" err="1"/>
              <a:t>filterRDBESDataObject</a:t>
            </a:r>
            <a:r>
              <a:rPr b="1" dirty="0"/>
              <a:t>()</a:t>
            </a:r>
            <a:r>
              <a:rPr dirty="0"/>
              <a:t> function - this allows the </a:t>
            </a:r>
            <a:r>
              <a:rPr dirty="0" err="1"/>
              <a:t>RDBESDataObject</a:t>
            </a:r>
            <a:r>
              <a:rPr dirty="0"/>
              <a:t> to be filtered by any field. A typical use of filtering might be to extract all data collected in a particular ICES division.</a:t>
            </a:r>
          </a:p>
          <a:p>
            <a:pPr lvl="0" indent="0">
              <a:buNone/>
            </a:pPr>
            <a:r>
              <a:rPr dirty="0" err="1">
                <a:latin typeface="Courier"/>
              </a:rPr>
              <a:t>myFields</a:t>
            </a:r>
            <a:r>
              <a:rPr dirty="0">
                <a:latin typeface="Courier"/>
              </a:rPr>
              <a:t> </a:t>
            </a:r>
            <a:r>
              <a:rPr dirty="0">
                <a:solidFill>
                  <a:srgbClr val="007020"/>
                </a:solidFill>
                <a:latin typeface="Courier"/>
              </a:rPr>
              <a:t>&lt;-</a:t>
            </a:r>
            <a:r>
              <a:rPr dirty="0">
                <a:latin typeface="Courier"/>
              </a:rPr>
              <a:t> </a:t>
            </a:r>
            <a:r>
              <a:rPr dirty="0">
                <a:solidFill>
                  <a:srgbClr val="06287E"/>
                </a:solidFill>
                <a:latin typeface="Courier"/>
              </a:rPr>
              <a:t>c</a:t>
            </a:r>
            <a:r>
              <a:rPr dirty="0">
                <a:latin typeface="Courier"/>
              </a:rPr>
              <a:t>(</a:t>
            </a:r>
            <a:r>
              <a:rPr dirty="0">
                <a:solidFill>
                  <a:srgbClr val="4070A0"/>
                </a:solidFill>
                <a:latin typeface="Courier"/>
              </a:rPr>
              <a:t>"</a:t>
            </a:r>
            <a:r>
              <a:rPr dirty="0" err="1">
                <a:solidFill>
                  <a:srgbClr val="4070A0"/>
                </a:solidFill>
                <a:latin typeface="Courier"/>
              </a:rPr>
              <a:t>SDctry</a:t>
            </a:r>
            <a:r>
              <a:rPr dirty="0">
                <a:solidFill>
                  <a:srgbClr val="4070A0"/>
                </a:solidFill>
                <a:latin typeface="Courier"/>
              </a:rPr>
              <a:t>"</a:t>
            </a:r>
            <a:r>
              <a:rPr dirty="0">
                <a:latin typeface="Courier"/>
              </a:rPr>
              <a:t>,</a:t>
            </a:r>
            <a:r>
              <a:rPr dirty="0">
                <a:solidFill>
                  <a:srgbClr val="4070A0"/>
                </a:solidFill>
                <a:latin typeface="Courier"/>
              </a:rPr>
              <a:t>"</a:t>
            </a:r>
            <a:r>
              <a:rPr dirty="0" err="1">
                <a:solidFill>
                  <a:srgbClr val="4070A0"/>
                </a:solidFill>
                <a:latin typeface="Courier"/>
              </a:rPr>
              <a:t>VDctry</a:t>
            </a:r>
            <a:r>
              <a:rPr dirty="0">
                <a:solidFill>
                  <a:srgbClr val="4070A0"/>
                </a:solidFill>
                <a:latin typeface="Courier"/>
              </a:rPr>
              <a:t>"</a:t>
            </a:r>
            <a:r>
              <a:rPr dirty="0">
                <a:latin typeface="Courier"/>
              </a:rPr>
              <a:t>,</a:t>
            </a:r>
            <a:r>
              <a:rPr dirty="0">
                <a:solidFill>
                  <a:srgbClr val="4070A0"/>
                </a:solidFill>
                <a:latin typeface="Courier"/>
              </a:rPr>
              <a:t>"</a:t>
            </a:r>
            <a:r>
              <a:rPr dirty="0" err="1">
                <a:solidFill>
                  <a:srgbClr val="4070A0"/>
                </a:solidFill>
                <a:latin typeface="Courier"/>
              </a:rPr>
              <a:t>VDflgCtry</a:t>
            </a:r>
            <a:r>
              <a:rPr dirty="0">
                <a:solidFill>
                  <a:srgbClr val="4070A0"/>
                </a:solidFill>
                <a:latin typeface="Courier"/>
              </a:rPr>
              <a:t>"</a:t>
            </a:r>
            <a:r>
              <a:rPr dirty="0">
                <a:latin typeface="Courier"/>
              </a:rPr>
              <a:t>,</a:t>
            </a:r>
            <a:r>
              <a:rPr dirty="0">
                <a:solidFill>
                  <a:srgbClr val="4070A0"/>
                </a:solidFill>
                <a:latin typeface="Courier"/>
              </a:rPr>
              <a:t>"</a:t>
            </a:r>
            <a:r>
              <a:rPr dirty="0" err="1">
                <a:solidFill>
                  <a:srgbClr val="4070A0"/>
                </a:solidFill>
                <a:latin typeface="Courier"/>
              </a:rPr>
              <a:t>FTarvLoc</a:t>
            </a:r>
            <a:r>
              <a:rPr dirty="0">
                <a:solidFill>
                  <a:srgbClr val="4070A0"/>
                </a:solidFill>
                <a:latin typeface="Courier"/>
              </a:rPr>
              <a:t>"</a:t>
            </a:r>
            <a:r>
              <a:rPr dirty="0">
                <a:latin typeface="Courier"/>
              </a:rPr>
              <a:t>)</a:t>
            </a:r>
            <a:br>
              <a:rPr dirty="0"/>
            </a:br>
            <a:r>
              <a:rPr dirty="0" err="1">
                <a:latin typeface="Courier"/>
              </a:rPr>
              <a:t>myValues</a:t>
            </a:r>
            <a:r>
              <a:rPr dirty="0">
                <a:latin typeface="Courier"/>
              </a:rPr>
              <a:t> </a:t>
            </a:r>
            <a:r>
              <a:rPr dirty="0">
                <a:solidFill>
                  <a:srgbClr val="007020"/>
                </a:solidFill>
                <a:latin typeface="Courier"/>
              </a:rPr>
              <a:t>&lt;-</a:t>
            </a:r>
            <a:r>
              <a:rPr dirty="0">
                <a:latin typeface="Courier"/>
              </a:rPr>
              <a:t> </a:t>
            </a:r>
            <a:r>
              <a:rPr dirty="0">
                <a:solidFill>
                  <a:srgbClr val="06287E"/>
                </a:solidFill>
                <a:latin typeface="Courier"/>
              </a:rPr>
              <a:t>c</a:t>
            </a:r>
            <a:r>
              <a:rPr dirty="0">
                <a:latin typeface="Courier"/>
              </a:rPr>
              <a:t>(</a:t>
            </a:r>
            <a:r>
              <a:rPr dirty="0">
                <a:solidFill>
                  <a:srgbClr val="4070A0"/>
                </a:solidFill>
                <a:latin typeface="Courier"/>
              </a:rPr>
              <a:t>"ZW"</a:t>
            </a:r>
            <a:r>
              <a:rPr dirty="0">
                <a:latin typeface="Courier"/>
              </a:rPr>
              <a:t>,</a:t>
            </a:r>
            <a:r>
              <a:rPr dirty="0">
                <a:solidFill>
                  <a:srgbClr val="4070A0"/>
                </a:solidFill>
                <a:latin typeface="Courier"/>
              </a:rPr>
              <a:t>"ZWBZH"</a:t>
            </a:r>
            <a:r>
              <a:rPr dirty="0">
                <a:latin typeface="Courier"/>
              </a:rPr>
              <a:t>,</a:t>
            </a:r>
            <a:r>
              <a:rPr dirty="0">
                <a:solidFill>
                  <a:srgbClr val="4070A0"/>
                </a:solidFill>
                <a:latin typeface="Courier"/>
              </a:rPr>
              <a:t>"ZWVFA"</a:t>
            </a:r>
            <a:r>
              <a:rPr dirty="0">
                <a:latin typeface="Courier"/>
              </a:rPr>
              <a:t> )</a:t>
            </a:r>
            <a:br>
              <a:rPr dirty="0"/>
            </a:br>
            <a:br>
              <a:rPr dirty="0"/>
            </a:br>
            <a:r>
              <a:rPr dirty="0" err="1">
                <a:latin typeface="Courier"/>
              </a:rPr>
              <a:t>myFilteredObject</a:t>
            </a:r>
            <a:r>
              <a:rPr dirty="0">
                <a:latin typeface="Courier"/>
              </a:rPr>
              <a:t> </a:t>
            </a:r>
            <a:r>
              <a:rPr dirty="0">
                <a:solidFill>
                  <a:srgbClr val="007020"/>
                </a:solidFill>
                <a:latin typeface="Courier"/>
              </a:rPr>
              <a:t>&lt;-</a:t>
            </a:r>
            <a:r>
              <a:rPr dirty="0">
                <a:latin typeface="Courier"/>
              </a:rPr>
              <a:t> </a:t>
            </a:r>
            <a:r>
              <a:rPr dirty="0" err="1">
                <a:solidFill>
                  <a:srgbClr val="06287E"/>
                </a:solidFill>
                <a:latin typeface="Courier"/>
              </a:rPr>
              <a:t>filterRDBESDataObject</a:t>
            </a:r>
            <a:r>
              <a:rPr dirty="0">
                <a:latin typeface="Courier"/>
              </a:rPr>
              <a:t>(H1Example,</a:t>
            </a:r>
            <a:br>
              <a:rPr dirty="0"/>
            </a:br>
            <a:r>
              <a:rPr dirty="0">
                <a:latin typeface="Courier"/>
              </a:rPr>
              <a:t>                                         </a:t>
            </a:r>
            <a:r>
              <a:rPr dirty="0" err="1">
                <a:solidFill>
                  <a:srgbClr val="7D9029"/>
                </a:solidFill>
                <a:latin typeface="Courier"/>
              </a:rPr>
              <a:t>fieldsToFilter</a:t>
            </a:r>
            <a:r>
              <a:rPr dirty="0">
                <a:solidFill>
                  <a:srgbClr val="7D9029"/>
                </a:solidFill>
                <a:latin typeface="Courier"/>
              </a:rPr>
              <a:t> =</a:t>
            </a:r>
            <a:r>
              <a:rPr dirty="0">
                <a:latin typeface="Courier"/>
              </a:rPr>
              <a:t> </a:t>
            </a:r>
            <a:r>
              <a:rPr dirty="0" err="1">
                <a:latin typeface="Courier"/>
              </a:rPr>
              <a:t>myFields</a:t>
            </a:r>
            <a:r>
              <a:rPr dirty="0">
                <a:latin typeface="Courier"/>
              </a:rPr>
              <a:t>,</a:t>
            </a:r>
            <a:br>
              <a:rPr dirty="0"/>
            </a:br>
            <a:r>
              <a:rPr dirty="0">
                <a:latin typeface="Courier"/>
              </a:rPr>
              <a:t>                                         </a:t>
            </a:r>
            <a:r>
              <a:rPr dirty="0" err="1">
                <a:solidFill>
                  <a:srgbClr val="7D9029"/>
                </a:solidFill>
                <a:latin typeface="Courier"/>
              </a:rPr>
              <a:t>valuesToFilter</a:t>
            </a:r>
            <a:r>
              <a:rPr dirty="0">
                <a:solidFill>
                  <a:srgbClr val="7D9029"/>
                </a:solidFill>
                <a:latin typeface="Courier"/>
              </a:rPr>
              <a:t> =</a:t>
            </a:r>
            <a:r>
              <a:rPr dirty="0">
                <a:latin typeface="Courier"/>
              </a:rPr>
              <a:t> </a:t>
            </a:r>
            <a:r>
              <a:rPr dirty="0" err="1">
                <a:latin typeface="Courier"/>
              </a:rPr>
              <a:t>myValues</a:t>
            </a:r>
            <a:r>
              <a:rPr dirty="0">
                <a:latin typeface="Courier"/>
              </a:rPr>
              <a:t>)</a:t>
            </a:r>
            <a:br>
              <a:rPr dirty="0"/>
            </a:br>
            <a:endParaRPr dirty="0">
              <a:latin typeface="Courier"/>
            </a:endParaRPr>
          </a:p>
        </p:txBody>
      </p:sp>
      <p:sp>
        <p:nvSpPr>
          <p:cNvPr id="5" name="Text Placeholder 4">
            <a:extLst>
              <a:ext uri="{FF2B5EF4-FFF2-40B4-BE49-F238E27FC236}">
                <a16:creationId xmlns:a16="http://schemas.microsoft.com/office/drawing/2014/main" id="{2649635F-B947-4F73-BBEA-A09A5FF52D5D}"/>
              </a:ext>
            </a:extLst>
          </p:cNvPr>
          <p:cNvSpPr>
            <a:spLocks noGrp="1"/>
          </p:cNvSpPr>
          <p:nvPr>
            <p:ph type="body" sz="half" idx="2"/>
          </p:nvPr>
        </p:nvSpPr>
        <p:spPr>
          <a:xfrm>
            <a:off x="5743074" y="1364726"/>
            <a:ext cx="6061166" cy="5025698"/>
          </a:xfrm>
        </p:spPr>
        <p:txBody>
          <a:bodyPr>
            <a:normAutofit fontScale="92500" lnSpcReduction="10000"/>
          </a:bodyPr>
          <a:lstStyle/>
          <a:p>
            <a:pPr lvl="0"/>
            <a:br>
              <a:rPr lang="en-US" dirty="0"/>
            </a:br>
            <a:r>
              <a:rPr lang="en-US" i="1" dirty="0">
                <a:solidFill>
                  <a:srgbClr val="60A0B0"/>
                </a:solidFill>
                <a:latin typeface="Courier"/>
              </a:rPr>
              <a:t># Number of rows in each non-null table</a:t>
            </a:r>
            <a:br>
              <a:rPr lang="en-US" dirty="0"/>
            </a:br>
            <a:r>
              <a:rPr lang="en-US" dirty="0" err="1">
                <a:latin typeface="Courier"/>
              </a:rPr>
              <a:t>myFilteredObject</a:t>
            </a:r>
            <a:endParaRPr lang="en-US" dirty="0">
              <a:latin typeface="Courier"/>
            </a:endParaRPr>
          </a:p>
          <a:p>
            <a:pPr lvl="0"/>
            <a:r>
              <a:rPr lang="en-US" dirty="0">
                <a:latin typeface="Courier"/>
              </a:rPr>
              <a:t>## Hierarchy 1 </a:t>
            </a:r>
            <a:r>
              <a:rPr lang="en-US" dirty="0" err="1">
                <a:latin typeface="Courier"/>
              </a:rPr>
              <a:t>RDBESdataObject</a:t>
            </a:r>
            <a:r>
              <a:rPr lang="en-US" dirty="0">
                <a:latin typeface="Courier"/>
              </a:rPr>
              <a:t>:
##  DE: 8
##  SD: 8
##  VS: 1214 (SRSWOR,CENSUS,SRSWR: 2-135/4-1382)
##  FT: 36 (SRSWR: 3/100)
##  FO: 1916 (CENSUS,SRSWR: 1-3/1-20)
##  SS: 1916 (CENSUS,SRSWR: 1/1-4)
##  SA: 1916 (CENSUS,SRSWR: 1/1-2)
##  FM: 7290
##  BV: 14580 (SRSWR: 2/2)
##  VD: 310
##  SL: 6
##  IS: 25</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Removing Unlinked Data</a:t>
            </a:r>
          </a:p>
        </p:txBody>
      </p:sp>
      <p:sp>
        <p:nvSpPr>
          <p:cNvPr id="3" name="Content Placeholder 2"/>
          <p:cNvSpPr>
            <a:spLocks noGrp="1"/>
          </p:cNvSpPr>
          <p:nvPr>
            <p:ph idx="1"/>
          </p:nvPr>
        </p:nvSpPr>
        <p:spPr/>
        <p:txBody>
          <a:bodyPr/>
          <a:lstStyle/>
          <a:p>
            <a:pPr marL="0" lvl="0" indent="0">
              <a:buNone/>
            </a:pPr>
            <a:r>
              <a:t>It is important to note that filtering is likely to result in “orphan” rows being produced so it is usual to also apply the </a:t>
            </a:r>
            <a:r>
              <a:rPr b="1"/>
              <a:t>findAndKillOrphans()</a:t>
            </a:r>
            <a:r>
              <a:t> function to the filtered data to remove these records.</a:t>
            </a:r>
          </a:p>
          <a:p>
            <a:pPr lvl="0" indent="0">
              <a:buNone/>
            </a:pPr>
            <a:r>
              <a:rPr>
                <a:latin typeface="Courier"/>
              </a:rPr>
              <a:t>myFilteredObjectNoOrphans </a:t>
            </a:r>
            <a:r>
              <a:rPr>
                <a:solidFill>
                  <a:srgbClr val="007020"/>
                </a:solidFill>
                <a:latin typeface="Courier"/>
              </a:rPr>
              <a:t>&lt;-</a:t>
            </a:r>
            <a:r>
              <a:rPr>
                <a:latin typeface="Courier"/>
              </a:rPr>
              <a:t> </a:t>
            </a:r>
            <a:br/>
            <a:r>
              <a:rPr>
                <a:latin typeface="Courier"/>
              </a:rPr>
              <a:t>  </a:t>
            </a:r>
            <a:r>
              <a:rPr>
                <a:solidFill>
                  <a:srgbClr val="06287E"/>
                </a:solidFill>
                <a:latin typeface="Courier"/>
              </a:rPr>
              <a:t>findAndKillOrphans</a:t>
            </a:r>
            <a:r>
              <a:rPr>
                <a:latin typeface="Courier"/>
              </a:rPr>
              <a:t>(</a:t>
            </a:r>
            <a:r>
              <a:rPr>
                <a:solidFill>
                  <a:srgbClr val="7D9029"/>
                </a:solidFill>
                <a:latin typeface="Courier"/>
              </a:rPr>
              <a:t>objectToCheck =</a:t>
            </a:r>
            <a:r>
              <a:rPr>
                <a:latin typeface="Courier"/>
              </a:rPr>
              <a:t> myFilteredObject, </a:t>
            </a:r>
            <a:r>
              <a:rPr>
                <a:solidFill>
                  <a:srgbClr val="7D9029"/>
                </a:solidFill>
                <a:latin typeface="Courier"/>
              </a:rPr>
              <a:t>verbose =</a:t>
            </a:r>
            <a:r>
              <a:rPr>
                <a:latin typeface="Courier"/>
              </a:rPr>
              <a:t> </a:t>
            </a:r>
            <a:r>
              <a:rPr>
                <a:solidFill>
                  <a:srgbClr val="880000"/>
                </a:solidFill>
                <a:latin typeface="Courier"/>
              </a:rPr>
              <a:t>FALSE</a:t>
            </a:r>
            <a:r>
              <a:rPr>
                <a:latin typeface="Courier"/>
              </a:rPr>
              <a:t>)</a:t>
            </a:r>
            <a:br/>
            <a:br/>
            <a:r>
              <a:rPr>
                <a:solidFill>
                  <a:srgbClr val="06287E"/>
                </a:solidFill>
                <a:latin typeface="Courier"/>
              </a:rPr>
              <a:t>validateRDBESDataObject</a:t>
            </a:r>
            <a:r>
              <a:rPr>
                <a:latin typeface="Courier"/>
              </a:rPr>
              <a:t>(myFilteredObjectNoOrphans, </a:t>
            </a:r>
            <a:r>
              <a:rPr>
                <a:solidFill>
                  <a:srgbClr val="7D9029"/>
                </a:solidFill>
                <a:latin typeface="Courier"/>
              </a:rPr>
              <a:t>verbose =</a:t>
            </a:r>
            <a:r>
              <a:rPr>
                <a:latin typeface="Courier"/>
              </a:rPr>
              <a:t> </a:t>
            </a:r>
            <a:r>
              <a:rPr>
                <a:solidFill>
                  <a:srgbClr val="880000"/>
                </a:solidFill>
                <a:latin typeface="Courier"/>
              </a:rPr>
              <a:t>FALSE</a:t>
            </a:r>
            <a:r>
              <a:rPr>
                <a:latin typeface="Courier"/>
              </a:rPr>
              <a:t>)</a:t>
            </a:r>
          </a:p>
          <a:p>
            <a:pPr marL="0" lvl="0" indent="0">
              <a:buNone/>
            </a:pPr>
            <a:r>
              <a:t>Again to see more details on the functions see the vignettes.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6844936" cy="871538"/>
          </a:xfrm>
        </p:spPr>
        <p:txBody>
          <a:bodyPr/>
          <a:lstStyle/>
          <a:p>
            <a:pPr marL="0" lvl="0" indent="0">
              <a:buNone/>
            </a:pPr>
            <a:r>
              <a:t>Getting Subsets of RDBESDataObject Tables</a:t>
            </a:r>
          </a:p>
        </p:txBody>
      </p:sp>
      <p:sp>
        <p:nvSpPr>
          <p:cNvPr id="4" name="Text Placeholder 3"/>
          <p:cNvSpPr>
            <a:spLocks noGrp="1"/>
          </p:cNvSpPr>
          <p:nvPr>
            <p:ph type="body" sz="half" idx="2"/>
          </p:nvPr>
        </p:nvSpPr>
        <p:spPr/>
        <p:txBody>
          <a:bodyPr/>
          <a:lstStyle/>
          <a:p>
            <a:pPr marL="0" lvl="0" indent="0">
              <a:buNone/>
            </a:pPr>
            <a:r>
              <a:t>Sometimes it we want to see how a field or values in the </a:t>
            </a:r>
            <a:r>
              <a:rPr b="1"/>
              <a:t>RDBESDataObject</a:t>
            </a:r>
            <a:r>
              <a:t> are connected to other tables. One use case would be e.g. to see when a specific Landing Event (LE) occurred.For this we can use the </a:t>
            </a:r>
            <a:r>
              <a:rPr b="1"/>
              <a:t>getLinkedDataFromLevel()</a:t>
            </a:r>
            <a:r>
              <a:t> function.</a:t>
            </a:r>
          </a:p>
          <a:p>
            <a:pPr lvl="0" indent="0">
              <a:buNone/>
            </a:pPr>
            <a:r>
              <a:rPr i="1">
                <a:solidFill>
                  <a:srgbClr val="60A0B0"/>
                </a:solidFill>
                <a:latin typeface="Courier"/>
              </a:rPr>
              <a:t>#get the TE table corresponding to the first LEid in the H8ExampleEE1 object</a:t>
            </a:r>
            <a:br/>
            <a:r>
              <a:rPr>
                <a:latin typeface="Courier"/>
              </a:rPr>
              <a:t>ld </a:t>
            </a:r>
            <a:r>
              <a:rPr>
                <a:solidFill>
                  <a:srgbClr val="007020"/>
                </a:solidFill>
                <a:latin typeface="Courier"/>
              </a:rPr>
              <a:t>&lt;-</a:t>
            </a:r>
            <a:r>
              <a:rPr>
                <a:latin typeface="Courier"/>
              </a:rPr>
              <a:t> </a:t>
            </a:r>
            <a:r>
              <a:rPr>
                <a:solidFill>
                  <a:srgbClr val="06287E"/>
                </a:solidFill>
                <a:latin typeface="Courier"/>
              </a:rPr>
              <a:t>getLinkedDataFromLevel</a:t>
            </a:r>
            <a:r>
              <a:rPr>
                <a:latin typeface="Courier"/>
              </a:rPr>
              <a:t>(</a:t>
            </a:r>
            <a:r>
              <a:rPr>
                <a:solidFill>
                  <a:srgbClr val="4070A0"/>
                </a:solidFill>
                <a:latin typeface="Courier"/>
              </a:rPr>
              <a:t>"LEid"</a:t>
            </a:r>
            <a:r>
              <a:rPr>
                <a:latin typeface="Courier"/>
              </a:rPr>
              <a:t>, </a:t>
            </a:r>
            <a:r>
              <a:rPr>
                <a:solidFill>
                  <a:srgbClr val="06287E"/>
                </a:solidFill>
                <a:latin typeface="Courier"/>
              </a:rPr>
              <a:t>c</a:t>
            </a:r>
            <a:r>
              <a:rPr>
                <a:latin typeface="Courier"/>
              </a:rPr>
              <a:t>(</a:t>
            </a:r>
            <a:r>
              <a:rPr>
                <a:solidFill>
                  <a:srgbClr val="40A070"/>
                </a:solidFill>
                <a:latin typeface="Courier"/>
              </a:rPr>
              <a:t>1</a:t>
            </a:r>
            <a:r>
              <a:rPr>
                <a:latin typeface="Courier"/>
              </a:rPr>
              <a:t>), H8ExampleEE1, </a:t>
            </a:r>
            <a:r>
              <a:rPr>
                <a:solidFill>
                  <a:srgbClr val="4070A0"/>
                </a:solidFill>
                <a:latin typeface="Courier"/>
              </a:rPr>
              <a:t>"TE"</a:t>
            </a:r>
            <a:r>
              <a:rPr>
                <a:latin typeface="Courier"/>
              </a:rPr>
              <a:t>, </a:t>
            </a:r>
            <a:r>
              <a:rPr>
                <a:solidFill>
                  <a:srgbClr val="7D9029"/>
                </a:solidFill>
                <a:latin typeface="Courier"/>
              </a:rPr>
              <a:t>verbose =</a:t>
            </a:r>
            <a:r>
              <a:rPr>
                <a:latin typeface="Courier"/>
              </a:rPr>
              <a:t> </a:t>
            </a:r>
            <a:r>
              <a:rPr>
                <a:solidFill>
                  <a:srgbClr val="880000"/>
                </a:solidFill>
                <a:latin typeface="Courier"/>
              </a:rPr>
              <a:t>TRUE</a:t>
            </a:r>
            <a:r>
              <a:rPr>
                <a:latin typeface="Courier"/>
              </a:rPr>
              <a:t>)</a:t>
            </a:r>
          </a:p>
          <a:p>
            <a:pPr lvl="0" indent="0">
              <a:buNone/>
            </a:pPr>
            <a:r>
              <a:rPr>
                <a:latin typeface="Courier"/>
              </a:rPr>
              <a:t>## Traversing upwards in the table hierarchy from LE to TE 
## [1] "LE: 1"
## [1] "Skipping: FT"
## [1] "VS: 1"</a:t>
            </a:r>
          </a:p>
          <a:p>
            <a:pPr lvl="0" indent="0">
              <a:buNone/>
            </a:pPr>
            <a:r>
              <a:rPr>
                <a:latin typeface="Courier"/>
              </a:rPr>
              <a:t>knitr</a:t>
            </a:r>
            <a:r>
              <a:rPr>
                <a:solidFill>
                  <a:srgbClr val="4070A0"/>
                </a:solidFill>
                <a:latin typeface="Courier"/>
              </a:rPr>
              <a:t>::</a:t>
            </a:r>
            <a:r>
              <a:rPr>
                <a:solidFill>
                  <a:srgbClr val="06287E"/>
                </a:solidFill>
                <a:latin typeface="Courier"/>
              </a:rPr>
              <a:t>kable</a:t>
            </a:r>
            <a:r>
              <a:rPr>
                <a:latin typeface="Courier"/>
              </a:rPr>
              <a:t>(ld[,</a:t>
            </a:r>
            <a:r>
              <a:rPr>
                <a:solidFill>
                  <a:srgbClr val="06287E"/>
                </a:solidFill>
                <a:latin typeface="Courier"/>
              </a:rPr>
              <a:t>c</a:t>
            </a:r>
            <a:r>
              <a:rPr>
                <a:latin typeface="Courier"/>
              </a:rPr>
              <a:t>(</a:t>
            </a:r>
            <a:r>
              <a:rPr>
                <a:solidFill>
                  <a:srgbClr val="40A070"/>
                </a:solidFill>
                <a:latin typeface="Courier"/>
              </a:rPr>
              <a:t>1</a:t>
            </a:r>
            <a:r>
              <a:rPr>
                <a:solidFill>
                  <a:srgbClr val="4070A0"/>
                </a:solidFill>
                <a:latin typeface="Courier"/>
              </a:rPr>
              <a:t>:</a:t>
            </a:r>
            <a:r>
              <a:rPr>
                <a:solidFill>
                  <a:srgbClr val="40A070"/>
                </a:solidFill>
                <a:latin typeface="Courier"/>
              </a:rPr>
              <a:t>2</a:t>
            </a:r>
            <a:r>
              <a:rPr>
                <a:latin typeface="Courier"/>
              </a:rPr>
              <a:t>,</a:t>
            </a:r>
            <a:r>
              <a:rPr>
                <a:solidFill>
                  <a:srgbClr val="40A070"/>
                </a:solidFill>
                <a:latin typeface="Courier"/>
              </a:rPr>
              <a:t>5</a:t>
            </a:r>
            <a:r>
              <a:rPr>
                <a:solidFill>
                  <a:srgbClr val="4070A0"/>
                </a:solidFill>
                <a:latin typeface="Courier"/>
              </a:rPr>
              <a:t>:</a:t>
            </a:r>
            <a:r>
              <a:rPr>
                <a:solidFill>
                  <a:srgbClr val="40A070"/>
                </a:solidFill>
                <a:latin typeface="Courier"/>
              </a:rPr>
              <a:t>8</a:t>
            </a:r>
            <a:r>
              <a:rPr>
                <a:latin typeface="Courier"/>
              </a:rPr>
              <a:t> )])</a:t>
            </a:r>
          </a:p>
        </p:txBody>
      </p:sp>
      <p:graphicFrame>
        <p:nvGraphicFramePr>
          <p:cNvPr id="6" name="Content Placeholder 5"/>
          <p:cNvGraphicFramePr>
            <a:graphicFrameLocks noGrp="1"/>
          </p:cNvGraphicFramePr>
          <p:nvPr>
            <p:ph idx="1"/>
          </p:nvPr>
        </p:nvGraphicFramePr>
        <p:xfrm>
          <a:off x="6616700" y="1435100"/>
          <a:ext cx="5105400" cy="1280160"/>
        </p:xfrm>
        <a:graphic>
          <a:graphicData uri="http://schemas.openxmlformats.org/drawingml/2006/table">
            <a:tbl>
              <a:tblPr firstRow="1" bandRow="1">
                <a:tableStyleId>{9D7B26C5-4107-4FEC-AEDC-1716B250A1EF}</a:tableStyleId>
              </a:tblPr>
              <a:tblGrid>
                <a:gridCol w="850900">
                  <a:extLst>
                    <a:ext uri="{9D8B030D-6E8A-4147-A177-3AD203B41FA5}">
                      <a16:colId xmlns:a16="http://schemas.microsoft.com/office/drawing/2014/main" val="20000"/>
                    </a:ext>
                  </a:extLst>
                </a:gridCol>
                <a:gridCol w="850900">
                  <a:extLst>
                    <a:ext uri="{9D8B030D-6E8A-4147-A177-3AD203B41FA5}">
                      <a16:colId xmlns:a16="http://schemas.microsoft.com/office/drawing/2014/main" val="20001"/>
                    </a:ext>
                  </a:extLst>
                </a:gridCol>
                <a:gridCol w="850900">
                  <a:extLst>
                    <a:ext uri="{9D8B030D-6E8A-4147-A177-3AD203B41FA5}">
                      <a16:colId xmlns:a16="http://schemas.microsoft.com/office/drawing/2014/main" val="20002"/>
                    </a:ext>
                  </a:extLst>
                </a:gridCol>
                <a:gridCol w="850900">
                  <a:extLst>
                    <a:ext uri="{9D8B030D-6E8A-4147-A177-3AD203B41FA5}">
                      <a16:colId xmlns:a16="http://schemas.microsoft.com/office/drawing/2014/main" val="20003"/>
                    </a:ext>
                  </a:extLst>
                </a:gridCol>
                <a:gridCol w="850900">
                  <a:extLst>
                    <a:ext uri="{9D8B030D-6E8A-4147-A177-3AD203B41FA5}">
                      <a16:colId xmlns:a16="http://schemas.microsoft.com/office/drawing/2014/main" val="20004"/>
                    </a:ext>
                  </a:extLst>
                </a:gridCol>
                <a:gridCol w="850900">
                  <a:extLst>
                    <a:ext uri="{9D8B030D-6E8A-4147-A177-3AD203B41FA5}">
                      <a16:colId xmlns:a16="http://schemas.microsoft.com/office/drawing/2014/main" val="20005"/>
                    </a:ext>
                  </a:extLst>
                </a:gridCol>
              </a:tblGrid>
              <a:tr h="0">
                <a:tc>
                  <a:txBody>
                    <a:bodyPr/>
                    <a:lstStyle/>
                    <a:p>
                      <a:pPr marL="0" lvl="0" indent="0" algn="r">
                        <a:buNone/>
                      </a:pPr>
                      <a:r>
                        <a:t>TEid</a:t>
                      </a:r>
                    </a:p>
                  </a:txBody>
                  <a:tcPr/>
                </a:tc>
                <a:tc>
                  <a:txBody>
                    <a:bodyPr/>
                    <a:lstStyle/>
                    <a:p>
                      <a:pPr marL="0" lvl="0" indent="0" algn="r">
                        <a:buNone/>
                      </a:pPr>
                      <a:r>
                        <a:t>SDid</a:t>
                      </a:r>
                    </a:p>
                  </a:txBody>
                  <a:tcPr/>
                </a:tc>
                <a:tc>
                  <a:txBody>
                    <a:bodyPr/>
                    <a:lstStyle/>
                    <a:p>
                      <a:pPr marL="0" lvl="0" indent="0" algn="l">
                        <a:buNone/>
                      </a:pPr>
                      <a:r>
                        <a:t>TErecType</a:t>
                      </a:r>
                    </a:p>
                  </a:txBody>
                  <a:tcPr/>
                </a:tc>
                <a:tc>
                  <a:txBody>
                    <a:bodyPr/>
                    <a:lstStyle/>
                    <a:p>
                      <a:pPr marL="0" lvl="0" indent="0" algn="r">
                        <a:buNone/>
                      </a:pPr>
                      <a:r>
                        <a:t>TEseqNum</a:t>
                      </a:r>
                    </a:p>
                  </a:txBody>
                  <a:tcPr/>
                </a:tc>
                <a:tc>
                  <a:txBody>
                    <a:bodyPr/>
                    <a:lstStyle/>
                    <a:p>
                      <a:pPr marL="0" lvl="0" indent="0" algn="l">
                        <a:buNone/>
                      </a:pPr>
                      <a:r>
                        <a:t>TEstratification</a:t>
                      </a:r>
                    </a:p>
                  </a:txBody>
                  <a:tcPr/>
                </a:tc>
                <a:tc>
                  <a:txBody>
                    <a:bodyPr/>
                    <a:lstStyle/>
                    <a:p>
                      <a:pPr marL="0" lvl="0" indent="0" algn="l">
                        <a:buNone/>
                      </a:pPr>
                      <a:r>
                        <a:t>TEtimeUnit</a:t>
                      </a:r>
                    </a:p>
                  </a:txBody>
                  <a:tcPr/>
                </a:tc>
                <a:extLst>
                  <a:ext uri="{0D108BD9-81ED-4DB2-BD59-A6C34878D82A}">
                    <a16:rowId xmlns:a16="http://schemas.microsoft.com/office/drawing/2014/main" val="10000"/>
                  </a:ext>
                </a:extLst>
              </a:tr>
              <a:tr h="0">
                <a:tc>
                  <a:txBody>
                    <a:bodyPr/>
                    <a:lstStyle/>
                    <a:p>
                      <a:pPr marL="0" lvl="0" indent="0" algn="r">
                        <a:buNone/>
                      </a:pPr>
                      <a:r>
                        <a:t>1</a:t>
                      </a:r>
                    </a:p>
                  </a:txBody>
                  <a:tcPr/>
                </a:tc>
                <a:tc>
                  <a:txBody>
                    <a:bodyPr/>
                    <a:lstStyle/>
                    <a:p>
                      <a:pPr marL="0" lvl="0" indent="0" algn="r">
                        <a:buNone/>
                      </a:pPr>
                      <a:r>
                        <a:t>1</a:t>
                      </a:r>
                    </a:p>
                  </a:txBody>
                  <a:tcPr/>
                </a:tc>
                <a:tc>
                  <a:txBody>
                    <a:bodyPr/>
                    <a:lstStyle/>
                    <a:p>
                      <a:pPr marL="0" lvl="0" indent="0" algn="l">
                        <a:buNone/>
                      </a:pPr>
                      <a:r>
                        <a:t>TE</a:t>
                      </a:r>
                    </a:p>
                  </a:txBody>
                  <a:tcPr/>
                </a:tc>
                <a:tc>
                  <a:txBody>
                    <a:bodyPr/>
                    <a:lstStyle/>
                    <a:p>
                      <a:pPr marL="0" lvl="0" indent="0" algn="r">
                        <a:buNone/>
                      </a:pPr>
                      <a:r>
                        <a:t>1</a:t>
                      </a:r>
                    </a:p>
                  </a:txBody>
                  <a:tcPr/>
                </a:tc>
                <a:tc>
                  <a:txBody>
                    <a:bodyPr/>
                    <a:lstStyle/>
                    <a:p>
                      <a:pPr marL="0" lvl="0" indent="0" algn="l">
                        <a:buNone/>
                      </a:pPr>
                      <a:r>
                        <a:t>Y</a:t>
                      </a:r>
                    </a:p>
                  </a:txBody>
                  <a:tcPr/>
                </a:tc>
                <a:tc>
                  <a:txBody>
                    <a:bodyPr/>
                    <a:lstStyle/>
                    <a:p>
                      <a:pPr marL="0" lvl="0" indent="0" algn="l">
                        <a:buNone/>
                      </a:pPr>
                      <a:r>
                        <a:t>Week</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lnSpcReduction="10000"/>
          </a:bodyPr>
          <a:lstStyle/>
          <a:p>
            <a:pPr marL="0" lvl="0" indent="0">
              <a:buNone/>
            </a:pPr>
            <a:r>
              <a:t>Similarly we can get the subset of the LE table corresponding to a specific value in the TE table. This does not have to be the </a:t>
            </a:r>
            <a:r>
              <a:rPr i="1"/>
              <a:t>id</a:t>
            </a:r>
            <a:r>
              <a:t> field, but can be any field in the table.</a:t>
            </a:r>
          </a:p>
          <a:p>
            <a:pPr lvl="0" indent="0">
              <a:buNone/>
            </a:pPr>
            <a:r>
              <a:rPr i="1">
                <a:solidFill>
                  <a:srgbClr val="60A0B0"/>
                </a:solidFill>
                <a:latin typeface="Courier"/>
              </a:rPr>
              <a:t>#get the SA table corresponding to the first 2 TEids in the H8ExampleEE1 object</a:t>
            </a:r>
            <a:br/>
            <a:r>
              <a:rPr>
                <a:latin typeface="Courier"/>
              </a:rPr>
              <a:t>ld </a:t>
            </a:r>
            <a:r>
              <a:rPr>
                <a:solidFill>
                  <a:srgbClr val="007020"/>
                </a:solidFill>
                <a:latin typeface="Courier"/>
              </a:rPr>
              <a:t>&lt;-</a:t>
            </a:r>
            <a:r>
              <a:rPr>
                <a:latin typeface="Courier"/>
              </a:rPr>
              <a:t> </a:t>
            </a:r>
            <a:r>
              <a:rPr>
                <a:solidFill>
                  <a:srgbClr val="06287E"/>
                </a:solidFill>
                <a:latin typeface="Courier"/>
              </a:rPr>
              <a:t>getLinkedDataFromLevel</a:t>
            </a:r>
            <a:r>
              <a:rPr>
                <a:latin typeface="Courier"/>
              </a:rPr>
              <a:t>(</a:t>
            </a:r>
            <a:r>
              <a:rPr>
                <a:solidFill>
                  <a:srgbClr val="4070A0"/>
                </a:solidFill>
                <a:latin typeface="Courier"/>
              </a:rPr>
              <a:t>"TEid"</a:t>
            </a:r>
            <a:r>
              <a:rPr>
                <a:latin typeface="Courier"/>
              </a:rPr>
              <a:t>, </a:t>
            </a:r>
            <a:r>
              <a:rPr>
                <a:solidFill>
                  <a:srgbClr val="06287E"/>
                </a:solidFill>
                <a:latin typeface="Courier"/>
              </a:rPr>
              <a:t>c</a:t>
            </a:r>
            <a:r>
              <a:rPr>
                <a:latin typeface="Courier"/>
              </a:rPr>
              <a:t>(</a:t>
            </a:r>
            <a:r>
              <a:rPr>
                <a:solidFill>
                  <a:srgbClr val="40A070"/>
                </a:solidFill>
                <a:latin typeface="Courier"/>
              </a:rPr>
              <a:t>1</a:t>
            </a:r>
            <a:r>
              <a:rPr>
                <a:latin typeface="Courier"/>
              </a:rPr>
              <a:t>,</a:t>
            </a:r>
            <a:r>
              <a:rPr>
                <a:solidFill>
                  <a:srgbClr val="40A070"/>
                </a:solidFill>
                <a:latin typeface="Courier"/>
              </a:rPr>
              <a:t>2</a:t>
            </a:r>
            <a:r>
              <a:rPr>
                <a:latin typeface="Courier"/>
              </a:rPr>
              <a:t>), H8ExampleEE1, </a:t>
            </a:r>
            <a:r>
              <a:rPr>
                <a:solidFill>
                  <a:srgbClr val="4070A0"/>
                </a:solidFill>
                <a:latin typeface="Courier"/>
              </a:rPr>
              <a:t>"SA"</a:t>
            </a:r>
            <a:r>
              <a:rPr>
                <a:latin typeface="Courier"/>
              </a:rPr>
              <a:t>, </a:t>
            </a:r>
            <a:r>
              <a:rPr>
                <a:solidFill>
                  <a:srgbClr val="7D9029"/>
                </a:solidFill>
                <a:latin typeface="Courier"/>
              </a:rPr>
              <a:t>verbose =</a:t>
            </a:r>
            <a:r>
              <a:rPr>
                <a:latin typeface="Courier"/>
              </a:rPr>
              <a:t> </a:t>
            </a:r>
            <a:r>
              <a:rPr>
                <a:solidFill>
                  <a:srgbClr val="880000"/>
                </a:solidFill>
                <a:latin typeface="Courier"/>
              </a:rPr>
              <a:t>TRUE</a:t>
            </a:r>
            <a:r>
              <a:rPr>
                <a:latin typeface="Courier"/>
              </a:rPr>
              <a:t>)</a:t>
            </a:r>
          </a:p>
          <a:p>
            <a:pPr lvl="0" indent="0">
              <a:buNone/>
            </a:pPr>
            <a:r>
              <a:rPr>
                <a:latin typeface="Courier"/>
              </a:rPr>
              <a:t>## Traversing downwards in the table hierarchy from TE to SA 
## TEid: 1, 2
## VSid: 1, 2, 3
## LEid: 1, 2, 3
## SSid: 1, 2, 3</a:t>
            </a:r>
          </a:p>
          <a:p>
            <a:pPr lvl="0" indent="0">
              <a:buNone/>
            </a:pPr>
            <a:r>
              <a:rPr>
                <a:latin typeface="Courier"/>
              </a:rPr>
              <a:t>knitr</a:t>
            </a:r>
            <a:r>
              <a:rPr>
                <a:solidFill>
                  <a:srgbClr val="4070A0"/>
                </a:solidFill>
                <a:latin typeface="Courier"/>
              </a:rPr>
              <a:t>::</a:t>
            </a:r>
            <a:r>
              <a:rPr>
                <a:solidFill>
                  <a:srgbClr val="06287E"/>
                </a:solidFill>
                <a:latin typeface="Courier"/>
              </a:rPr>
              <a:t>kable</a:t>
            </a:r>
            <a:r>
              <a:rPr>
                <a:latin typeface="Courier"/>
              </a:rPr>
              <a:t>(ld[,</a:t>
            </a:r>
            <a:r>
              <a:rPr>
                <a:solidFill>
                  <a:srgbClr val="40A070"/>
                </a:solidFill>
                <a:latin typeface="Courier"/>
              </a:rPr>
              <a:t>1</a:t>
            </a:r>
            <a:r>
              <a:rPr>
                <a:solidFill>
                  <a:srgbClr val="4070A0"/>
                </a:solidFill>
                <a:latin typeface="Courier"/>
              </a:rPr>
              <a:t>:</a:t>
            </a:r>
            <a:r>
              <a:rPr>
                <a:solidFill>
                  <a:srgbClr val="40A070"/>
                </a:solidFill>
                <a:latin typeface="Courier"/>
              </a:rPr>
              <a:t>5</a:t>
            </a:r>
            <a:r>
              <a:rPr>
                <a:latin typeface="Courier"/>
              </a:rPr>
              <a:t>])</a:t>
            </a:r>
          </a:p>
        </p:txBody>
      </p:sp>
      <p:graphicFrame>
        <p:nvGraphicFramePr>
          <p:cNvPr id="6" name="Content Placeholder 5"/>
          <p:cNvGraphicFramePr>
            <a:graphicFrameLocks noGrp="1"/>
          </p:cNvGraphicFramePr>
          <p:nvPr>
            <p:ph idx="1"/>
          </p:nvPr>
        </p:nvGraphicFramePr>
        <p:xfrm>
          <a:off x="6616700" y="1435100"/>
          <a:ext cx="5080000" cy="1463040"/>
        </p:xfrm>
        <a:graphic>
          <a:graphicData uri="http://schemas.openxmlformats.org/drawingml/2006/table">
            <a:tbl>
              <a:tblPr firstRow="1" bandRow="1">
                <a:tableStyleId>{9D7B26C5-4107-4FEC-AEDC-1716B250A1EF}</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tblGrid>
              <a:tr h="0">
                <a:tc>
                  <a:txBody>
                    <a:bodyPr/>
                    <a:lstStyle/>
                    <a:p>
                      <a:pPr marL="0" lvl="0" indent="0" algn="r">
                        <a:buNone/>
                      </a:pPr>
                      <a:r>
                        <a:t>TEid</a:t>
                      </a:r>
                    </a:p>
                  </a:txBody>
                  <a:tcPr/>
                </a:tc>
                <a:tc>
                  <a:txBody>
                    <a:bodyPr/>
                    <a:lstStyle/>
                    <a:p>
                      <a:pPr marL="0" lvl="0" indent="0" algn="r">
                        <a:buNone/>
                      </a:pPr>
                      <a:r>
                        <a:t>VSid</a:t>
                      </a:r>
                    </a:p>
                  </a:txBody>
                  <a:tcPr/>
                </a:tc>
                <a:tc>
                  <a:txBody>
                    <a:bodyPr/>
                    <a:lstStyle/>
                    <a:p>
                      <a:pPr marL="0" lvl="0" indent="0" algn="r">
                        <a:buNone/>
                      </a:pPr>
                      <a:r>
                        <a:t>LEid</a:t>
                      </a:r>
                    </a:p>
                  </a:txBody>
                  <a:tcPr/>
                </a:tc>
                <a:tc>
                  <a:txBody>
                    <a:bodyPr/>
                    <a:lstStyle/>
                    <a:p>
                      <a:pPr marL="0" lvl="0" indent="0" algn="r">
                        <a:buNone/>
                      </a:pPr>
                      <a:r>
                        <a:t>SSid</a:t>
                      </a:r>
                    </a:p>
                  </a:txBody>
                  <a:tcPr/>
                </a:tc>
                <a:tc>
                  <a:txBody>
                    <a:bodyPr/>
                    <a:lstStyle/>
                    <a:p>
                      <a:pPr marL="0" lvl="0" indent="0" algn="r">
                        <a:buNone/>
                      </a:pPr>
                      <a:r>
                        <a:t>SAid</a:t>
                      </a:r>
                    </a:p>
                  </a:txBody>
                  <a:tcPr/>
                </a:tc>
                <a:extLst>
                  <a:ext uri="{0D108BD9-81ED-4DB2-BD59-A6C34878D82A}">
                    <a16:rowId xmlns:a16="http://schemas.microsoft.com/office/drawing/2014/main" val="10000"/>
                  </a:ext>
                </a:extLst>
              </a:tr>
              <a:tr h="0">
                <a:tc>
                  <a:txBody>
                    <a:bodyPr/>
                    <a:lstStyle/>
                    <a:p>
                      <a:pPr marL="0" lvl="0" indent="0" algn="r">
                        <a:buNone/>
                      </a:pPr>
                      <a:r>
                        <a:t>1</a:t>
                      </a:r>
                    </a:p>
                  </a:txBody>
                  <a:tcPr/>
                </a:tc>
                <a:tc>
                  <a:txBody>
                    <a:bodyPr/>
                    <a:lstStyle/>
                    <a:p>
                      <a:pPr marL="0" lvl="0" indent="0" algn="r">
                        <a:buNone/>
                      </a:pPr>
                      <a:r>
                        <a:t>1</a:t>
                      </a:r>
                    </a:p>
                  </a:txBody>
                  <a:tcPr/>
                </a:tc>
                <a:tc>
                  <a:txBody>
                    <a:bodyPr/>
                    <a:lstStyle/>
                    <a:p>
                      <a:pPr marL="0" lvl="0" indent="0" algn="r">
                        <a:buNone/>
                      </a:pPr>
                      <a:r>
                        <a:t>1</a:t>
                      </a:r>
                    </a:p>
                  </a:txBody>
                  <a:tcPr/>
                </a:tc>
                <a:tc>
                  <a:txBody>
                    <a:bodyPr/>
                    <a:lstStyle/>
                    <a:p>
                      <a:pPr marL="0" lvl="0" indent="0" algn="r">
                        <a:buNone/>
                      </a:pPr>
                      <a:r>
                        <a:t>1</a:t>
                      </a:r>
                    </a:p>
                  </a:txBody>
                  <a:tcPr/>
                </a:tc>
                <a:tc>
                  <a:txBody>
                    <a:bodyPr/>
                    <a:lstStyle/>
                    <a:p>
                      <a:pPr marL="0" lvl="0" indent="0" algn="r">
                        <a:buNone/>
                      </a:pPr>
                      <a:r>
                        <a:t>1</a:t>
                      </a:r>
                    </a:p>
                  </a:txBody>
                  <a:tcPr/>
                </a:tc>
                <a:extLst>
                  <a:ext uri="{0D108BD9-81ED-4DB2-BD59-A6C34878D82A}">
                    <a16:rowId xmlns:a16="http://schemas.microsoft.com/office/drawing/2014/main" val="10001"/>
                  </a:ext>
                </a:extLst>
              </a:tr>
              <a:tr h="0">
                <a:tc>
                  <a:txBody>
                    <a:bodyPr/>
                    <a:lstStyle/>
                    <a:p>
                      <a:pPr marL="0" lvl="0" indent="0" algn="r">
                        <a:buNone/>
                      </a:pPr>
                      <a:r>
                        <a:t>1</a:t>
                      </a:r>
                    </a:p>
                  </a:txBody>
                  <a:tcPr/>
                </a:tc>
                <a:tc>
                  <a:txBody>
                    <a:bodyPr/>
                    <a:lstStyle/>
                    <a:p>
                      <a:pPr marL="0" lvl="0" indent="0" algn="r">
                        <a:buNone/>
                      </a:pPr>
                      <a:r>
                        <a:t>2</a:t>
                      </a:r>
                    </a:p>
                  </a:txBody>
                  <a:tcPr/>
                </a:tc>
                <a:tc>
                  <a:txBody>
                    <a:bodyPr/>
                    <a:lstStyle/>
                    <a:p>
                      <a:pPr marL="0" lvl="0" indent="0" algn="r">
                        <a:buNone/>
                      </a:pPr>
                      <a:r>
                        <a:t>2</a:t>
                      </a:r>
                    </a:p>
                  </a:txBody>
                  <a:tcPr/>
                </a:tc>
                <a:tc>
                  <a:txBody>
                    <a:bodyPr/>
                    <a:lstStyle/>
                    <a:p>
                      <a:pPr marL="0" lvl="0" indent="0" algn="r">
                        <a:buNone/>
                      </a:pPr>
                      <a:r>
                        <a:t>2</a:t>
                      </a:r>
                    </a:p>
                  </a:txBody>
                  <a:tcPr/>
                </a:tc>
                <a:tc>
                  <a:txBody>
                    <a:bodyPr/>
                    <a:lstStyle/>
                    <a:p>
                      <a:pPr marL="0" lvl="0" indent="0" algn="r">
                        <a:buNone/>
                      </a:pPr>
                      <a:r>
                        <a:t>2</a:t>
                      </a:r>
                    </a:p>
                  </a:txBody>
                  <a:tcPr/>
                </a:tc>
                <a:extLst>
                  <a:ext uri="{0D108BD9-81ED-4DB2-BD59-A6C34878D82A}">
                    <a16:rowId xmlns:a16="http://schemas.microsoft.com/office/drawing/2014/main" val="10002"/>
                  </a:ext>
                </a:extLst>
              </a:tr>
              <a:tr h="0">
                <a:tc>
                  <a:txBody>
                    <a:bodyPr/>
                    <a:lstStyle/>
                    <a:p>
                      <a:pPr marL="0" lvl="0" indent="0" algn="r">
                        <a:buNone/>
                      </a:pPr>
                      <a:r>
                        <a:t>2</a:t>
                      </a:r>
                    </a:p>
                  </a:txBody>
                  <a:tcPr/>
                </a:tc>
                <a:tc>
                  <a:txBody>
                    <a:bodyPr/>
                    <a:lstStyle/>
                    <a:p>
                      <a:pPr marL="0" lvl="0" indent="0" algn="r">
                        <a:buNone/>
                      </a:pPr>
                      <a:r>
                        <a:t>3</a:t>
                      </a:r>
                    </a:p>
                  </a:txBody>
                  <a:tcPr/>
                </a:tc>
                <a:tc>
                  <a:txBody>
                    <a:bodyPr/>
                    <a:lstStyle/>
                    <a:p>
                      <a:pPr marL="0" lvl="0" indent="0" algn="r">
                        <a:buNone/>
                      </a:pPr>
                      <a:r>
                        <a:t>3</a:t>
                      </a:r>
                    </a:p>
                  </a:txBody>
                  <a:tcPr/>
                </a:tc>
                <a:tc>
                  <a:txBody>
                    <a:bodyPr/>
                    <a:lstStyle/>
                    <a:p>
                      <a:pPr marL="0" lvl="0" indent="0" algn="r">
                        <a:buNone/>
                      </a:pPr>
                      <a:r>
                        <a:t>3</a:t>
                      </a:r>
                    </a:p>
                  </a:txBody>
                  <a:tcPr/>
                </a:tc>
                <a:tc>
                  <a:txBody>
                    <a:bodyPr/>
                    <a:lstStyle/>
                    <a:p>
                      <a:pPr marL="0" lvl="0" indent="0" algn="r">
                        <a:buNone/>
                      </a:pPr>
                      <a:r>
                        <a:t>3</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lnSpcReduction="10000"/>
          </a:bodyPr>
          <a:lstStyle/>
          <a:p>
            <a:pPr marL="0" lvl="0" indent="0">
              <a:buNone/>
            </a:pPr>
            <a:r>
              <a:t>Also lower hierarchy tables can be used to get the subset of the higher hierarchy tables.</a:t>
            </a:r>
          </a:p>
          <a:p>
            <a:pPr lvl="0" indent="0">
              <a:buNone/>
            </a:pPr>
            <a:r>
              <a:rPr i="1">
                <a:solidFill>
                  <a:srgbClr val="60A0B0"/>
                </a:solidFill>
                <a:latin typeface="Courier"/>
              </a:rPr>
              <a:t>#which vessel caught those fish?</a:t>
            </a:r>
            <a:br/>
            <a:r>
              <a:rPr>
                <a:latin typeface="Courier"/>
              </a:rPr>
              <a:t>ld </a:t>
            </a:r>
            <a:r>
              <a:rPr>
                <a:solidFill>
                  <a:srgbClr val="007020"/>
                </a:solidFill>
                <a:latin typeface="Courier"/>
              </a:rPr>
              <a:t>&lt;-</a:t>
            </a:r>
            <a:r>
              <a:rPr>
                <a:latin typeface="Courier"/>
              </a:rPr>
              <a:t> </a:t>
            </a:r>
            <a:r>
              <a:rPr>
                <a:solidFill>
                  <a:srgbClr val="06287E"/>
                </a:solidFill>
                <a:latin typeface="Courier"/>
              </a:rPr>
              <a:t>getLinkedDataFromLevel</a:t>
            </a:r>
            <a:r>
              <a:rPr>
                <a:latin typeface="Courier"/>
              </a:rPr>
              <a:t>(</a:t>
            </a:r>
            <a:r>
              <a:rPr>
                <a:solidFill>
                  <a:srgbClr val="4070A0"/>
                </a:solidFill>
                <a:latin typeface="Courier"/>
              </a:rPr>
              <a:t>"BVfishId"</a:t>
            </a:r>
            <a:r>
              <a:rPr>
                <a:latin typeface="Courier"/>
              </a:rPr>
              <a:t>, </a:t>
            </a:r>
            <a:r>
              <a:rPr>
                <a:solidFill>
                  <a:srgbClr val="06287E"/>
                </a:solidFill>
                <a:latin typeface="Courier"/>
              </a:rPr>
              <a:t>c</a:t>
            </a:r>
            <a:r>
              <a:rPr>
                <a:latin typeface="Courier"/>
              </a:rPr>
              <a:t>(</a:t>
            </a:r>
            <a:r>
              <a:rPr>
                <a:solidFill>
                  <a:srgbClr val="4070A0"/>
                </a:solidFill>
                <a:latin typeface="Courier"/>
              </a:rPr>
              <a:t>"410472143"</a:t>
            </a:r>
            <a:r>
              <a:rPr>
                <a:latin typeface="Courier"/>
              </a:rPr>
              <a:t>, </a:t>
            </a:r>
            <a:r>
              <a:rPr>
                <a:solidFill>
                  <a:srgbClr val="4070A0"/>
                </a:solidFill>
                <a:latin typeface="Courier"/>
              </a:rPr>
              <a:t>"410472144"</a:t>
            </a:r>
            <a:r>
              <a:rPr>
                <a:latin typeface="Courier"/>
              </a:rPr>
              <a:t>), H8ExampleEE1, </a:t>
            </a:r>
            <a:r>
              <a:rPr>
                <a:solidFill>
                  <a:srgbClr val="4070A0"/>
                </a:solidFill>
                <a:latin typeface="Courier"/>
              </a:rPr>
              <a:t>"VS"</a:t>
            </a:r>
            <a:r>
              <a:rPr>
                <a:latin typeface="Courier"/>
              </a:rPr>
              <a:t>, </a:t>
            </a:r>
            <a:r>
              <a:rPr>
                <a:solidFill>
                  <a:srgbClr val="880000"/>
                </a:solidFill>
                <a:latin typeface="Courier"/>
              </a:rPr>
              <a:t>TRUE</a:t>
            </a:r>
            <a:r>
              <a:rPr>
                <a:latin typeface="Courier"/>
              </a:rPr>
              <a:t>)</a:t>
            </a:r>
          </a:p>
          <a:p>
            <a:pPr lvl="0" indent="0">
              <a:buNone/>
            </a:pPr>
            <a:r>
              <a:rPr>
                <a:latin typeface="Courier"/>
              </a:rPr>
              <a:t>## Traversing upwards in the table hierarchy from BV to VS 
## [1] "BV: 410472143, 410472144"
## [1] "Skipping: FM"
## [1] "SA: 5, 5, 5, 5, 5, 5, 5, 5, 5, 5"
## [1] "SS: 5"
## [1] "LE: 5"
## [1] "Skipping: FT"</a:t>
            </a:r>
          </a:p>
          <a:p>
            <a:pPr lvl="0" indent="0">
              <a:buNone/>
            </a:pPr>
            <a:r>
              <a:rPr>
                <a:latin typeface="Courier"/>
              </a:rPr>
              <a:t>knitr</a:t>
            </a:r>
            <a:r>
              <a:rPr>
                <a:solidFill>
                  <a:srgbClr val="4070A0"/>
                </a:solidFill>
                <a:latin typeface="Courier"/>
              </a:rPr>
              <a:t>::</a:t>
            </a:r>
            <a:r>
              <a:rPr>
                <a:solidFill>
                  <a:srgbClr val="06287E"/>
                </a:solidFill>
                <a:latin typeface="Courier"/>
              </a:rPr>
              <a:t>kable</a:t>
            </a:r>
            <a:r>
              <a:rPr>
                <a:latin typeface="Courier"/>
              </a:rPr>
              <a:t>(ld[,</a:t>
            </a:r>
            <a:r>
              <a:rPr>
                <a:solidFill>
                  <a:srgbClr val="40A070"/>
                </a:solidFill>
                <a:latin typeface="Courier"/>
              </a:rPr>
              <a:t>1</a:t>
            </a:r>
            <a:r>
              <a:rPr>
                <a:solidFill>
                  <a:srgbClr val="4070A0"/>
                </a:solidFill>
                <a:latin typeface="Courier"/>
              </a:rPr>
              <a:t>:</a:t>
            </a:r>
            <a:r>
              <a:rPr>
                <a:solidFill>
                  <a:srgbClr val="40A070"/>
                </a:solidFill>
                <a:latin typeface="Courier"/>
              </a:rPr>
              <a:t>5</a:t>
            </a:r>
            <a:r>
              <a:rPr>
                <a:latin typeface="Courier"/>
              </a:rPr>
              <a:t>])</a:t>
            </a:r>
          </a:p>
        </p:txBody>
      </p:sp>
      <p:graphicFrame>
        <p:nvGraphicFramePr>
          <p:cNvPr id="6" name="Content Placeholder 5"/>
          <p:cNvGraphicFramePr>
            <a:graphicFrameLocks noGrp="1"/>
          </p:cNvGraphicFramePr>
          <p:nvPr>
            <p:ph idx="1"/>
          </p:nvPr>
        </p:nvGraphicFramePr>
        <p:xfrm>
          <a:off x="6616700" y="1435100"/>
          <a:ext cx="5080000" cy="1005840"/>
        </p:xfrm>
        <a:graphic>
          <a:graphicData uri="http://schemas.openxmlformats.org/drawingml/2006/table">
            <a:tbl>
              <a:tblPr firstRow="1" bandRow="1">
                <a:tableStyleId>{9D7B26C5-4107-4FEC-AEDC-1716B250A1EF}</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tblGrid>
              <a:tr h="0">
                <a:tc>
                  <a:txBody>
                    <a:bodyPr/>
                    <a:lstStyle/>
                    <a:p>
                      <a:pPr marL="0" lvl="0" indent="0" algn="r">
                        <a:buNone/>
                      </a:pPr>
                      <a:r>
                        <a:t>VSid</a:t>
                      </a:r>
                    </a:p>
                  </a:txBody>
                  <a:tcPr/>
                </a:tc>
                <a:tc>
                  <a:txBody>
                    <a:bodyPr/>
                    <a:lstStyle/>
                    <a:p>
                      <a:pPr marL="0" lvl="0" indent="0" algn="r">
                        <a:buNone/>
                      </a:pPr>
                      <a:r>
                        <a:t>SDid</a:t>
                      </a:r>
                    </a:p>
                  </a:txBody>
                  <a:tcPr/>
                </a:tc>
                <a:tc>
                  <a:txBody>
                    <a:bodyPr/>
                    <a:lstStyle/>
                    <a:p>
                      <a:pPr marL="0" lvl="0" indent="0" algn="r">
                        <a:buNone/>
                      </a:pPr>
                      <a:r>
                        <a:t>VDid</a:t>
                      </a:r>
                    </a:p>
                  </a:txBody>
                  <a:tcPr/>
                </a:tc>
                <a:tc>
                  <a:txBody>
                    <a:bodyPr/>
                    <a:lstStyle/>
                    <a:p>
                      <a:pPr marL="0" lvl="0" indent="0" algn="r">
                        <a:buNone/>
                      </a:pPr>
                      <a:r>
                        <a:t>TEid</a:t>
                      </a:r>
                    </a:p>
                  </a:txBody>
                  <a:tcPr/>
                </a:tc>
                <a:tc>
                  <a:txBody>
                    <a:bodyPr/>
                    <a:lstStyle/>
                    <a:p>
                      <a:pPr marL="0" lvl="0" indent="0" algn="l">
                        <a:buNone/>
                      </a:pPr>
                      <a:r>
                        <a:t>VSrecType</a:t>
                      </a:r>
                    </a:p>
                  </a:txBody>
                  <a:tcPr/>
                </a:tc>
                <a:extLst>
                  <a:ext uri="{0D108BD9-81ED-4DB2-BD59-A6C34878D82A}">
                    <a16:rowId xmlns:a16="http://schemas.microsoft.com/office/drawing/2014/main" val="10000"/>
                  </a:ext>
                </a:extLst>
              </a:tr>
              <a:tr h="0">
                <a:tc>
                  <a:txBody>
                    <a:bodyPr/>
                    <a:lstStyle/>
                    <a:p>
                      <a:pPr marL="0" lvl="0" indent="0" algn="r">
                        <a:buNone/>
                      </a:pPr>
                      <a:r>
                        <a:t>5</a:t>
                      </a:r>
                    </a:p>
                  </a:txBody>
                  <a:tcPr/>
                </a:tc>
                <a:tc>
                  <a:txBody>
                    <a:bodyPr/>
                    <a:lstStyle/>
                    <a:p>
                      <a:pPr marL="0" lvl="0" indent="0" algn="r">
                        <a:buNone/>
                      </a:pPr>
                      <a:r>
                        <a:t>1</a:t>
                      </a:r>
                    </a:p>
                  </a:txBody>
                  <a:tcPr/>
                </a:tc>
                <a:tc>
                  <a:txBody>
                    <a:bodyPr/>
                    <a:lstStyle/>
                    <a:p>
                      <a:pPr marL="0" lvl="0" indent="0" algn="r">
                        <a:buNone/>
                      </a:pPr>
                      <a:r>
                        <a:t>500</a:t>
                      </a:r>
                    </a:p>
                  </a:txBody>
                  <a:tcPr/>
                </a:tc>
                <a:tc>
                  <a:txBody>
                    <a:bodyPr/>
                    <a:lstStyle/>
                    <a:p>
                      <a:pPr marL="0" lvl="0" indent="0" algn="r">
                        <a:buNone/>
                      </a:pPr>
                      <a:r>
                        <a:t>4</a:t>
                      </a:r>
                    </a:p>
                  </a:txBody>
                  <a:tcPr/>
                </a:tc>
                <a:tc>
                  <a:txBody>
                    <a:bodyPr/>
                    <a:lstStyle/>
                    <a:p>
                      <a:pPr marL="0" lvl="0" indent="0" algn="l">
                        <a:buNone/>
                      </a:pPr>
                      <a:r>
                        <a:t>VS</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Preparation: Handling Zeros and NAs</a:t>
            </a:r>
          </a:p>
        </p:txBody>
      </p:sp>
      <p:sp>
        <p:nvSpPr>
          <p:cNvPr id="3" name="Content Placeholder 2"/>
          <p:cNvSpPr>
            <a:spLocks noGrp="1"/>
          </p:cNvSpPr>
          <p:nvPr>
            <p:ph idx="1"/>
          </p:nvPr>
        </p:nvSpPr>
        <p:spPr/>
        <p:txBody>
          <a:bodyPr/>
          <a:lstStyle/>
          <a:p>
            <a:pPr marL="0" lvl="0" indent="0">
              <a:buNone/>
            </a:pPr>
            <a:r>
              <a:t>Before estimation, it is often necessary to ensure the data is complete, particularly regarding species that were looked for but not found (zeros) or not targeted (NAs). </a:t>
            </a:r>
            <a:r>
              <a:rPr b="1"/>
              <a:t>RDBEScore</a:t>
            </a:r>
            <a:r>
              <a:t> provides functions to handle this using the Species List (SL) table.</a:t>
            </a:r>
          </a:p>
          <a:p>
            <a:pPr lvl="0"/>
            <a:r>
              <a:rPr>
                <a:latin typeface="Courier"/>
              </a:rPr>
              <a:t>generateZerosUsingSL()</a:t>
            </a:r>
            <a:r>
              <a:t>: Adds explicit zero records for species recorded in the species list but missing from the sample.</a:t>
            </a:r>
          </a:p>
          <a:p>
            <a:pPr lvl="0"/>
            <a:r>
              <a:rPr>
                <a:latin typeface="Courier"/>
              </a:rPr>
              <a:t>generateNAsUsingSL()</a:t>
            </a:r>
            <a:r>
              <a:t>: Populates NA values for species not targeted by the sampling scheme.</a:t>
            </a:r>
          </a:p>
          <a:p>
            <a:pPr marL="0" lvl="0" indent="0">
              <a:buNone/>
            </a:pPr>
            <a:r>
              <a:t>See the vignettes </a:t>
            </a:r>
            <a:r>
              <a:rPr i="1"/>
              <a:t>Generating zeros for species not observed</a:t>
            </a:r>
            <a:r>
              <a:t> and </a:t>
            </a:r>
            <a:r>
              <a:rPr i="1"/>
              <a:t>Generating NAs for species not targeted by sampling</a:t>
            </a:r>
            <a:r>
              <a:t> for more details.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Estimating</a:t>
            </a:r>
          </a:p>
        </p:txBody>
      </p:sp>
      <p:sp>
        <p:nvSpPr>
          <p:cNvPr id="3" name="Content Placeholder 2"/>
          <p:cNvSpPr>
            <a:spLocks noGrp="1"/>
          </p:cNvSpPr>
          <p:nvPr>
            <p:ph idx="1"/>
          </p:nvPr>
        </p:nvSpPr>
        <p:spPr/>
        <p:txBody>
          <a:bodyPr/>
          <a:lstStyle/>
          <a:p>
            <a:pPr marL="0" lvl="0" indent="0">
              <a:buNone/>
            </a:pPr>
            <a:r>
              <a:t>The RDBEScore package aims to provide a set of functions to estimate values from the RDBES data. The development of the estimation functions is ongoing and the current version provides functions to estimate values using the Multiple Count Estimator (MCE) for the upper hierarchies.</a:t>
            </a:r>
          </a:p>
          <a:p>
            <a:pPr marL="0" lvl="0" indent="0">
              <a:buNone/>
            </a:pPr>
            <a:r>
              <a:t>To estimate the last level values for a single FMid so that estimation is done for one top level record</a:t>
            </a:r>
          </a:p>
          <a:p>
            <a:pPr lvl="0" indent="0">
              <a:buNone/>
            </a:pPr>
            <a:r>
              <a:rPr>
                <a:latin typeface="Courier"/>
              </a:rPr>
              <a:t>FMidSel </a:t>
            </a:r>
            <a:r>
              <a:rPr>
                <a:solidFill>
                  <a:srgbClr val="007020"/>
                </a:solidFill>
                <a:latin typeface="Courier"/>
              </a:rPr>
              <a:t>&lt;-</a:t>
            </a:r>
            <a:r>
              <a:rPr>
                <a:latin typeface="Courier"/>
              </a:rPr>
              <a:t> </a:t>
            </a:r>
            <a:r>
              <a:rPr>
                <a:solidFill>
                  <a:srgbClr val="4070A0"/>
                </a:solidFill>
                <a:latin typeface="Courier"/>
              </a:rPr>
              <a:t>"4033243"</a:t>
            </a:r>
            <a:br/>
            <a:r>
              <a:rPr>
                <a:latin typeface="Courier"/>
              </a:rPr>
              <a:t>BV </a:t>
            </a:r>
            <a:r>
              <a:rPr>
                <a:solidFill>
                  <a:srgbClr val="007020"/>
                </a:solidFill>
                <a:latin typeface="Courier"/>
              </a:rPr>
              <a:t>&lt;-</a:t>
            </a:r>
            <a:r>
              <a:rPr>
                <a:latin typeface="Courier"/>
              </a:rPr>
              <a:t> H1Example</a:t>
            </a:r>
            <a:r>
              <a:rPr>
                <a:solidFill>
                  <a:srgbClr val="4070A0"/>
                </a:solidFill>
                <a:latin typeface="Courier"/>
              </a:rPr>
              <a:t>$</a:t>
            </a:r>
            <a:r>
              <a:rPr>
                <a:latin typeface="Courier"/>
              </a:rPr>
              <a:t>BV[H1Example</a:t>
            </a:r>
            <a:r>
              <a:rPr>
                <a:solidFill>
                  <a:srgbClr val="4070A0"/>
                </a:solidFill>
                <a:latin typeface="Courier"/>
              </a:rPr>
              <a:t>$</a:t>
            </a:r>
            <a:r>
              <a:rPr>
                <a:latin typeface="Courier"/>
              </a:rPr>
              <a:t>BV</a:t>
            </a:r>
            <a:r>
              <a:rPr>
                <a:solidFill>
                  <a:srgbClr val="4070A0"/>
                </a:solidFill>
                <a:latin typeface="Courier"/>
              </a:rPr>
              <a:t>$</a:t>
            </a:r>
            <a:r>
              <a:rPr>
                <a:latin typeface="Courier"/>
              </a:rPr>
              <a:t>FMid </a:t>
            </a:r>
            <a:r>
              <a:rPr>
                <a:solidFill>
                  <a:srgbClr val="4070A0"/>
                </a:solidFill>
                <a:latin typeface="Courier"/>
              </a:rPr>
              <a:t>==</a:t>
            </a:r>
            <a:r>
              <a:rPr>
                <a:latin typeface="Courier"/>
              </a:rPr>
              <a:t> FMidSel,]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Single level Multiple Count Estimator</a:t>
            </a:r>
          </a:p>
        </p:txBody>
      </p:sp>
      <p:sp>
        <p:nvSpPr>
          <p:cNvPr id="3" name="Content Placeholder 2"/>
          <p:cNvSpPr>
            <a:spLocks noGrp="1"/>
          </p:cNvSpPr>
          <p:nvPr>
            <p:ph idx="1"/>
          </p:nvPr>
        </p:nvSpPr>
        <p:spPr>
          <a:xfrm>
            <a:off x="457199" y="1446084"/>
            <a:ext cx="6844935" cy="5025697"/>
          </a:xfrm>
        </p:spPr>
        <p:txBody>
          <a:bodyPr>
            <a:normAutofit/>
          </a:bodyPr>
          <a:lstStyle/>
          <a:p>
            <a:pPr marL="0" lvl="0" indent="0">
              <a:buNone/>
            </a:pPr>
            <a:r>
              <a:rPr dirty="0"/>
              <a:t>This </a:t>
            </a:r>
            <a:r>
              <a:rPr b="1" dirty="0" err="1"/>
              <a:t>estimMC</a:t>
            </a:r>
            <a:r>
              <a:rPr b="1" dirty="0"/>
              <a:t>(…)</a:t>
            </a:r>
            <a:r>
              <a:rPr dirty="0"/>
              <a:t> function is actually the core of the estimation functions running on multiple levels as well. For implementation details see: </a:t>
            </a:r>
            <a:r>
              <a:rPr dirty="0">
                <a:hlinkClick r:id="rId2"/>
              </a:rPr>
              <a:t>Variance calculation functions using “Multiple count” estimator</a:t>
            </a:r>
          </a:p>
          <a:p>
            <a:pPr lvl="0" indent="0">
              <a:buNone/>
            </a:pPr>
            <a:r>
              <a:rPr dirty="0" err="1">
                <a:solidFill>
                  <a:srgbClr val="06287E"/>
                </a:solidFill>
                <a:latin typeface="Courier"/>
              </a:rPr>
              <a:t>estimMC</a:t>
            </a:r>
            <a:r>
              <a:rPr dirty="0">
                <a:latin typeface="Courier"/>
              </a:rPr>
              <a:t>(</a:t>
            </a:r>
            <a:r>
              <a:rPr dirty="0" err="1">
                <a:solidFill>
                  <a:srgbClr val="06287E"/>
                </a:solidFill>
                <a:latin typeface="Courier"/>
              </a:rPr>
              <a:t>as.numeric</a:t>
            </a:r>
            <a:r>
              <a:rPr dirty="0">
                <a:latin typeface="Courier"/>
              </a:rPr>
              <a:t>(</a:t>
            </a:r>
            <a:r>
              <a:rPr dirty="0" err="1">
                <a:latin typeface="Courier"/>
              </a:rPr>
              <a:t>BV</a:t>
            </a:r>
            <a:r>
              <a:rPr dirty="0" err="1">
                <a:solidFill>
                  <a:srgbClr val="4070A0"/>
                </a:solidFill>
                <a:latin typeface="Courier"/>
              </a:rPr>
              <a:t>$</a:t>
            </a:r>
            <a:r>
              <a:rPr dirty="0" err="1">
                <a:latin typeface="Courier"/>
              </a:rPr>
              <a:t>BVvalueMeas</a:t>
            </a:r>
            <a:r>
              <a:rPr dirty="0">
                <a:latin typeface="Courier"/>
              </a:rPr>
              <a:t>),</a:t>
            </a:r>
            <a:br>
              <a:rPr dirty="0"/>
            </a:br>
            <a:r>
              <a:rPr dirty="0">
                <a:latin typeface="Courier"/>
              </a:rPr>
              <a:t>        </a:t>
            </a:r>
            <a:r>
              <a:rPr dirty="0" err="1">
                <a:latin typeface="Courier"/>
              </a:rPr>
              <a:t>BV</a:t>
            </a:r>
            <a:r>
              <a:rPr dirty="0" err="1">
                <a:solidFill>
                  <a:srgbClr val="4070A0"/>
                </a:solidFill>
                <a:latin typeface="Courier"/>
              </a:rPr>
              <a:t>$</a:t>
            </a:r>
            <a:r>
              <a:rPr dirty="0" err="1">
                <a:latin typeface="Courier"/>
              </a:rPr>
              <a:t>BVnumSamp</a:t>
            </a:r>
            <a:r>
              <a:rPr dirty="0">
                <a:latin typeface="Courier"/>
              </a:rPr>
              <a:t>,</a:t>
            </a:r>
            <a:br>
              <a:rPr dirty="0"/>
            </a:br>
            <a:r>
              <a:rPr dirty="0">
                <a:latin typeface="Courier"/>
              </a:rPr>
              <a:t>        </a:t>
            </a:r>
            <a:r>
              <a:rPr dirty="0" err="1">
                <a:latin typeface="Courier"/>
              </a:rPr>
              <a:t>BV</a:t>
            </a:r>
            <a:r>
              <a:rPr dirty="0" err="1">
                <a:solidFill>
                  <a:srgbClr val="4070A0"/>
                </a:solidFill>
                <a:latin typeface="Courier"/>
              </a:rPr>
              <a:t>$</a:t>
            </a:r>
            <a:r>
              <a:rPr dirty="0" err="1">
                <a:latin typeface="Courier"/>
              </a:rPr>
              <a:t>BVnumTotal</a:t>
            </a:r>
            <a:r>
              <a:rPr dirty="0">
                <a:latin typeface="Courier"/>
              </a:rPr>
              <a:t>, </a:t>
            </a:r>
            <a:br>
              <a:rPr dirty="0"/>
            </a:br>
            <a:r>
              <a:rPr dirty="0">
                <a:latin typeface="Courier"/>
              </a:rPr>
              <a:t>        </a:t>
            </a:r>
            <a:r>
              <a:rPr dirty="0">
                <a:solidFill>
                  <a:srgbClr val="7D9029"/>
                </a:solidFill>
                <a:latin typeface="Courier"/>
              </a:rPr>
              <a:t>method=</a:t>
            </a:r>
            <a:r>
              <a:rPr dirty="0">
                <a:solidFill>
                  <a:srgbClr val="06287E"/>
                </a:solidFill>
                <a:latin typeface="Courier"/>
              </a:rPr>
              <a:t>unique</a:t>
            </a:r>
            <a:r>
              <a:rPr dirty="0">
                <a:latin typeface="Courier"/>
              </a:rPr>
              <a:t>(</a:t>
            </a:r>
            <a:r>
              <a:rPr dirty="0" err="1">
                <a:latin typeface="Courier"/>
              </a:rPr>
              <a:t>BV</a:t>
            </a:r>
            <a:r>
              <a:rPr dirty="0" err="1">
                <a:solidFill>
                  <a:srgbClr val="4070A0"/>
                </a:solidFill>
                <a:latin typeface="Courier"/>
              </a:rPr>
              <a:t>$</a:t>
            </a:r>
            <a:r>
              <a:rPr dirty="0" err="1">
                <a:latin typeface="Courier"/>
              </a:rPr>
              <a:t>BVselectMeth</a:t>
            </a:r>
            <a:r>
              <a:rPr dirty="0">
                <a:latin typeface="Courier"/>
              </a:rPr>
              <a:t>))</a:t>
            </a:r>
          </a:p>
        </p:txBody>
      </p:sp>
      <p:sp>
        <p:nvSpPr>
          <p:cNvPr id="5" name="Text Placeholder 4">
            <a:extLst>
              <a:ext uri="{FF2B5EF4-FFF2-40B4-BE49-F238E27FC236}">
                <a16:creationId xmlns:a16="http://schemas.microsoft.com/office/drawing/2014/main" id="{4E7E362C-79F2-43B3-A912-1D47D12A269D}"/>
              </a:ext>
            </a:extLst>
          </p:cNvPr>
          <p:cNvSpPr>
            <a:spLocks noGrp="1"/>
          </p:cNvSpPr>
          <p:nvPr>
            <p:ph type="body" sz="half" idx="2"/>
          </p:nvPr>
        </p:nvSpPr>
        <p:spPr>
          <a:xfrm>
            <a:off x="7130716" y="1488483"/>
            <a:ext cx="4858008" cy="5164729"/>
          </a:xfrm>
        </p:spPr>
        <p:txBody>
          <a:bodyPr>
            <a:normAutofit fontScale="70000" lnSpcReduction="20000"/>
          </a:bodyPr>
          <a:lstStyle/>
          <a:p>
            <a:r>
              <a:rPr lang="en-US" dirty="0">
                <a:latin typeface="Courier"/>
              </a:rPr>
              <a:t>## $</a:t>
            </a:r>
            <a:r>
              <a:rPr lang="en-US" dirty="0" err="1">
                <a:latin typeface="Courier"/>
              </a:rPr>
              <a:t>est.total</a:t>
            </a:r>
            <a:r>
              <a:rPr lang="en-US" dirty="0">
                <a:latin typeface="Courier"/>
              </a:rPr>
              <a:t>
## [1] 4
## 
## $</a:t>
            </a:r>
            <a:r>
              <a:rPr lang="en-US" dirty="0" err="1">
                <a:latin typeface="Courier"/>
              </a:rPr>
              <a:t>est.mean</a:t>
            </a:r>
            <a:r>
              <a:rPr lang="en-US" dirty="0">
                <a:latin typeface="Courier"/>
              </a:rPr>
              <a:t>
## [1] 2
## 
## $</a:t>
            </a:r>
            <a:r>
              <a:rPr lang="en-US" dirty="0" err="1">
                <a:latin typeface="Courier"/>
              </a:rPr>
              <a:t>est.algorithm</a:t>
            </a:r>
            <a:r>
              <a:rPr lang="en-US" dirty="0">
                <a:latin typeface="Courier"/>
              </a:rPr>
              <a:t>
## [1] "Generalized Horvitz-Thompson aka </a:t>
            </a:r>
            <a:r>
              <a:rPr lang="en-US" dirty="0" err="1">
                <a:latin typeface="Courier"/>
              </a:rPr>
              <a:t>Mutiple</a:t>
            </a:r>
            <a:r>
              <a:rPr lang="en-US" dirty="0">
                <a:latin typeface="Courier"/>
              </a:rPr>
              <a:t>-Count"
## 
## $</a:t>
            </a:r>
            <a:r>
              <a:rPr lang="en-US" dirty="0" err="1">
                <a:latin typeface="Courier"/>
              </a:rPr>
              <a:t>var.total</a:t>
            </a:r>
            <a:r>
              <a:rPr lang="en-US" dirty="0">
                <a:latin typeface="Courier"/>
              </a:rPr>
              <a:t>
## [1] 0
## 
## $</a:t>
            </a:r>
            <a:r>
              <a:rPr lang="en-US" dirty="0" err="1">
                <a:latin typeface="Courier"/>
              </a:rPr>
              <a:t>var.mean</a:t>
            </a:r>
            <a:r>
              <a:rPr lang="en-US" dirty="0">
                <a:latin typeface="Courier"/>
              </a:rPr>
              <a:t>
## [1] 0
## 
## $</a:t>
            </a:r>
            <a:r>
              <a:rPr lang="en-US" dirty="0" err="1">
                <a:latin typeface="Courier"/>
              </a:rPr>
              <a:t>var.algorithm</a:t>
            </a:r>
            <a:r>
              <a:rPr lang="en-US" dirty="0">
                <a:latin typeface="Courier"/>
              </a:rPr>
              <a:t>
## [1] "Sen-Yates-Grundy"
## 
## $PI
##      [,1] [,2]
## [1,]  0.5  0.5
## [2,]  0.5  0.5</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Estimation workflow</a:t>
            </a:r>
          </a:p>
        </p:txBody>
      </p:sp>
      <p:sp>
        <p:nvSpPr>
          <p:cNvPr id="3" name="Content Placeholder 2"/>
          <p:cNvSpPr>
            <a:spLocks noGrp="1"/>
          </p:cNvSpPr>
          <p:nvPr>
            <p:ph idx="1"/>
          </p:nvPr>
        </p:nvSpPr>
        <p:spPr/>
        <p:txBody>
          <a:bodyPr/>
          <a:lstStyle/>
          <a:p>
            <a:pPr marL="0" lvl="0" indent="0">
              <a:buNone/>
            </a:pPr>
            <a:r>
              <a:t>Right now estimation actually is done on a </a:t>
            </a:r>
            <a:r>
              <a:rPr i="1"/>
              <a:t>RDBESEstObject</a:t>
            </a:r>
            <a:r>
              <a:t> that is generate from </a:t>
            </a:r>
            <a:r>
              <a:rPr i="1"/>
              <a:t>RDBESDataObject</a:t>
            </a:r>
            <a:r>
              <a:t> using </a:t>
            </a:r>
            <a:r>
              <a:rPr b="1"/>
              <a:t>createRDBESEstObject(…)</a:t>
            </a:r>
            <a:r>
              <a:t>.</a:t>
            </a:r>
          </a:p>
          <a:p>
            <a:pPr marL="0" lvl="0" indent="0">
              <a:buNone/>
            </a:pPr>
            <a:r>
              <a:t>In the next sections we will use example data derived from the </a:t>
            </a:r>
            <a:r>
              <a:rPr>
                <a:hlinkClick r:id="rId2"/>
              </a:rPr>
              <a:t>survey</a:t>
            </a:r>
            <a:r>
              <a:t> and </a:t>
            </a:r>
            <a:r>
              <a:rPr>
                <a:hlinkClick r:id="rId3"/>
              </a:rPr>
              <a:t>SDAResources</a:t>
            </a:r>
            <a:r>
              <a:t> packages. This data is included in </a:t>
            </a:r>
            <a:r>
              <a:rPr b="1"/>
              <a:t>RDBEScore</a:t>
            </a:r>
            <a:r>
              <a:t> and converted into the </a:t>
            </a:r>
            <a:r>
              <a:rPr i="1"/>
              <a:t>RDBESDataObject</a:t>
            </a:r>
            <a:r>
              <a:t> format to demonstrate the estimation procedure.</a:t>
            </a:r>
          </a:p>
          <a:p>
            <a:pPr marL="0" lvl="0" indent="0">
              <a:buNone/>
            </a:pPr>
            <a:r>
              <a:t>For more detailed information on the estimation functions see the vignettes</a:t>
            </a:r>
          </a:p>
          <a:p>
            <a:pPr lvl="0" indent="0">
              <a:buNone/>
            </a:pPr>
            <a:r>
              <a:rPr i="1">
                <a:solidFill>
                  <a:srgbClr val="60A0B0"/>
                </a:solidFill>
                <a:latin typeface="Courier"/>
              </a:rPr>
              <a:t>#create the estimation object to estimate values on the SA table</a:t>
            </a:r>
            <a:br/>
            <a:r>
              <a:rPr>
                <a:latin typeface="Courier"/>
              </a:rPr>
              <a:t>estObj </a:t>
            </a:r>
            <a:r>
              <a:rPr>
                <a:solidFill>
                  <a:srgbClr val="007020"/>
                </a:solidFill>
                <a:latin typeface="Courier"/>
              </a:rPr>
              <a:t>&lt;-</a:t>
            </a:r>
            <a:r>
              <a:rPr>
                <a:latin typeface="Courier"/>
              </a:rPr>
              <a:t> </a:t>
            </a:r>
            <a:r>
              <a:rPr>
                <a:solidFill>
                  <a:srgbClr val="06287E"/>
                </a:solidFill>
                <a:latin typeface="Courier"/>
              </a:rPr>
              <a:t>createRDBESEstObject</a:t>
            </a:r>
            <a:r>
              <a:rPr>
                <a:latin typeface="Courier"/>
              </a:rPr>
              <a:t>(Pckg_SDAResources_agstrat_H1, </a:t>
            </a:r>
            <a:r>
              <a:rPr>
                <a:solidFill>
                  <a:srgbClr val="40A070"/>
                </a:solidFill>
                <a:latin typeface="Courier"/>
              </a:rPr>
              <a:t>1</a:t>
            </a:r>
            <a:r>
              <a:rPr>
                <a:latin typeface="Courier"/>
              </a:rPr>
              <a:t>, </a:t>
            </a:r>
            <a:r>
              <a:rPr>
                <a:solidFill>
                  <a:srgbClr val="4070A0"/>
                </a:solidFill>
                <a:latin typeface="Courier"/>
              </a:rPr>
              <a:t>"SA"</a:t>
            </a:r>
            <a:r>
              <a:rPr>
                <a:latin typeface="Courier"/>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Estimation on Multiple Strata</a:t>
            </a:r>
          </a:p>
        </p:txBody>
      </p:sp>
      <p:sp>
        <p:nvSpPr>
          <p:cNvPr id="3" name="Content Placeholder 2"/>
          <p:cNvSpPr>
            <a:spLocks noGrp="1"/>
          </p:cNvSpPr>
          <p:nvPr>
            <p:ph idx="1"/>
          </p:nvPr>
        </p:nvSpPr>
        <p:spPr/>
        <p:txBody>
          <a:bodyPr/>
          <a:lstStyle/>
          <a:p>
            <a:pPr lvl="0" indent="0">
              <a:buNone/>
            </a:pPr>
            <a:r>
              <a:rPr>
                <a:latin typeface="Courier"/>
              </a:rPr>
              <a:t>res </a:t>
            </a:r>
            <a:r>
              <a:rPr>
                <a:solidFill>
                  <a:srgbClr val="007020"/>
                </a:solidFill>
                <a:latin typeface="Courier"/>
              </a:rPr>
              <a:t>&lt;-</a:t>
            </a:r>
            <a:r>
              <a:rPr>
                <a:latin typeface="Courier"/>
              </a:rPr>
              <a:t> </a:t>
            </a:r>
            <a:r>
              <a:rPr>
                <a:solidFill>
                  <a:srgbClr val="06287E"/>
                </a:solidFill>
                <a:latin typeface="Courier"/>
              </a:rPr>
              <a:t>doEstimationForAllStrata</a:t>
            </a:r>
            <a:r>
              <a:rPr>
                <a:latin typeface="Courier"/>
              </a:rPr>
              <a:t>(estObj, </a:t>
            </a:r>
            <a:r>
              <a:rPr>
                <a:solidFill>
                  <a:srgbClr val="4070A0"/>
                </a:solidFill>
                <a:latin typeface="Courier"/>
              </a:rPr>
              <a:t>"SAsampWtMes"</a:t>
            </a:r>
            <a:r>
              <a:rPr>
                <a:latin typeface="Courier"/>
              </a:rPr>
              <a:t>)</a:t>
            </a:r>
            <a:br/>
            <a:br/>
            <a:r>
              <a:rPr i="1">
                <a:solidFill>
                  <a:srgbClr val="60A0B0"/>
                </a:solidFill>
                <a:latin typeface="Courier"/>
              </a:rPr>
              <a:t># Get the estimated total and mean  for "SAsampWtMes" for the VS stratum "NC"</a:t>
            </a:r>
            <a:br/>
            <a:r>
              <a:rPr>
                <a:latin typeface="Courier"/>
              </a:rPr>
              <a:t>columns2Get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70A0"/>
                </a:solidFill>
                <a:latin typeface="Courier"/>
              </a:rPr>
              <a:t>"est.total"</a:t>
            </a:r>
            <a:r>
              <a:rPr>
                <a:latin typeface="Courier"/>
              </a:rPr>
              <a:t>,</a:t>
            </a:r>
            <a:r>
              <a:rPr>
                <a:solidFill>
                  <a:srgbClr val="4070A0"/>
                </a:solidFill>
                <a:latin typeface="Courier"/>
              </a:rPr>
              <a:t>"est.mean"</a:t>
            </a:r>
            <a:r>
              <a:rPr>
                <a:latin typeface="Courier"/>
              </a:rPr>
              <a:t>, </a:t>
            </a:r>
            <a:r>
              <a:rPr>
                <a:solidFill>
                  <a:srgbClr val="4070A0"/>
                </a:solidFill>
                <a:latin typeface="Courier"/>
              </a:rPr>
              <a:t>"se.total"</a:t>
            </a:r>
            <a:r>
              <a:rPr>
                <a:latin typeface="Courier"/>
              </a:rPr>
              <a:t>,</a:t>
            </a:r>
            <a:r>
              <a:rPr>
                <a:solidFill>
                  <a:srgbClr val="4070A0"/>
                </a:solidFill>
                <a:latin typeface="Courier"/>
              </a:rPr>
              <a:t>"se.mean"</a:t>
            </a:r>
            <a:r>
              <a:rPr>
                <a:latin typeface="Courier"/>
              </a:rPr>
              <a:t>)</a:t>
            </a:r>
            <a:br/>
            <a:r>
              <a:rPr>
                <a:solidFill>
                  <a:srgbClr val="06287E"/>
                </a:solidFill>
                <a:latin typeface="Courier"/>
              </a:rPr>
              <a:t>round</a:t>
            </a:r>
            <a:r>
              <a:rPr>
                <a:latin typeface="Courier"/>
              </a:rPr>
              <a:t>(</a:t>
            </a:r>
            <a:r>
              <a:rPr>
                <a:solidFill>
                  <a:srgbClr val="06287E"/>
                </a:solidFill>
                <a:latin typeface="Courier"/>
              </a:rPr>
              <a:t>unlist</a:t>
            </a:r>
            <a:r>
              <a:rPr>
                <a:latin typeface="Courier"/>
              </a:rPr>
              <a:t>(res[res</a:t>
            </a:r>
            <a:r>
              <a:rPr>
                <a:solidFill>
                  <a:srgbClr val="4070A0"/>
                </a:solidFill>
                <a:latin typeface="Courier"/>
              </a:rPr>
              <a:t>$</a:t>
            </a:r>
            <a:r>
              <a:rPr>
                <a:latin typeface="Courier"/>
              </a:rPr>
              <a:t>recType </a:t>
            </a:r>
            <a:r>
              <a:rPr>
                <a:solidFill>
                  <a:srgbClr val="4070A0"/>
                </a:solidFill>
                <a:latin typeface="Courier"/>
              </a:rPr>
              <a:t>==</a:t>
            </a:r>
            <a:r>
              <a:rPr>
                <a:latin typeface="Courier"/>
              </a:rPr>
              <a:t> </a:t>
            </a:r>
            <a:r>
              <a:rPr>
                <a:solidFill>
                  <a:srgbClr val="4070A0"/>
                </a:solidFill>
                <a:latin typeface="Courier"/>
              </a:rPr>
              <a:t>"VS"</a:t>
            </a:r>
            <a:r>
              <a:rPr>
                <a:latin typeface="Courier"/>
              </a:rPr>
              <a:t> </a:t>
            </a:r>
            <a:r>
              <a:rPr>
                <a:solidFill>
                  <a:srgbClr val="4070A0"/>
                </a:solidFill>
                <a:latin typeface="Courier"/>
              </a:rPr>
              <a:t>&amp;</a:t>
            </a:r>
            <a:r>
              <a:rPr>
                <a:latin typeface="Courier"/>
              </a:rPr>
              <a:t> res</a:t>
            </a:r>
            <a:r>
              <a:rPr>
                <a:solidFill>
                  <a:srgbClr val="4070A0"/>
                </a:solidFill>
                <a:latin typeface="Courier"/>
              </a:rPr>
              <a:t>$</a:t>
            </a:r>
            <a:r>
              <a:rPr>
                <a:latin typeface="Courier"/>
              </a:rPr>
              <a:t>stratumName </a:t>
            </a:r>
            <a:r>
              <a:rPr>
                <a:solidFill>
                  <a:srgbClr val="4070A0"/>
                </a:solidFill>
                <a:latin typeface="Courier"/>
              </a:rPr>
              <a:t>==</a:t>
            </a:r>
            <a:r>
              <a:rPr>
                <a:latin typeface="Courier"/>
              </a:rPr>
              <a:t> </a:t>
            </a:r>
            <a:r>
              <a:rPr>
                <a:solidFill>
                  <a:srgbClr val="4070A0"/>
                </a:solidFill>
                <a:latin typeface="Courier"/>
              </a:rPr>
              <a:t>"NC"</a:t>
            </a:r>
            <a:r>
              <a:rPr>
                <a:latin typeface="Courier"/>
              </a:rPr>
              <a:t> ,columns2Get]),</a:t>
            </a:r>
            <a:r>
              <a:rPr>
                <a:solidFill>
                  <a:srgbClr val="40A070"/>
                </a:solidFill>
                <a:latin typeface="Courier"/>
              </a:rPr>
              <a:t>1</a:t>
            </a:r>
            <a:r>
              <a:rPr>
                <a:latin typeface="Courier"/>
              </a:rPr>
              <a:t>)</a:t>
            </a:r>
          </a:p>
          <a:p>
            <a:pPr lvl="0" indent="0">
              <a:buNone/>
            </a:pPr>
            <a:r>
              <a:rPr>
                <a:latin typeface="Courier"/>
              </a:rPr>
              <a:t>##   est.total    est.mean    se.total     se.mean 
## 316731379.7    300504.2  16977399.2     16107.6</a:t>
            </a:r>
          </a:p>
          <a:p>
            <a:pPr marL="0" lvl="0" indent="0">
              <a:buNone/>
            </a:pPr>
            <a:r>
              <a:t>How to interpret these results in the above example?</a:t>
            </a:r>
          </a:p>
          <a:p>
            <a:pPr lvl="0"/>
            <a:r>
              <a:rPr i="1"/>
              <a:t>est.total</a:t>
            </a:r>
            <a:r>
              <a:t> - total SAsampWtMes sampled weight per vessel per year in the stratum</a:t>
            </a:r>
          </a:p>
          <a:p>
            <a:pPr lvl="0"/>
            <a:r>
              <a:rPr i="1"/>
              <a:t>est.mean</a:t>
            </a:r>
            <a:r>
              <a:t> - mean SAsampWtMes per vessel per year in the stratum (i.e how much in total one ship on average contributed to the sampled total in this stratum)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Basic Ratio Estimation</a:t>
            </a:r>
          </a:p>
        </p:txBody>
      </p:sp>
      <p:sp>
        <p:nvSpPr>
          <p:cNvPr id="3" name="Content Placeholder 2"/>
          <p:cNvSpPr>
            <a:spLocks noGrp="1"/>
          </p:cNvSpPr>
          <p:nvPr>
            <p:ph idx="1"/>
          </p:nvPr>
        </p:nvSpPr>
        <p:spPr/>
        <p:txBody>
          <a:bodyPr/>
          <a:lstStyle/>
          <a:p>
            <a:pPr marL="0" lvl="0" indent="0">
              <a:buNone/>
            </a:pPr>
            <a:r>
              <a:rPr dirty="0"/>
              <a:t>In practice the data submitters have to prepare </a:t>
            </a:r>
            <a:r>
              <a:rPr dirty="0" err="1"/>
              <a:t>Intercatch</a:t>
            </a:r>
            <a:r>
              <a:rPr dirty="0"/>
              <a:t> data call tables. In the future the estimation functions should be made so that they estimate the values for these tables.</a:t>
            </a:r>
          </a:p>
          <a:p>
            <a:pPr marL="0" lvl="0" indent="0">
              <a:buNone/>
            </a:pPr>
            <a:r>
              <a:rPr dirty="0"/>
              <a:t>The package includes a function </a:t>
            </a:r>
            <a:r>
              <a:rPr b="1" dirty="0" err="1"/>
              <a:t>doBVestimCANUM</a:t>
            </a:r>
            <a:r>
              <a:rPr b="1" dirty="0"/>
              <a:t>(…)</a:t>
            </a:r>
            <a:r>
              <a:rPr dirty="0"/>
              <a:t> that can be used for a basic estimation of the total catch at number (CANUM) for a specified biological variable, such as age or length.</a:t>
            </a:r>
          </a:p>
          <a:p>
            <a:pPr marL="0" lvl="0" indent="0">
              <a:spcBef>
                <a:spcPts val="3000"/>
              </a:spcBef>
              <a:buNone/>
            </a:pPr>
            <a:r>
              <a:rPr b="1" dirty="0"/>
              <a:t>Simple Estimation Example</a:t>
            </a:r>
          </a:p>
          <a:p>
            <a:pPr marL="0" lvl="0" indent="0">
              <a:buNone/>
            </a:pPr>
            <a:r>
              <a:rPr dirty="0"/>
              <a:t>For the simplest case of estimation we need the </a:t>
            </a:r>
            <a:r>
              <a:rPr b="1" dirty="0" err="1"/>
              <a:t>RDBESDataObject</a:t>
            </a:r>
            <a:r>
              <a:rPr dirty="0"/>
              <a:t> with CS tables and a CL table. In the following example we will estimate the total number of sprat caught in the area </a:t>
            </a:r>
            <a:r>
              <a:rPr i="1" dirty="0"/>
              <a:t>27.3.d.28.1</a:t>
            </a:r>
            <a:r>
              <a:rPr dirty="0"/>
              <a:t> with the gear </a:t>
            </a:r>
            <a:r>
              <a:rPr i="1" dirty="0"/>
              <a:t>OTM_SPF_16-31_0_0</a:t>
            </a:r>
            <a:r>
              <a:rPr dirty="0"/>
              <a:t> for the first quarter of the year.</a:t>
            </a:r>
          </a:p>
          <a:p>
            <a:pPr lvl="0" indent="0">
              <a:buNone/>
            </a:pPr>
            <a:r>
              <a:rPr i="1" dirty="0">
                <a:solidFill>
                  <a:srgbClr val="60A0B0"/>
                </a:solidFill>
                <a:latin typeface="Courier"/>
              </a:rPr>
              <a:t>#From the commercial landings table we need to get the total weight of the catches</a:t>
            </a:r>
            <a:br>
              <a:rPr dirty="0"/>
            </a:br>
            <a:r>
              <a:rPr dirty="0" err="1">
                <a:latin typeface="Courier"/>
              </a:rPr>
              <a:t>CLfieldstoSum</a:t>
            </a:r>
            <a:r>
              <a:rPr dirty="0">
                <a:latin typeface="Courier"/>
              </a:rPr>
              <a:t> </a:t>
            </a:r>
            <a:r>
              <a:rPr dirty="0">
                <a:solidFill>
                  <a:srgbClr val="007020"/>
                </a:solidFill>
                <a:latin typeface="Courier"/>
              </a:rPr>
              <a:t>&lt;-</a:t>
            </a:r>
            <a:r>
              <a:rPr dirty="0">
                <a:latin typeface="Courier"/>
              </a:rPr>
              <a:t> </a:t>
            </a:r>
            <a:r>
              <a:rPr dirty="0">
                <a:solidFill>
                  <a:srgbClr val="06287E"/>
                </a:solidFill>
                <a:latin typeface="Courier"/>
              </a:rPr>
              <a:t>c</a:t>
            </a:r>
            <a:r>
              <a:rPr dirty="0">
                <a:latin typeface="Courier"/>
              </a:rPr>
              <a:t>(</a:t>
            </a:r>
            <a:r>
              <a:rPr dirty="0">
                <a:solidFill>
                  <a:srgbClr val="4070A0"/>
                </a:solidFill>
                <a:latin typeface="Courier"/>
              </a:rPr>
              <a:t>"</a:t>
            </a:r>
            <a:r>
              <a:rPr dirty="0" err="1">
                <a:solidFill>
                  <a:srgbClr val="4070A0"/>
                </a:solidFill>
                <a:latin typeface="Courier"/>
              </a:rPr>
              <a:t>CLoffWeight</a:t>
            </a:r>
            <a:r>
              <a:rPr dirty="0">
                <a:solidFill>
                  <a:srgbClr val="4070A0"/>
                </a:solidFill>
                <a:latin typeface="Courier"/>
              </a:rPr>
              <a:t>"</a:t>
            </a:r>
            <a:r>
              <a:rPr dirty="0">
                <a:latin typeface="Courier"/>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Getting the Right Data</a:t>
            </a:r>
          </a:p>
        </p:txBody>
      </p:sp>
      <p:sp>
        <p:nvSpPr>
          <p:cNvPr id="3" name="Content Placeholder 2"/>
          <p:cNvSpPr>
            <a:spLocks noGrp="1"/>
          </p:cNvSpPr>
          <p:nvPr>
            <p:ph idx="1"/>
          </p:nvPr>
        </p:nvSpPr>
        <p:spPr/>
        <p:txBody>
          <a:bodyPr>
            <a:normAutofit lnSpcReduction="10000"/>
          </a:bodyPr>
          <a:lstStyle/>
          <a:p>
            <a:pPr marL="0" lvl="0" indent="0">
              <a:buNone/>
            </a:pPr>
            <a:r>
              <a:rPr dirty="0"/>
              <a:t>The most important thing in this estimation is to </a:t>
            </a:r>
            <a:r>
              <a:rPr b="1" dirty="0"/>
              <a:t>get the same strata for the CS and CL tables</a:t>
            </a:r>
            <a:r>
              <a:rPr dirty="0"/>
              <a:t>. This means we want to take the samples from the same area, with the same gear and the same species. Exactly how this is done depends on the upper and lower hierarchy used and how the sampling is stratified. In the following example we are using the lower hierarchy C meaning that we are extracting the BV data as the biological data.</a:t>
            </a:r>
          </a:p>
          <a:p>
            <a:pPr lvl="0" indent="0">
              <a:buNone/>
            </a:pPr>
            <a:r>
              <a:rPr i="1" dirty="0">
                <a:solidFill>
                  <a:srgbClr val="60A0B0"/>
                </a:solidFill>
                <a:latin typeface="Courier"/>
              </a:rPr>
              <a:t>#get the first quarter data from CS </a:t>
            </a:r>
            <a:br>
              <a:rPr dirty="0"/>
            </a:br>
            <a:r>
              <a:rPr dirty="0" err="1">
                <a:latin typeface="Courier"/>
              </a:rPr>
              <a:t>strataListCS</a:t>
            </a:r>
            <a:r>
              <a:rPr dirty="0">
                <a:latin typeface="Courier"/>
              </a:rPr>
              <a:t> </a:t>
            </a:r>
            <a:r>
              <a:rPr dirty="0">
                <a:solidFill>
                  <a:srgbClr val="007020"/>
                </a:solidFill>
                <a:latin typeface="Courier"/>
              </a:rPr>
              <a:t>&lt;-</a:t>
            </a:r>
            <a:r>
              <a:rPr dirty="0">
                <a:latin typeface="Courier"/>
              </a:rPr>
              <a:t> </a:t>
            </a:r>
            <a:r>
              <a:rPr dirty="0">
                <a:solidFill>
                  <a:srgbClr val="06287E"/>
                </a:solidFill>
                <a:latin typeface="Courier"/>
              </a:rPr>
              <a:t>list</a:t>
            </a:r>
            <a:r>
              <a:rPr dirty="0">
                <a:latin typeface="Courier"/>
              </a:rPr>
              <a:t>(</a:t>
            </a:r>
            <a:r>
              <a:rPr dirty="0" err="1">
                <a:solidFill>
                  <a:srgbClr val="7D9029"/>
                </a:solidFill>
                <a:latin typeface="Courier"/>
              </a:rPr>
              <a:t>LEarea</a:t>
            </a:r>
            <a:r>
              <a:rPr dirty="0">
                <a:solidFill>
                  <a:srgbClr val="7D9029"/>
                </a:solidFill>
                <a:latin typeface="Courier"/>
              </a:rPr>
              <a:t>=</a:t>
            </a:r>
            <a:r>
              <a:rPr dirty="0">
                <a:solidFill>
                  <a:srgbClr val="4070A0"/>
                </a:solidFill>
                <a:latin typeface="Courier"/>
              </a:rPr>
              <a:t>"27.3.d.28.1"</a:t>
            </a:r>
            <a:r>
              <a:rPr dirty="0">
                <a:latin typeface="Courier"/>
              </a:rPr>
              <a:t>,</a:t>
            </a:r>
            <a:br>
              <a:rPr dirty="0"/>
            </a:br>
            <a:r>
              <a:rPr dirty="0">
                <a:latin typeface="Courier"/>
              </a:rPr>
              <a:t>                     </a:t>
            </a:r>
            <a:r>
              <a:rPr dirty="0">
                <a:solidFill>
                  <a:srgbClr val="7D9029"/>
                </a:solidFill>
                <a:latin typeface="Courier"/>
              </a:rPr>
              <a:t>LEmetier6 =</a:t>
            </a:r>
            <a:r>
              <a:rPr dirty="0">
                <a:latin typeface="Courier"/>
              </a:rPr>
              <a:t> </a:t>
            </a:r>
            <a:r>
              <a:rPr dirty="0">
                <a:solidFill>
                  <a:srgbClr val="4070A0"/>
                </a:solidFill>
                <a:latin typeface="Courier"/>
              </a:rPr>
              <a:t>"OTM_SPF_16-31_0_0"</a:t>
            </a:r>
            <a:r>
              <a:rPr dirty="0">
                <a:latin typeface="Courier"/>
              </a:rPr>
              <a:t>,</a:t>
            </a:r>
            <a:br>
              <a:rPr dirty="0"/>
            </a:br>
            <a:r>
              <a:rPr dirty="0">
                <a:latin typeface="Courier"/>
              </a:rPr>
              <a:t>                     </a:t>
            </a:r>
            <a:r>
              <a:rPr dirty="0" err="1">
                <a:solidFill>
                  <a:srgbClr val="7D9029"/>
                </a:solidFill>
                <a:latin typeface="Courier"/>
              </a:rPr>
              <a:t>TEstratumName</a:t>
            </a:r>
            <a:r>
              <a:rPr dirty="0">
                <a:solidFill>
                  <a:srgbClr val="7D9029"/>
                </a:solidFill>
                <a:latin typeface="Courier"/>
              </a:rPr>
              <a:t> =</a:t>
            </a:r>
            <a:r>
              <a:rPr dirty="0">
                <a:latin typeface="Courier"/>
              </a:rPr>
              <a:t> month.name[</a:t>
            </a:r>
            <a:r>
              <a:rPr dirty="0">
                <a:solidFill>
                  <a:srgbClr val="40A070"/>
                </a:solidFill>
                <a:latin typeface="Courier"/>
              </a:rPr>
              <a:t>1</a:t>
            </a:r>
            <a:r>
              <a:rPr dirty="0">
                <a:solidFill>
                  <a:srgbClr val="4070A0"/>
                </a:solidFill>
                <a:latin typeface="Courier"/>
              </a:rPr>
              <a:t>:</a:t>
            </a:r>
            <a:r>
              <a:rPr dirty="0">
                <a:solidFill>
                  <a:srgbClr val="40A070"/>
                </a:solidFill>
                <a:latin typeface="Courier"/>
              </a:rPr>
              <a:t>3</a:t>
            </a:r>
            <a:r>
              <a:rPr dirty="0">
                <a:latin typeface="Courier"/>
              </a:rPr>
              <a:t>],</a:t>
            </a:r>
            <a:br>
              <a:rPr dirty="0"/>
            </a:br>
            <a:r>
              <a:rPr dirty="0">
                <a:latin typeface="Courier"/>
              </a:rPr>
              <a:t>                    </a:t>
            </a:r>
            <a:r>
              <a:rPr dirty="0" err="1">
                <a:solidFill>
                  <a:srgbClr val="7D9029"/>
                </a:solidFill>
                <a:latin typeface="Courier"/>
              </a:rPr>
              <a:t>SAspeCodeFAO</a:t>
            </a:r>
            <a:r>
              <a:rPr dirty="0">
                <a:solidFill>
                  <a:srgbClr val="7D9029"/>
                </a:solidFill>
                <a:latin typeface="Courier"/>
              </a:rPr>
              <a:t> =</a:t>
            </a:r>
            <a:r>
              <a:rPr dirty="0">
                <a:latin typeface="Courier"/>
              </a:rPr>
              <a:t> </a:t>
            </a:r>
            <a:r>
              <a:rPr dirty="0">
                <a:solidFill>
                  <a:srgbClr val="4070A0"/>
                </a:solidFill>
                <a:latin typeface="Courier"/>
              </a:rPr>
              <a:t>"SPR"</a:t>
            </a:r>
            <a:r>
              <a:rPr dirty="0">
                <a:latin typeface="Courier"/>
              </a:rPr>
              <a:t>)</a:t>
            </a:r>
            <a:br>
              <a:rPr dirty="0"/>
            </a:br>
            <a:br>
              <a:rPr dirty="0"/>
            </a:br>
            <a:r>
              <a:rPr i="1" dirty="0">
                <a:solidFill>
                  <a:srgbClr val="60A0B0"/>
                </a:solidFill>
                <a:latin typeface="Courier"/>
              </a:rPr>
              <a:t>#get the first quarter data from CL table</a:t>
            </a:r>
            <a:br>
              <a:rPr dirty="0"/>
            </a:br>
            <a:r>
              <a:rPr dirty="0" err="1">
                <a:latin typeface="Courier"/>
              </a:rPr>
              <a:t>strataListCL</a:t>
            </a:r>
            <a:r>
              <a:rPr dirty="0">
                <a:latin typeface="Courier"/>
              </a:rPr>
              <a:t> </a:t>
            </a:r>
            <a:r>
              <a:rPr dirty="0">
                <a:solidFill>
                  <a:srgbClr val="007020"/>
                </a:solidFill>
                <a:latin typeface="Courier"/>
              </a:rPr>
              <a:t>&lt;-</a:t>
            </a:r>
            <a:r>
              <a:rPr dirty="0">
                <a:latin typeface="Courier"/>
              </a:rPr>
              <a:t> </a:t>
            </a:r>
            <a:r>
              <a:rPr dirty="0">
                <a:solidFill>
                  <a:srgbClr val="06287E"/>
                </a:solidFill>
                <a:latin typeface="Courier"/>
              </a:rPr>
              <a:t>list</a:t>
            </a:r>
            <a:r>
              <a:rPr dirty="0">
                <a:latin typeface="Courier"/>
              </a:rPr>
              <a:t>(</a:t>
            </a:r>
            <a:r>
              <a:rPr dirty="0" err="1">
                <a:solidFill>
                  <a:srgbClr val="7D9029"/>
                </a:solidFill>
                <a:latin typeface="Courier"/>
              </a:rPr>
              <a:t>CLarea</a:t>
            </a:r>
            <a:r>
              <a:rPr dirty="0">
                <a:solidFill>
                  <a:srgbClr val="7D9029"/>
                </a:solidFill>
                <a:latin typeface="Courier"/>
              </a:rPr>
              <a:t>=</a:t>
            </a:r>
            <a:r>
              <a:rPr dirty="0">
                <a:solidFill>
                  <a:srgbClr val="4070A0"/>
                </a:solidFill>
                <a:latin typeface="Courier"/>
              </a:rPr>
              <a:t>"27.3.d.28.1"</a:t>
            </a:r>
            <a:r>
              <a:rPr dirty="0">
                <a:latin typeface="Courier"/>
              </a:rPr>
              <a:t>,</a:t>
            </a:r>
            <a:br>
              <a:rPr dirty="0"/>
            </a:br>
            <a:r>
              <a:rPr dirty="0">
                <a:latin typeface="Courier"/>
              </a:rPr>
              <a:t>                     </a:t>
            </a:r>
            <a:r>
              <a:rPr dirty="0" err="1">
                <a:solidFill>
                  <a:srgbClr val="7D9029"/>
                </a:solidFill>
                <a:latin typeface="Courier"/>
              </a:rPr>
              <a:t>CLquar</a:t>
            </a:r>
            <a:r>
              <a:rPr dirty="0">
                <a:solidFill>
                  <a:srgbClr val="7D9029"/>
                </a:solidFill>
                <a:latin typeface="Courier"/>
              </a:rPr>
              <a:t> =</a:t>
            </a:r>
            <a:r>
              <a:rPr dirty="0">
                <a:latin typeface="Courier"/>
              </a:rPr>
              <a:t> </a:t>
            </a:r>
            <a:r>
              <a:rPr dirty="0">
                <a:solidFill>
                  <a:srgbClr val="40A070"/>
                </a:solidFill>
                <a:latin typeface="Courier"/>
              </a:rPr>
              <a:t>1</a:t>
            </a:r>
            <a:r>
              <a:rPr dirty="0">
                <a:latin typeface="Courier"/>
              </a:rPr>
              <a:t>,</a:t>
            </a:r>
            <a:br>
              <a:rPr dirty="0"/>
            </a:br>
            <a:r>
              <a:rPr dirty="0">
                <a:latin typeface="Courier"/>
              </a:rPr>
              <a:t>                     </a:t>
            </a:r>
            <a:r>
              <a:rPr dirty="0">
                <a:solidFill>
                  <a:srgbClr val="7D9029"/>
                </a:solidFill>
                <a:latin typeface="Courier"/>
              </a:rPr>
              <a:t>CLmetier6 =</a:t>
            </a:r>
            <a:r>
              <a:rPr dirty="0">
                <a:latin typeface="Courier"/>
              </a:rPr>
              <a:t> </a:t>
            </a:r>
            <a:r>
              <a:rPr dirty="0">
                <a:solidFill>
                  <a:srgbClr val="4070A0"/>
                </a:solidFill>
                <a:latin typeface="Courier"/>
              </a:rPr>
              <a:t>"OTM_SPF_16-31_0_0"</a:t>
            </a:r>
            <a:r>
              <a:rPr dirty="0">
                <a:latin typeface="Courier"/>
              </a:rPr>
              <a:t>,</a:t>
            </a:r>
            <a:br>
              <a:rPr dirty="0"/>
            </a:br>
            <a:r>
              <a:rPr dirty="0">
                <a:latin typeface="Courier"/>
              </a:rPr>
              <a:t>                     </a:t>
            </a:r>
            <a:r>
              <a:rPr dirty="0" err="1">
                <a:solidFill>
                  <a:srgbClr val="7D9029"/>
                </a:solidFill>
                <a:latin typeface="Courier"/>
              </a:rPr>
              <a:t>CLspecFAO</a:t>
            </a:r>
            <a:r>
              <a:rPr dirty="0">
                <a:solidFill>
                  <a:srgbClr val="7D9029"/>
                </a:solidFill>
                <a:latin typeface="Courier"/>
              </a:rPr>
              <a:t> =</a:t>
            </a:r>
            <a:r>
              <a:rPr dirty="0">
                <a:latin typeface="Courier"/>
              </a:rPr>
              <a:t> </a:t>
            </a:r>
            <a:r>
              <a:rPr dirty="0">
                <a:solidFill>
                  <a:srgbClr val="4070A0"/>
                </a:solidFill>
                <a:latin typeface="Courier"/>
              </a:rPr>
              <a:t>"SPR"</a:t>
            </a:r>
            <a:r>
              <a:rPr dirty="0">
                <a:latin typeface="Courier"/>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Adding CL data to the lower hierarchy</a:t>
            </a:r>
          </a:p>
        </p:txBody>
      </p:sp>
      <p:sp>
        <p:nvSpPr>
          <p:cNvPr id="3" name="Content Placeholder 2"/>
          <p:cNvSpPr>
            <a:spLocks noGrp="1"/>
          </p:cNvSpPr>
          <p:nvPr>
            <p:ph idx="1"/>
          </p:nvPr>
        </p:nvSpPr>
        <p:spPr/>
        <p:txBody>
          <a:bodyPr/>
          <a:lstStyle/>
          <a:p>
            <a:pPr marL="0" lvl="0" indent="0">
              <a:buNone/>
            </a:pPr>
            <a:r>
              <a:t>The function </a:t>
            </a:r>
            <a:r>
              <a:rPr b="1"/>
              <a:t>addCLtoLowerCS(…)</a:t>
            </a:r>
            <a:r>
              <a:t> can be used to add the commercial landings (CL) data to the lower hierarchy, enabling estimation of biological variables using corresponding landing weights.</a:t>
            </a:r>
          </a:p>
          <a:p>
            <a:pPr lvl="0" indent="0">
              <a:buNone/>
            </a:pPr>
            <a:r>
              <a:rPr i="1">
                <a:solidFill>
                  <a:srgbClr val="60A0B0"/>
                </a:solidFill>
                <a:latin typeface="Courier"/>
              </a:rPr>
              <a:t>#we are using the lower hierarchy C meaning that we are extracting the BV data</a:t>
            </a:r>
            <a:br/>
            <a:r>
              <a:rPr i="1">
                <a:solidFill>
                  <a:srgbClr val="60A0B0"/>
                </a:solidFill>
                <a:latin typeface="Courier"/>
              </a:rPr>
              <a:t>#as the biological data</a:t>
            </a:r>
            <a:br/>
            <a:r>
              <a:rPr>
                <a:latin typeface="Courier"/>
              </a:rPr>
              <a:t>biolCLQ1 </a:t>
            </a:r>
            <a:r>
              <a:rPr>
                <a:solidFill>
                  <a:srgbClr val="007020"/>
                </a:solidFill>
                <a:latin typeface="Courier"/>
              </a:rPr>
              <a:t>&lt;-</a:t>
            </a:r>
            <a:r>
              <a:rPr>
                <a:latin typeface="Courier"/>
              </a:rPr>
              <a:t> </a:t>
            </a:r>
            <a:r>
              <a:rPr>
                <a:solidFill>
                  <a:srgbClr val="06287E"/>
                </a:solidFill>
                <a:latin typeface="Courier"/>
              </a:rPr>
              <a:t>addCLtoLowerCS</a:t>
            </a:r>
            <a:r>
              <a:rPr>
                <a:latin typeface="Courier"/>
              </a:rPr>
              <a:t>(H8ExampleEE1, strataListCS, strataListCL,</a:t>
            </a:r>
            <a:br/>
            <a:r>
              <a:rPr>
                <a:latin typeface="Courier"/>
              </a:rPr>
              <a:t>                         </a:t>
            </a:r>
            <a:r>
              <a:rPr>
                <a:solidFill>
                  <a:srgbClr val="7D9029"/>
                </a:solidFill>
                <a:latin typeface="Courier"/>
              </a:rPr>
              <a:t>combineStrata =</a:t>
            </a:r>
            <a:r>
              <a:rPr>
                <a:latin typeface="Courier"/>
              </a:rPr>
              <a:t>T, </a:t>
            </a:r>
            <a:r>
              <a:rPr>
                <a:solidFill>
                  <a:srgbClr val="7D9029"/>
                </a:solidFill>
                <a:latin typeface="Courier"/>
              </a:rPr>
              <a:t>lowerHierarchy =</a:t>
            </a:r>
            <a:r>
              <a:rPr>
                <a:latin typeface="Courier"/>
              </a:rPr>
              <a:t> </a:t>
            </a:r>
            <a:r>
              <a:rPr>
                <a:solidFill>
                  <a:srgbClr val="4070A0"/>
                </a:solidFill>
                <a:latin typeface="Courier"/>
              </a:rPr>
              <a:t>"C"</a:t>
            </a:r>
            <a:r>
              <a:rPr>
                <a:latin typeface="Courier"/>
              </a:rPr>
              <a:t>,</a:t>
            </a:r>
            <a:br/>
            <a:r>
              <a:rPr>
                <a:latin typeface="Courier"/>
              </a:rPr>
              <a:t>                         </a:t>
            </a:r>
            <a:r>
              <a:rPr>
                <a:solidFill>
                  <a:srgbClr val="7D9029"/>
                </a:solidFill>
                <a:latin typeface="Courier"/>
              </a:rPr>
              <a:t>CLfields =</a:t>
            </a:r>
            <a:r>
              <a:rPr>
                <a:latin typeface="Courier"/>
              </a:rPr>
              <a:t> CLfieldstoSum)</a:t>
            </a:r>
          </a:p>
          <a:p>
            <a:pPr lvl="0" indent="0">
              <a:buNone/>
            </a:pPr>
            <a:r>
              <a:rPr>
                <a:latin typeface="Courier"/>
              </a:rPr>
              <a:t>## Warning in getLowerTableSubsets(strataListCS, tblName, rdbes, combineStrata = combineStrata): TEstratumName is collapsed in the result into: "January|February|March"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6844936" cy="871538"/>
          </a:xfrm>
        </p:spPr>
        <p:txBody>
          <a:bodyPr/>
          <a:lstStyle/>
          <a:p>
            <a:pPr marL="0" lvl="0" indent="0">
              <a:buNone/>
            </a:pPr>
            <a:r>
              <a:t>Estimation based on CL and BV</a:t>
            </a:r>
          </a:p>
        </p:txBody>
      </p:sp>
      <p:sp>
        <p:nvSpPr>
          <p:cNvPr id="4" name="Text Placeholder 3"/>
          <p:cNvSpPr>
            <a:spLocks noGrp="1"/>
          </p:cNvSpPr>
          <p:nvPr>
            <p:ph type="body" sz="half" idx="2"/>
          </p:nvPr>
        </p:nvSpPr>
        <p:spPr/>
        <p:txBody>
          <a:bodyPr>
            <a:normAutofit lnSpcReduction="10000"/>
          </a:bodyPr>
          <a:lstStyle/>
          <a:p>
            <a:pPr marL="0" lvl="0" indent="0">
              <a:buNone/>
            </a:pPr>
            <a:r>
              <a:t>To estimate the total number of sprat caught in the area 27.3.d.28.1 with the gear OTM_SPF_16-31_0_0 for the first quarter of the year we need to use the function </a:t>
            </a:r>
            <a:r>
              <a:rPr b="1"/>
              <a:t>doBVestimCANUM(…)</a:t>
            </a:r>
            <a:r>
              <a:t>. Details on this function and the overall estimation workflow are provided in the vignettes. The output table should be enough to populate a classic InterCatch data call table.</a:t>
            </a:r>
          </a:p>
          <a:p>
            <a:pPr lvl="0" indent="0">
              <a:buNone/>
            </a:pPr>
            <a:r>
              <a:rPr>
                <a:latin typeface="Courier"/>
              </a:rPr>
              <a:t>lenCANUMQ1 </a:t>
            </a:r>
            <a:r>
              <a:rPr>
                <a:solidFill>
                  <a:srgbClr val="007020"/>
                </a:solidFill>
                <a:latin typeface="Courier"/>
              </a:rPr>
              <a:t>&lt;-</a:t>
            </a:r>
            <a:r>
              <a:rPr>
                <a:latin typeface="Courier"/>
              </a:rPr>
              <a:t> </a:t>
            </a:r>
            <a:r>
              <a:rPr>
                <a:solidFill>
                  <a:srgbClr val="06287E"/>
                </a:solidFill>
                <a:latin typeface="Courier"/>
              </a:rPr>
              <a:t>doBVestimCANUM</a:t>
            </a:r>
            <a:r>
              <a:rPr>
                <a:latin typeface="Courier"/>
              </a:rPr>
              <a:t>(biolCLQ1, </a:t>
            </a:r>
            <a:r>
              <a:rPr>
                <a:solidFill>
                  <a:srgbClr val="06287E"/>
                </a:solidFill>
                <a:latin typeface="Courier"/>
              </a:rPr>
              <a:t>c</a:t>
            </a:r>
            <a:r>
              <a:rPr>
                <a:latin typeface="Courier"/>
              </a:rPr>
              <a:t>(</a:t>
            </a:r>
            <a:r>
              <a:rPr>
                <a:solidFill>
                  <a:srgbClr val="4070A0"/>
                </a:solidFill>
                <a:latin typeface="Courier"/>
              </a:rPr>
              <a:t>"sumCLoffWeight"</a:t>
            </a:r>
            <a:r>
              <a:rPr>
                <a:latin typeface="Courier"/>
              </a:rPr>
              <a:t>),</a:t>
            </a:r>
            <a:br/>
            <a:r>
              <a:rPr>
                <a:latin typeface="Courier"/>
              </a:rPr>
              <a:t>             </a:t>
            </a:r>
            <a:r>
              <a:rPr>
                <a:solidFill>
                  <a:srgbClr val="7D9029"/>
                </a:solidFill>
                <a:latin typeface="Courier"/>
              </a:rPr>
              <a:t>classUnits =</a:t>
            </a:r>
            <a:r>
              <a:rPr>
                <a:latin typeface="Courier"/>
              </a:rPr>
              <a:t> </a:t>
            </a:r>
            <a:r>
              <a:rPr>
                <a:solidFill>
                  <a:srgbClr val="4070A0"/>
                </a:solidFill>
                <a:latin typeface="Courier"/>
              </a:rPr>
              <a:t>"Lengthmm"</a:t>
            </a:r>
            <a:r>
              <a:rPr>
                <a:latin typeface="Courier"/>
              </a:rPr>
              <a:t>,</a:t>
            </a:r>
            <a:br/>
            <a:r>
              <a:rPr>
                <a:latin typeface="Courier"/>
              </a:rPr>
              <a:t>             </a:t>
            </a:r>
            <a:r>
              <a:rPr>
                <a:solidFill>
                  <a:srgbClr val="7D9029"/>
                </a:solidFill>
                <a:latin typeface="Courier"/>
              </a:rPr>
              <a:t>classBreaks =</a:t>
            </a:r>
            <a:r>
              <a:rPr>
                <a:latin typeface="Courier"/>
              </a:rPr>
              <a:t> </a:t>
            </a:r>
            <a:r>
              <a:rPr>
                <a:solidFill>
                  <a:srgbClr val="06287E"/>
                </a:solidFill>
                <a:latin typeface="Courier"/>
              </a:rPr>
              <a:t>seq</a:t>
            </a:r>
            <a:r>
              <a:rPr>
                <a:latin typeface="Courier"/>
              </a:rPr>
              <a:t>(</a:t>
            </a:r>
            <a:r>
              <a:rPr>
                <a:solidFill>
                  <a:srgbClr val="40A070"/>
                </a:solidFill>
                <a:latin typeface="Courier"/>
              </a:rPr>
              <a:t>70</a:t>
            </a:r>
            <a:r>
              <a:rPr>
                <a:latin typeface="Courier"/>
              </a:rPr>
              <a:t>,</a:t>
            </a:r>
            <a:r>
              <a:rPr>
                <a:solidFill>
                  <a:srgbClr val="40A070"/>
                </a:solidFill>
                <a:latin typeface="Courier"/>
              </a:rPr>
              <a:t>130</a:t>
            </a:r>
            <a:r>
              <a:rPr>
                <a:latin typeface="Courier"/>
              </a:rPr>
              <a:t>,</a:t>
            </a:r>
            <a:r>
              <a:rPr>
                <a:solidFill>
                  <a:srgbClr val="40A070"/>
                </a:solidFill>
                <a:latin typeface="Courier"/>
              </a:rPr>
              <a:t>10</a:t>
            </a:r>
            <a:r>
              <a:rPr>
                <a:latin typeface="Courier"/>
              </a:rPr>
              <a:t>),</a:t>
            </a:r>
            <a:br/>
            <a:r>
              <a:rPr>
                <a:latin typeface="Courier"/>
              </a:rPr>
              <a:t>             </a:t>
            </a:r>
            <a:r>
              <a:rPr>
                <a:solidFill>
                  <a:srgbClr val="7D9029"/>
                </a:solidFill>
                <a:latin typeface="Courier"/>
              </a:rPr>
              <a:t>verbose =</a:t>
            </a:r>
            <a:r>
              <a:rPr>
                <a:latin typeface="Courier"/>
              </a:rPr>
              <a:t> </a:t>
            </a:r>
            <a:r>
              <a:rPr>
                <a:solidFill>
                  <a:srgbClr val="880000"/>
                </a:solidFill>
                <a:latin typeface="Courier"/>
              </a:rPr>
              <a:t>FALSE</a:t>
            </a:r>
            <a:r>
              <a:rPr>
                <a:latin typeface="Courier"/>
              </a:rPr>
              <a:t>)</a:t>
            </a:r>
            <a:br/>
            <a:br/>
            <a:r>
              <a:rPr>
                <a:latin typeface="Courier"/>
              </a:rPr>
              <a:t>knitr</a:t>
            </a:r>
            <a:r>
              <a:rPr>
                <a:solidFill>
                  <a:srgbClr val="4070A0"/>
                </a:solidFill>
                <a:latin typeface="Courier"/>
              </a:rPr>
              <a:t>::</a:t>
            </a:r>
            <a:r>
              <a:rPr>
                <a:solidFill>
                  <a:srgbClr val="06287E"/>
                </a:solidFill>
                <a:latin typeface="Courier"/>
              </a:rPr>
              <a:t>kable</a:t>
            </a:r>
            <a:r>
              <a:rPr>
                <a:latin typeface="Courier"/>
              </a:rPr>
              <a:t>(lenCANUMQ1[</a:t>
            </a:r>
            <a:r>
              <a:rPr>
                <a:solidFill>
                  <a:srgbClr val="06287E"/>
                </a:solidFill>
                <a:latin typeface="Courier"/>
              </a:rPr>
              <a:t>order</a:t>
            </a:r>
            <a:r>
              <a:rPr>
                <a:latin typeface="Courier"/>
              </a:rPr>
              <a:t>(lenCANUMQ1</a:t>
            </a:r>
            <a:r>
              <a:rPr>
                <a:solidFill>
                  <a:srgbClr val="4070A0"/>
                </a:solidFill>
                <a:latin typeface="Courier"/>
              </a:rPr>
              <a:t>$</a:t>
            </a:r>
            <a:r>
              <a:rPr>
                <a:latin typeface="Courier"/>
              </a:rPr>
              <a:t>LengthmmMean), </a:t>
            </a:r>
            <a:r>
              <a:rPr>
                <a:solidFill>
                  <a:srgbClr val="06287E"/>
                </a:solidFill>
                <a:latin typeface="Courier"/>
              </a:rPr>
              <a:t>c</a:t>
            </a:r>
            <a:r>
              <a:rPr>
                <a:latin typeface="Courier"/>
              </a:rPr>
              <a:t>(</a:t>
            </a:r>
            <a:r>
              <a:rPr>
                <a:solidFill>
                  <a:srgbClr val="4070A0"/>
                </a:solidFill>
                <a:latin typeface="Courier"/>
              </a:rPr>
              <a:t>"Group"</a:t>
            </a:r>
            <a:r>
              <a:rPr>
                <a:latin typeface="Courier"/>
              </a:rPr>
              <a:t>, </a:t>
            </a:r>
            <a:r>
              <a:rPr>
                <a:solidFill>
                  <a:srgbClr val="4070A0"/>
                </a:solidFill>
                <a:latin typeface="Courier"/>
              </a:rPr>
              <a:t>"WeightgMean"</a:t>
            </a:r>
            <a:r>
              <a:rPr>
                <a:latin typeface="Courier"/>
              </a:rPr>
              <a:t>, </a:t>
            </a:r>
            <a:r>
              <a:rPr>
                <a:solidFill>
                  <a:srgbClr val="4070A0"/>
                </a:solidFill>
                <a:latin typeface="Courier"/>
              </a:rPr>
              <a:t>"LengthmmMean"</a:t>
            </a:r>
            <a:r>
              <a:rPr>
                <a:latin typeface="Courier"/>
              </a:rPr>
              <a:t>, </a:t>
            </a:r>
            <a:r>
              <a:rPr>
                <a:solidFill>
                  <a:srgbClr val="4070A0"/>
                </a:solidFill>
                <a:latin typeface="Courier"/>
              </a:rPr>
              <a:t>"totNum"</a:t>
            </a:r>
            <a:r>
              <a:rPr>
                <a:latin typeface="Courier"/>
              </a:rPr>
              <a:t>)],</a:t>
            </a:r>
            <a:br/>
            <a:r>
              <a:rPr>
                <a:latin typeface="Courier"/>
              </a:rPr>
              <a:t>             </a:t>
            </a:r>
            <a:r>
              <a:rPr>
                <a:solidFill>
                  <a:srgbClr val="7D9029"/>
                </a:solidFill>
                <a:latin typeface="Courier"/>
              </a:rPr>
              <a:t>digits =</a:t>
            </a:r>
            <a:r>
              <a:rPr>
                <a:latin typeface="Courier"/>
              </a:rPr>
              <a:t> </a:t>
            </a:r>
            <a:r>
              <a:rPr>
                <a:solidFill>
                  <a:srgbClr val="40A070"/>
                </a:solidFill>
                <a:latin typeface="Courier"/>
              </a:rPr>
              <a:t>2</a:t>
            </a:r>
            <a:r>
              <a:rPr>
                <a:latin typeface="Courier"/>
              </a:rPr>
              <a:t>)</a:t>
            </a:r>
          </a:p>
        </p:txBody>
      </p:sp>
      <p:graphicFrame>
        <p:nvGraphicFramePr>
          <p:cNvPr id="6" name="Content Placeholder 5"/>
          <p:cNvGraphicFramePr>
            <a:graphicFrameLocks noGrp="1"/>
          </p:cNvGraphicFramePr>
          <p:nvPr>
            <p:ph idx="1"/>
          </p:nvPr>
        </p:nvGraphicFramePr>
        <p:xfrm>
          <a:off x="6616700" y="1435100"/>
          <a:ext cx="5080000" cy="3749040"/>
        </p:xfrm>
        <a:graphic>
          <a:graphicData uri="http://schemas.openxmlformats.org/drawingml/2006/table">
            <a:tbl>
              <a:tblPr firstRow="1" bandRow="1">
                <a:tableStyleId>{9D7B26C5-4107-4FEC-AEDC-1716B250A1EF}</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0">
                <a:tc>
                  <a:txBody>
                    <a:bodyPr/>
                    <a:lstStyle/>
                    <a:p>
                      <a:pPr marL="0" lvl="0" indent="0" algn="l">
                        <a:buNone/>
                      </a:pPr>
                      <a:r>
                        <a:t>Group</a:t>
                      </a:r>
                    </a:p>
                  </a:txBody>
                  <a:tcPr/>
                </a:tc>
                <a:tc>
                  <a:txBody>
                    <a:bodyPr/>
                    <a:lstStyle/>
                    <a:p>
                      <a:pPr marL="0" lvl="0" indent="0" algn="r">
                        <a:buNone/>
                      </a:pPr>
                      <a:r>
                        <a:t>WeightgMean</a:t>
                      </a:r>
                    </a:p>
                  </a:txBody>
                  <a:tcPr/>
                </a:tc>
                <a:tc>
                  <a:txBody>
                    <a:bodyPr/>
                    <a:lstStyle/>
                    <a:p>
                      <a:pPr marL="0" lvl="0" indent="0" algn="r">
                        <a:buNone/>
                      </a:pPr>
                      <a:r>
                        <a:t>LengthmmMean</a:t>
                      </a:r>
                    </a:p>
                  </a:txBody>
                  <a:tcPr/>
                </a:tc>
                <a:tc>
                  <a:txBody>
                    <a:bodyPr/>
                    <a:lstStyle/>
                    <a:p>
                      <a:pPr marL="0" lvl="0" indent="0" algn="r">
                        <a:buNone/>
                      </a:pPr>
                      <a:r>
                        <a:t>totNum</a:t>
                      </a:r>
                    </a:p>
                  </a:txBody>
                  <a:tcPr/>
                </a:tc>
                <a:extLst>
                  <a:ext uri="{0D108BD9-81ED-4DB2-BD59-A6C34878D82A}">
                    <a16:rowId xmlns:a16="http://schemas.microsoft.com/office/drawing/2014/main" val="10000"/>
                  </a:ext>
                </a:extLst>
              </a:tr>
              <a:tr h="0">
                <a:tc>
                  <a:txBody>
                    <a:bodyPr/>
                    <a:lstStyle/>
                    <a:p>
                      <a:pPr marL="0" lvl="0" indent="0" algn="l">
                        <a:buNone/>
                      </a:pPr>
                      <a:r>
                        <a:t>70-80</a:t>
                      </a:r>
                    </a:p>
                  </a:txBody>
                  <a:tcPr/>
                </a:tc>
                <a:tc>
                  <a:txBody>
                    <a:bodyPr/>
                    <a:lstStyle/>
                    <a:p>
                      <a:pPr marL="0" lvl="0" indent="0" algn="r">
                        <a:buNone/>
                      </a:pPr>
                      <a:r>
                        <a:t>2.50</a:t>
                      </a:r>
                    </a:p>
                  </a:txBody>
                  <a:tcPr/>
                </a:tc>
                <a:tc>
                  <a:txBody>
                    <a:bodyPr/>
                    <a:lstStyle/>
                    <a:p>
                      <a:pPr marL="0" lvl="0" indent="0" algn="r">
                        <a:buNone/>
                      </a:pPr>
                      <a:r>
                        <a:t>75.50</a:t>
                      </a:r>
                    </a:p>
                  </a:txBody>
                  <a:tcPr/>
                </a:tc>
                <a:tc>
                  <a:txBody>
                    <a:bodyPr/>
                    <a:lstStyle/>
                    <a:p>
                      <a:pPr marL="0" lvl="0" indent="0" algn="r">
                        <a:buNone/>
                      </a:pPr>
                      <a:r>
                        <a:t>219519.1</a:t>
                      </a:r>
                    </a:p>
                  </a:txBody>
                  <a:tcPr/>
                </a:tc>
                <a:extLst>
                  <a:ext uri="{0D108BD9-81ED-4DB2-BD59-A6C34878D82A}">
                    <a16:rowId xmlns:a16="http://schemas.microsoft.com/office/drawing/2014/main" val="10001"/>
                  </a:ext>
                </a:extLst>
              </a:tr>
              <a:tr h="0">
                <a:tc>
                  <a:txBody>
                    <a:bodyPr/>
                    <a:lstStyle/>
                    <a:p>
                      <a:pPr marL="0" lvl="0" indent="0" algn="l">
                        <a:buNone/>
                      </a:pPr>
                      <a:r>
                        <a:t>80-90</a:t>
                      </a:r>
                    </a:p>
                  </a:txBody>
                  <a:tcPr/>
                </a:tc>
                <a:tc>
                  <a:txBody>
                    <a:bodyPr/>
                    <a:lstStyle/>
                    <a:p>
                      <a:pPr marL="0" lvl="0" indent="0" algn="r">
                        <a:buNone/>
                      </a:pPr>
                      <a:r>
                        <a:t>3.63</a:t>
                      </a:r>
                    </a:p>
                  </a:txBody>
                  <a:tcPr/>
                </a:tc>
                <a:tc>
                  <a:txBody>
                    <a:bodyPr/>
                    <a:lstStyle/>
                    <a:p>
                      <a:pPr marL="0" lvl="0" indent="0" algn="r">
                        <a:buNone/>
                      </a:pPr>
                      <a:r>
                        <a:t>84.88</a:t>
                      </a:r>
                    </a:p>
                  </a:txBody>
                  <a:tcPr/>
                </a:tc>
                <a:tc>
                  <a:txBody>
                    <a:bodyPr/>
                    <a:lstStyle/>
                    <a:p>
                      <a:pPr marL="0" lvl="0" indent="0" algn="r">
                        <a:buNone/>
                      </a:pPr>
                      <a:r>
                        <a:t>3512305.4</a:t>
                      </a:r>
                    </a:p>
                  </a:txBody>
                  <a:tcPr/>
                </a:tc>
                <a:extLst>
                  <a:ext uri="{0D108BD9-81ED-4DB2-BD59-A6C34878D82A}">
                    <a16:rowId xmlns:a16="http://schemas.microsoft.com/office/drawing/2014/main" val="10002"/>
                  </a:ext>
                </a:extLst>
              </a:tr>
              <a:tr h="0">
                <a:tc>
                  <a:txBody>
                    <a:bodyPr/>
                    <a:lstStyle/>
                    <a:p>
                      <a:pPr marL="0" lvl="0" indent="0" algn="l">
                        <a:buNone/>
                      </a:pPr>
                      <a:r>
                        <a:t>90-100</a:t>
                      </a:r>
                    </a:p>
                  </a:txBody>
                  <a:tcPr/>
                </a:tc>
                <a:tc>
                  <a:txBody>
                    <a:bodyPr/>
                    <a:lstStyle/>
                    <a:p>
                      <a:pPr marL="0" lvl="0" indent="0" algn="r">
                        <a:buNone/>
                      </a:pPr>
                      <a:r>
                        <a:t>4.99</a:t>
                      </a:r>
                    </a:p>
                  </a:txBody>
                  <a:tcPr/>
                </a:tc>
                <a:tc>
                  <a:txBody>
                    <a:bodyPr/>
                    <a:lstStyle/>
                    <a:p>
                      <a:pPr marL="0" lvl="0" indent="0" algn="r">
                        <a:buNone/>
                      </a:pPr>
                      <a:r>
                        <a:t>93.26</a:t>
                      </a:r>
                    </a:p>
                  </a:txBody>
                  <a:tcPr/>
                </a:tc>
                <a:tc>
                  <a:txBody>
                    <a:bodyPr/>
                    <a:lstStyle/>
                    <a:p>
                      <a:pPr marL="0" lvl="0" indent="0" algn="r">
                        <a:buNone/>
                      </a:pPr>
                      <a:r>
                        <a:t>2963507.7</a:t>
                      </a:r>
                    </a:p>
                  </a:txBody>
                  <a:tcPr/>
                </a:tc>
                <a:extLst>
                  <a:ext uri="{0D108BD9-81ED-4DB2-BD59-A6C34878D82A}">
                    <a16:rowId xmlns:a16="http://schemas.microsoft.com/office/drawing/2014/main" val="10003"/>
                  </a:ext>
                </a:extLst>
              </a:tr>
              <a:tr h="0">
                <a:tc>
                  <a:txBody>
                    <a:bodyPr/>
                    <a:lstStyle/>
                    <a:p>
                      <a:pPr marL="0" lvl="0" indent="0" algn="l">
                        <a:buNone/>
                      </a:pPr>
                      <a:r>
                        <a:t>100-110</a:t>
                      </a:r>
                    </a:p>
                  </a:txBody>
                  <a:tcPr/>
                </a:tc>
                <a:tc>
                  <a:txBody>
                    <a:bodyPr/>
                    <a:lstStyle/>
                    <a:p>
                      <a:pPr marL="0" lvl="0" indent="0" algn="r">
                        <a:buNone/>
                      </a:pPr>
                      <a:r>
                        <a:t>7.50</a:t>
                      </a:r>
                    </a:p>
                  </a:txBody>
                  <a:tcPr/>
                </a:tc>
                <a:tc>
                  <a:txBody>
                    <a:bodyPr/>
                    <a:lstStyle/>
                    <a:p>
                      <a:pPr marL="0" lvl="0" indent="0" algn="r">
                        <a:buNone/>
                      </a:pPr>
                      <a:r>
                        <a:t>104.13</a:t>
                      </a:r>
                    </a:p>
                  </a:txBody>
                  <a:tcPr/>
                </a:tc>
                <a:tc>
                  <a:txBody>
                    <a:bodyPr/>
                    <a:lstStyle/>
                    <a:p>
                      <a:pPr marL="0" lvl="0" indent="0" algn="r">
                        <a:buNone/>
                      </a:pPr>
                      <a:r>
                        <a:t>17671286.5</a:t>
                      </a:r>
                    </a:p>
                  </a:txBody>
                  <a:tcPr/>
                </a:tc>
                <a:extLst>
                  <a:ext uri="{0D108BD9-81ED-4DB2-BD59-A6C34878D82A}">
                    <a16:rowId xmlns:a16="http://schemas.microsoft.com/office/drawing/2014/main" val="10004"/>
                  </a:ext>
                </a:extLst>
              </a:tr>
              <a:tr h="0">
                <a:tc>
                  <a:txBody>
                    <a:bodyPr/>
                    <a:lstStyle/>
                    <a:p>
                      <a:pPr marL="0" lvl="0" indent="0" algn="l">
                        <a:buNone/>
                      </a:pPr>
                      <a:r>
                        <a:t>110-120</a:t>
                      </a:r>
                    </a:p>
                  </a:txBody>
                  <a:tcPr/>
                </a:tc>
                <a:tc>
                  <a:txBody>
                    <a:bodyPr/>
                    <a:lstStyle/>
                    <a:p>
                      <a:pPr marL="0" lvl="0" indent="0" algn="r">
                        <a:buNone/>
                      </a:pPr>
                      <a:r>
                        <a:t>9.11</a:t>
                      </a:r>
                    </a:p>
                  </a:txBody>
                  <a:tcPr/>
                </a:tc>
                <a:tc>
                  <a:txBody>
                    <a:bodyPr/>
                    <a:lstStyle/>
                    <a:p>
                      <a:pPr marL="0" lvl="0" indent="0" algn="r">
                        <a:buNone/>
                      </a:pPr>
                      <a:r>
                        <a:t>113.35</a:t>
                      </a:r>
                    </a:p>
                  </a:txBody>
                  <a:tcPr/>
                </a:tc>
                <a:tc>
                  <a:txBody>
                    <a:bodyPr/>
                    <a:lstStyle/>
                    <a:p>
                      <a:pPr marL="0" lvl="0" indent="0" algn="r">
                        <a:buNone/>
                      </a:pPr>
                      <a:r>
                        <a:t>15476095.6</a:t>
                      </a:r>
                    </a:p>
                  </a:txBody>
                  <a:tcPr/>
                </a:tc>
                <a:extLst>
                  <a:ext uri="{0D108BD9-81ED-4DB2-BD59-A6C34878D82A}">
                    <a16:rowId xmlns:a16="http://schemas.microsoft.com/office/drawing/2014/main" val="10005"/>
                  </a:ext>
                </a:extLst>
              </a:tr>
              <a:tr h="0">
                <a:tc>
                  <a:txBody>
                    <a:bodyPr/>
                    <a:lstStyle/>
                    <a:p>
                      <a:pPr marL="0" lvl="0" indent="0" algn="l">
                        <a:buNone/>
                      </a:pPr>
                      <a:r>
                        <a:t>120-130</a:t>
                      </a:r>
                    </a:p>
                  </a:txBody>
                  <a:tcPr/>
                </a:tc>
                <a:tc>
                  <a:txBody>
                    <a:bodyPr/>
                    <a:lstStyle/>
                    <a:p>
                      <a:pPr marL="0" lvl="0" indent="0" algn="r">
                        <a:buNone/>
                      </a:pPr>
                      <a:r>
                        <a:t>12.23</a:t>
                      </a:r>
                    </a:p>
                  </a:txBody>
                  <a:tcPr/>
                </a:tc>
                <a:tc>
                  <a:txBody>
                    <a:bodyPr/>
                    <a:lstStyle/>
                    <a:p>
                      <a:pPr marL="0" lvl="0" indent="0" algn="r">
                        <a:buNone/>
                      </a:pPr>
                      <a:r>
                        <a:t>122.21</a:t>
                      </a:r>
                    </a:p>
                  </a:txBody>
                  <a:tcPr/>
                </a:tc>
                <a:tc>
                  <a:txBody>
                    <a:bodyPr/>
                    <a:lstStyle/>
                    <a:p>
                      <a:pPr marL="0" lvl="0" indent="0" algn="r">
                        <a:buNone/>
                      </a:pPr>
                      <a:r>
                        <a:t>7244129.9</a:t>
                      </a:r>
                    </a:p>
                  </a:txBody>
                  <a:tcPr/>
                </a:tc>
                <a:extLst>
                  <a:ext uri="{0D108BD9-81ED-4DB2-BD59-A6C34878D82A}">
                    <a16:rowId xmlns:a16="http://schemas.microsoft.com/office/drawing/2014/main" val="10006"/>
                  </a:ext>
                </a:extLst>
              </a:tr>
              <a:tr h="0">
                <a:tc>
                  <a:txBody>
                    <a:bodyPr/>
                    <a:lstStyle/>
                    <a:p>
                      <a:pPr marL="0" lvl="0" indent="0" algn="l">
                        <a:buNone/>
                      </a:pPr>
                      <a:r>
                        <a:t>130+</a:t>
                      </a:r>
                    </a:p>
                  </a:txBody>
                  <a:tcPr/>
                </a:tc>
                <a:tc>
                  <a:txBody>
                    <a:bodyPr/>
                    <a:lstStyle/>
                    <a:p>
                      <a:pPr marL="0" lvl="0" indent="0" algn="r">
                        <a:buNone/>
                      </a:pPr>
                      <a:r>
                        <a:t>13.65</a:t>
                      </a:r>
                    </a:p>
                  </a:txBody>
                  <a:tcPr/>
                </a:tc>
                <a:tc>
                  <a:txBody>
                    <a:bodyPr/>
                    <a:lstStyle/>
                    <a:p>
                      <a:pPr marL="0" lvl="0" indent="0" algn="r">
                        <a:buNone/>
                      </a:pPr>
                      <a:r>
                        <a:t>132.50</a:t>
                      </a:r>
                    </a:p>
                  </a:txBody>
                  <a:tcPr/>
                </a:tc>
                <a:tc>
                  <a:txBody>
                    <a:bodyPr/>
                    <a:lstStyle/>
                    <a:p>
                      <a:pPr marL="0" lvl="0" indent="0" algn="r">
                        <a:buNone/>
                      </a:pPr>
                      <a:r>
                        <a:t>439038.2</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Exporting Results</a:t>
            </a:r>
          </a:p>
        </p:txBody>
      </p:sp>
      <p:sp>
        <p:nvSpPr>
          <p:cNvPr id="3" name="Content Placeholder 2"/>
          <p:cNvSpPr>
            <a:spLocks noGrp="1"/>
          </p:cNvSpPr>
          <p:nvPr>
            <p:ph idx="1"/>
          </p:nvPr>
        </p:nvSpPr>
        <p:spPr/>
        <p:txBody>
          <a:bodyPr>
            <a:normAutofit/>
          </a:bodyPr>
          <a:lstStyle/>
          <a:p>
            <a:pPr marL="0" lvl="0" indent="0">
              <a:buNone/>
            </a:pPr>
            <a:r>
              <a:rPr dirty="0"/>
              <a:t>The results can be formatted for the </a:t>
            </a:r>
            <a:r>
              <a:rPr dirty="0" err="1"/>
              <a:t>InterCatch</a:t>
            </a:r>
            <a:r>
              <a:rPr dirty="0"/>
              <a:t> data call using </a:t>
            </a:r>
            <a:r>
              <a:rPr b="1" dirty="0" err="1"/>
              <a:t>exportEstimationResultsToInterCatchFormat</a:t>
            </a:r>
            <a:r>
              <a:rPr b="1" dirty="0"/>
              <a:t>()</a:t>
            </a:r>
            <a:r>
              <a:rPr dirty="0"/>
              <a:t>. To do this we need to map the columns in our calculated object to the column names expected by the export function.</a:t>
            </a:r>
          </a:p>
          <a:p>
            <a:pPr lvl="0" indent="0">
              <a:buNone/>
            </a:pPr>
            <a:r>
              <a:rPr i="1" dirty="0">
                <a:solidFill>
                  <a:srgbClr val="60A0B0"/>
                </a:solidFill>
                <a:latin typeface="Courier"/>
              </a:rPr>
              <a:t># Add extra columns to the final result </a:t>
            </a:r>
            <a:br>
              <a:rPr dirty="0"/>
            </a:br>
            <a:r>
              <a:rPr dirty="0" err="1">
                <a:latin typeface="Courier"/>
              </a:rPr>
              <a:t>addCols</a:t>
            </a:r>
            <a:r>
              <a:rPr dirty="0">
                <a:latin typeface="Courier"/>
              </a:rPr>
              <a:t> </a:t>
            </a:r>
            <a:r>
              <a:rPr dirty="0">
                <a:solidFill>
                  <a:srgbClr val="007020"/>
                </a:solidFill>
                <a:latin typeface="Courier"/>
              </a:rPr>
              <a:t>&lt;-</a:t>
            </a:r>
            <a:r>
              <a:rPr dirty="0">
                <a:latin typeface="Courier"/>
              </a:rPr>
              <a:t> </a:t>
            </a:r>
            <a:r>
              <a:rPr dirty="0">
                <a:solidFill>
                  <a:srgbClr val="06287E"/>
                </a:solidFill>
                <a:latin typeface="Courier"/>
              </a:rPr>
              <a:t>c</a:t>
            </a:r>
            <a:r>
              <a:rPr dirty="0">
                <a:latin typeface="Courier"/>
              </a:rPr>
              <a:t>(</a:t>
            </a:r>
            <a:r>
              <a:rPr dirty="0">
                <a:solidFill>
                  <a:srgbClr val="06287E"/>
                </a:solidFill>
                <a:latin typeface="Courier"/>
              </a:rPr>
              <a:t>names</a:t>
            </a:r>
            <a:r>
              <a:rPr dirty="0">
                <a:latin typeface="Courier"/>
              </a:rPr>
              <a:t>(</a:t>
            </a:r>
            <a:r>
              <a:rPr dirty="0" err="1">
                <a:latin typeface="Courier"/>
              </a:rPr>
              <a:t>strataListCS</a:t>
            </a:r>
            <a:r>
              <a:rPr dirty="0">
                <a:latin typeface="Courier"/>
              </a:rPr>
              <a:t>),</a:t>
            </a:r>
            <a:br>
              <a:rPr dirty="0"/>
            </a:br>
            <a:r>
              <a:rPr dirty="0">
                <a:latin typeface="Courier"/>
              </a:rPr>
              <a:t>             </a:t>
            </a:r>
            <a:r>
              <a:rPr dirty="0">
                <a:solidFill>
                  <a:srgbClr val="06287E"/>
                </a:solidFill>
                <a:latin typeface="Courier"/>
              </a:rPr>
              <a:t>names</a:t>
            </a:r>
            <a:r>
              <a:rPr dirty="0">
                <a:latin typeface="Courier"/>
              </a:rPr>
              <a:t>(</a:t>
            </a:r>
            <a:r>
              <a:rPr dirty="0" err="1">
                <a:latin typeface="Courier"/>
              </a:rPr>
              <a:t>strataListCL</a:t>
            </a:r>
            <a:r>
              <a:rPr dirty="0">
                <a:latin typeface="Courier"/>
              </a:rPr>
              <a:t>),</a:t>
            </a:r>
            <a:br>
              <a:rPr dirty="0"/>
            </a:br>
            <a:r>
              <a:rPr dirty="0">
                <a:latin typeface="Courier"/>
              </a:rPr>
              <a:t>             </a:t>
            </a:r>
            <a:r>
              <a:rPr dirty="0">
                <a:solidFill>
                  <a:srgbClr val="06287E"/>
                </a:solidFill>
                <a:latin typeface="Courier"/>
              </a:rPr>
              <a:t>paste0</a:t>
            </a:r>
            <a:r>
              <a:rPr dirty="0">
                <a:latin typeface="Courier"/>
              </a:rPr>
              <a:t>(</a:t>
            </a:r>
            <a:r>
              <a:rPr dirty="0">
                <a:solidFill>
                  <a:srgbClr val="4070A0"/>
                </a:solidFill>
                <a:latin typeface="Courier"/>
              </a:rPr>
              <a:t>'sum'</a:t>
            </a:r>
            <a:r>
              <a:rPr dirty="0">
                <a:latin typeface="Courier"/>
              </a:rPr>
              <a:t>, </a:t>
            </a:r>
            <a:r>
              <a:rPr dirty="0" err="1">
                <a:latin typeface="Courier"/>
              </a:rPr>
              <a:t>CLfieldstoSum</a:t>
            </a:r>
            <a:r>
              <a:rPr dirty="0">
                <a:latin typeface="Courier"/>
              </a:rPr>
              <a:t>))</a:t>
            </a:r>
            <a:br>
              <a:rPr dirty="0"/>
            </a:br>
            <a:br>
              <a:rPr dirty="0"/>
            </a:br>
            <a:r>
              <a:rPr dirty="0" err="1">
                <a:latin typeface="Courier"/>
              </a:rPr>
              <a:t>ageCANUM</a:t>
            </a:r>
            <a:r>
              <a:rPr dirty="0">
                <a:latin typeface="Courier"/>
              </a:rPr>
              <a:t> </a:t>
            </a:r>
            <a:r>
              <a:rPr dirty="0">
                <a:solidFill>
                  <a:srgbClr val="007020"/>
                </a:solidFill>
                <a:latin typeface="Courier"/>
              </a:rPr>
              <a:t>&lt;-</a:t>
            </a:r>
            <a:r>
              <a:rPr dirty="0">
                <a:latin typeface="Courier"/>
              </a:rPr>
              <a:t> </a:t>
            </a:r>
            <a:r>
              <a:rPr dirty="0" err="1">
                <a:solidFill>
                  <a:srgbClr val="06287E"/>
                </a:solidFill>
                <a:latin typeface="Courier"/>
              </a:rPr>
              <a:t>doBVestimCANUM</a:t>
            </a:r>
            <a:r>
              <a:rPr dirty="0">
                <a:latin typeface="Courier"/>
              </a:rPr>
              <a:t>(biolCLQ1, </a:t>
            </a:r>
            <a:r>
              <a:rPr dirty="0" err="1">
                <a:latin typeface="Courier"/>
              </a:rPr>
              <a:t>addCols</a:t>
            </a:r>
            <a:r>
              <a:rPr dirty="0">
                <a:latin typeface="Courier"/>
              </a:rPr>
              <a:t>,</a:t>
            </a:r>
            <a:br>
              <a:rPr dirty="0"/>
            </a:br>
            <a:r>
              <a:rPr dirty="0">
                <a:latin typeface="Courier"/>
              </a:rPr>
              <a:t>             </a:t>
            </a:r>
            <a:r>
              <a:rPr dirty="0" err="1">
                <a:solidFill>
                  <a:srgbClr val="7D9029"/>
                </a:solidFill>
                <a:latin typeface="Courier"/>
              </a:rPr>
              <a:t>classUnits</a:t>
            </a:r>
            <a:r>
              <a:rPr dirty="0">
                <a:solidFill>
                  <a:srgbClr val="7D9029"/>
                </a:solidFill>
                <a:latin typeface="Courier"/>
              </a:rPr>
              <a:t> =</a:t>
            </a:r>
            <a:r>
              <a:rPr dirty="0">
                <a:latin typeface="Courier"/>
              </a:rPr>
              <a:t> </a:t>
            </a:r>
            <a:r>
              <a:rPr dirty="0">
                <a:solidFill>
                  <a:srgbClr val="4070A0"/>
                </a:solidFill>
                <a:latin typeface="Courier"/>
              </a:rPr>
              <a:t>"</a:t>
            </a:r>
            <a:r>
              <a:rPr dirty="0" err="1">
                <a:solidFill>
                  <a:srgbClr val="4070A0"/>
                </a:solidFill>
                <a:latin typeface="Courier"/>
              </a:rPr>
              <a:t>Ageyear</a:t>
            </a:r>
            <a:r>
              <a:rPr dirty="0">
                <a:solidFill>
                  <a:srgbClr val="4070A0"/>
                </a:solidFill>
                <a:latin typeface="Courier"/>
              </a:rPr>
              <a:t>"</a:t>
            </a:r>
            <a:r>
              <a:rPr dirty="0">
                <a:latin typeface="Courier"/>
              </a:rPr>
              <a:t>,</a:t>
            </a:r>
            <a:br>
              <a:rPr dirty="0"/>
            </a:br>
            <a:r>
              <a:rPr dirty="0">
                <a:latin typeface="Courier"/>
              </a:rPr>
              <a:t>             </a:t>
            </a:r>
            <a:r>
              <a:rPr dirty="0" err="1">
                <a:solidFill>
                  <a:srgbClr val="7D9029"/>
                </a:solidFill>
                <a:latin typeface="Courier"/>
              </a:rPr>
              <a:t>classBreaks</a:t>
            </a:r>
            <a:r>
              <a:rPr dirty="0">
                <a:solidFill>
                  <a:srgbClr val="7D9029"/>
                </a:solidFill>
                <a:latin typeface="Courier"/>
              </a:rPr>
              <a:t> =</a:t>
            </a:r>
            <a:r>
              <a:rPr dirty="0">
                <a:latin typeface="Courier"/>
              </a:rPr>
              <a:t> </a:t>
            </a:r>
            <a:r>
              <a:rPr dirty="0">
                <a:solidFill>
                  <a:srgbClr val="40A070"/>
                </a:solidFill>
                <a:latin typeface="Courier"/>
              </a:rPr>
              <a:t>1</a:t>
            </a:r>
            <a:r>
              <a:rPr dirty="0">
                <a:solidFill>
                  <a:srgbClr val="4070A0"/>
                </a:solidFill>
                <a:latin typeface="Courier"/>
              </a:rPr>
              <a:t>:</a:t>
            </a:r>
            <a:r>
              <a:rPr dirty="0">
                <a:solidFill>
                  <a:srgbClr val="40A070"/>
                </a:solidFill>
                <a:latin typeface="Courier"/>
              </a:rPr>
              <a:t>8</a:t>
            </a:r>
            <a:r>
              <a:rPr dirty="0">
                <a:latin typeface="Courier"/>
              </a:rPr>
              <a:t>,</a:t>
            </a:r>
            <a:br>
              <a:rPr dirty="0"/>
            </a:br>
            <a:r>
              <a:rPr dirty="0">
                <a:latin typeface="Courier"/>
              </a:rPr>
              <a:t>             </a:t>
            </a:r>
            <a:r>
              <a:rPr dirty="0">
                <a:solidFill>
                  <a:srgbClr val="7D9029"/>
                </a:solidFill>
                <a:latin typeface="Courier"/>
              </a:rPr>
              <a:t>verbose =</a:t>
            </a:r>
            <a:r>
              <a:rPr dirty="0">
                <a:latin typeface="Courier"/>
              </a:rPr>
              <a:t> </a:t>
            </a:r>
            <a:r>
              <a:rPr dirty="0">
                <a:solidFill>
                  <a:srgbClr val="880000"/>
                </a:solidFill>
                <a:latin typeface="Courier"/>
              </a:rPr>
              <a:t>FALSE</a:t>
            </a:r>
            <a:r>
              <a:rPr dirty="0">
                <a:latin typeface="Courier"/>
              </a:rPr>
              <a:t>)</a:t>
            </a:r>
            <a:br>
              <a:rPr dirty="0"/>
            </a:br>
            <a:br>
              <a:rPr dirty="0"/>
            </a:b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Exporting Results</a:t>
            </a:r>
          </a:p>
        </p:txBody>
      </p:sp>
      <p:sp>
        <p:nvSpPr>
          <p:cNvPr id="3" name="Content Placeholder 2"/>
          <p:cNvSpPr>
            <a:spLocks noGrp="1"/>
          </p:cNvSpPr>
          <p:nvPr>
            <p:ph idx="1"/>
          </p:nvPr>
        </p:nvSpPr>
        <p:spPr>
          <a:xfrm>
            <a:off x="457200" y="1422019"/>
            <a:ext cx="5111750" cy="5025697"/>
          </a:xfrm>
        </p:spPr>
        <p:txBody>
          <a:bodyPr>
            <a:normAutofit fontScale="47500" lnSpcReduction="20000"/>
          </a:bodyPr>
          <a:lstStyle/>
          <a:p>
            <a:pPr lvl="0" indent="0">
              <a:buNone/>
            </a:pPr>
            <a:r>
              <a:rPr lang="en-US" i="1" dirty="0">
                <a:solidFill>
                  <a:srgbClr val="60A0B0"/>
                </a:solidFill>
                <a:latin typeface="Courier"/>
              </a:rPr>
              <a:t># Map the results to </a:t>
            </a:r>
            <a:r>
              <a:rPr lang="en-US" i="1" dirty="0" err="1">
                <a:solidFill>
                  <a:srgbClr val="60A0B0"/>
                </a:solidFill>
                <a:latin typeface="Courier"/>
              </a:rPr>
              <a:t>InterCatch</a:t>
            </a:r>
            <a:r>
              <a:rPr lang="en-US" i="1" dirty="0">
                <a:solidFill>
                  <a:srgbClr val="60A0B0"/>
                </a:solidFill>
                <a:latin typeface="Courier"/>
              </a:rPr>
              <a:t> format</a:t>
            </a:r>
            <a:br>
              <a:rPr lang="en-US" dirty="0"/>
            </a:br>
            <a:r>
              <a:rPr lang="en-US" dirty="0" err="1">
                <a:latin typeface="Courier"/>
              </a:rPr>
              <a:t>dataToExport</a:t>
            </a:r>
            <a:r>
              <a:rPr lang="en-US" dirty="0">
                <a:latin typeface="Courier"/>
              </a:rPr>
              <a:t> </a:t>
            </a:r>
            <a:r>
              <a:rPr lang="en-US" dirty="0">
                <a:solidFill>
                  <a:srgbClr val="007020"/>
                </a:solidFill>
                <a:latin typeface="Courier"/>
              </a:rPr>
              <a:t>&lt;-</a:t>
            </a:r>
            <a:r>
              <a:rPr lang="en-US" dirty="0">
                <a:latin typeface="Courier"/>
              </a:rPr>
              <a:t> </a:t>
            </a:r>
            <a:r>
              <a:rPr lang="en-US" dirty="0" err="1">
                <a:solidFill>
                  <a:srgbClr val="06287E"/>
                </a:solidFill>
                <a:latin typeface="Courier"/>
              </a:rPr>
              <a:t>data.frame</a:t>
            </a:r>
            <a:r>
              <a:rPr lang="en-US" dirty="0">
                <a:latin typeface="Courier"/>
              </a:rPr>
              <a:t>(</a:t>
            </a:r>
            <a:br>
              <a:rPr lang="en-US" dirty="0"/>
            </a:br>
            <a:r>
              <a:rPr lang="en-US" dirty="0">
                <a:latin typeface="Courier"/>
              </a:rPr>
              <a:t>    </a:t>
            </a:r>
            <a:r>
              <a:rPr lang="en-US" i="1" dirty="0">
                <a:solidFill>
                  <a:srgbClr val="60A0B0"/>
                </a:solidFill>
                <a:latin typeface="Courier"/>
              </a:rPr>
              <a:t># HI columns</a:t>
            </a:r>
            <a:br>
              <a:rPr lang="en-US" dirty="0"/>
            </a:br>
            <a:r>
              <a:rPr lang="en-US" dirty="0">
                <a:latin typeface="Courier"/>
              </a:rPr>
              <a:t>    </a:t>
            </a:r>
            <a:r>
              <a:rPr lang="en-US" dirty="0">
                <a:solidFill>
                  <a:srgbClr val="7D9029"/>
                </a:solidFill>
                <a:latin typeface="Courier"/>
              </a:rPr>
              <a:t>Country =</a:t>
            </a:r>
            <a:r>
              <a:rPr lang="en-US" dirty="0">
                <a:latin typeface="Courier"/>
              </a:rPr>
              <a:t> </a:t>
            </a:r>
            <a:r>
              <a:rPr lang="en-US" dirty="0">
                <a:solidFill>
                  <a:srgbClr val="4070A0"/>
                </a:solidFill>
                <a:latin typeface="Courier"/>
              </a:rPr>
              <a:t>"EE"</a:t>
            </a:r>
            <a:r>
              <a:rPr lang="en-US" dirty="0">
                <a:latin typeface="Courier"/>
              </a:rPr>
              <a:t>,</a:t>
            </a:r>
            <a:br>
              <a:rPr lang="en-US" dirty="0"/>
            </a:br>
            <a:r>
              <a:rPr lang="en-US" dirty="0">
                <a:latin typeface="Courier"/>
              </a:rPr>
              <a:t>    </a:t>
            </a:r>
            <a:r>
              <a:rPr lang="en-US" dirty="0">
                <a:solidFill>
                  <a:srgbClr val="7D9029"/>
                </a:solidFill>
                <a:latin typeface="Courier"/>
              </a:rPr>
              <a:t>Year =</a:t>
            </a:r>
            <a:r>
              <a:rPr lang="en-US" dirty="0">
                <a:latin typeface="Courier"/>
              </a:rPr>
              <a:t> </a:t>
            </a:r>
            <a:r>
              <a:rPr lang="en-US" dirty="0">
                <a:solidFill>
                  <a:srgbClr val="4070A0"/>
                </a:solidFill>
                <a:latin typeface="Courier"/>
              </a:rPr>
              <a:t>"2022"</a:t>
            </a:r>
            <a:r>
              <a:rPr lang="en-US" dirty="0">
                <a:latin typeface="Courier"/>
              </a:rPr>
              <a:t>,</a:t>
            </a:r>
            <a:br>
              <a:rPr lang="en-US" dirty="0"/>
            </a:br>
            <a:r>
              <a:rPr lang="en-US" dirty="0">
                <a:latin typeface="Courier"/>
              </a:rPr>
              <a:t>    </a:t>
            </a:r>
            <a:r>
              <a:rPr lang="en-US" dirty="0" err="1">
                <a:solidFill>
                  <a:srgbClr val="7D9029"/>
                </a:solidFill>
                <a:latin typeface="Courier"/>
              </a:rPr>
              <a:t>SeasonType</a:t>
            </a:r>
            <a:r>
              <a:rPr lang="en-US" dirty="0">
                <a:solidFill>
                  <a:srgbClr val="7D9029"/>
                </a:solidFill>
                <a:latin typeface="Courier"/>
              </a:rPr>
              <a:t> =</a:t>
            </a:r>
            <a:r>
              <a:rPr lang="en-US" dirty="0">
                <a:latin typeface="Courier"/>
              </a:rPr>
              <a:t> </a:t>
            </a:r>
            <a:r>
              <a:rPr lang="en-US" dirty="0">
                <a:solidFill>
                  <a:srgbClr val="4070A0"/>
                </a:solidFill>
                <a:latin typeface="Courier"/>
              </a:rPr>
              <a:t>"Quarter"</a:t>
            </a:r>
            <a:r>
              <a:rPr lang="en-US" dirty="0">
                <a:latin typeface="Courier"/>
              </a:rPr>
              <a:t>,</a:t>
            </a:r>
            <a:br>
              <a:rPr lang="en-US" dirty="0"/>
            </a:br>
            <a:r>
              <a:rPr lang="en-US" dirty="0">
                <a:latin typeface="Courier"/>
              </a:rPr>
              <a:t>    </a:t>
            </a:r>
            <a:r>
              <a:rPr lang="en-US" dirty="0">
                <a:solidFill>
                  <a:srgbClr val="7D9029"/>
                </a:solidFill>
                <a:latin typeface="Courier"/>
              </a:rPr>
              <a:t>Season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CLquar</a:t>
            </a:r>
            <a:r>
              <a:rPr lang="en-US" dirty="0">
                <a:latin typeface="Courier"/>
              </a:rPr>
              <a:t>,</a:t>
            </a:r>
            <a:br>
              <a:rPr lang="en-US" dirty="0"/>
            </a:br>
            <a:r>
              <a:rPr lang="en-US" dirty="0">
                <a:latin typeface="Courier"/>
              </a:rPr>
              <a:t>    </a:t>
            </a:r>
            <a:r>
              <a:rPr lang="en-US" dirty="0">
                <a:solidFill>
                  <a:srgbClr val="7D9029"/>
                </a:solidFill>
                <a:latin typeface="Courier"/>
              </a:rPr>
              <a:t>Fleet =</a:t>
            </a:r>
            <a:r>
              <a:rPr lang="en-US" dirty="0">
                <a:latin typeface="Courier"/>
              </a:rPr>
              <a:t> ageCANUM</a:t>
            </a:r>
            <a:r>
              <a:rPr lang="en-US" dirty="0">
                <a:solidFill>
                  <a:srgbClr val="4070A0"/>
                </a:solidFill>
                <a:latin typeface="Courier"/>
              </a:rPr>
              <a:t>$</a:t>
            </a:r>
            <a:r>
              <a:rPr lang="en-US" dirty="0">
                <a:latin typeface="Courier"/>
              </a:rPr>
              <a:t>CLmetier6,</a:t>
            </a:r>
            <a:br>
              <a:rPr lang="en-US" dirty="0"/>
            </a:br>
            <a:r>
              <a:rPr lang="en-US" dirty="0">
                <a:latin typeface="Courier"/>
              </a:rPr>
              <a:t>    </a:t>
            </a:r>
            <a:r>
              <a:rPr lang="en-US" dirty="0" err="1">
                <a:solidFill>
                  <a:srgbClr val="7D9029"/>
                </a:solidFill>
                <a:latin typeface="Courier"/>
              </a:rPr>
              <a:t>AreaType</a:t>
            </a:r>
            <a:r>
              <a:rPr lang="en-US" dirty="0">
                <a:solidFill>
                  <a:srgbClr val="7D9029"/>
                </a:solidFill>
                <a:latin typeface="Courier"/>
              </a:rPr>
              <a:t> =</a:t>
            </a:r>
            <a:r>
              <a:rPr lang="en-US" dirty="0">
                <a:latin typeface="Courier"/>
              </a:rPr>
              <a:t> </a:t>
            </a:r>
            <a:r>
              <a:rPr lang="en-US" dirty="0">
                <a:solidFill>
                  <a:srgbClr val="4070A0"/>
                </a:solidFill>
                <a:latin typeface="Courier"/>
              </a:rPr>
              <a:t>"</a:t>
            </a:r>
            <a:r>
              <a:rPr lang="en-US" dirty="0" err="1">
                <a:solidFill>
                  <a:srgbClr val="4070A0"/>
                </a:solidFill>
                <a:latin typeface="Courier"/>
              </a:rPr>
              <a:t>Div</a:t>
            </a:r>
            <a:r>
              <a:rPr lang="en-US" dirty="0">
                <a:solidFill>
                  <a:srgbClr val="4070A0"/>
                </a:solidFill>
                <a:latin typeface="Courier"/>
              </a:rPr>
              <a:t>"</a:t>
            </a:r>
            <a:r>
              <a:rPr lang="en-US" dirty="0">
                <a:latin typeface="Courier"/>
              </a:rPr>
              <a:t>,</a:t>
            </a:r>
            <a:br>
              <a:rPr lang="en-US" dirty="0"/>
            </a:br>
            <a:r>
              <a:rPr lang="en-US" dirty="0">
                <a:latin typeface="Courier"/>
              </a:rPr>
              <a:t>    </a:t>
            </a:r>
            <a:r>
              <a:rPr lang="en-US" dirty="0" err="1">
                <a:solidFill>
                  <a:srgbClr val="7D9029"/>
                </a:solidFill>
                <a:latin typeface="Courier"/>
              </a:rPr>
              <a:t>FishingArea</a:t>
            </a:r>
            <a:r>
              <a:rPr lang="en-US" dirty="0">
                <a:solidFill>
                  <a:srgbClr val="7D9029"/>
                </a:solidFill>
                <a:latin typeface="Courier"/>
              </a:rPr>
              <a:t>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CLarea</a:t>
            </a:r>
            <a:r>
              <a:rPr lang="en-US" dirty="0">
                <a:latin typeface="Courier"/>
              </a:rPr>
              <a:t>,</a:t>
            </a:r>
            <a:br>
              <a:rPr lang="en-US" dirty="0"/>
            </a:br>
            <a:r>
              <a:rPr lang="en-US" dirty="0">
                <a:latin typeface="Courier"/>
              </a:rPr>
              <a:t>    </a:t>
            </a:r>
            <a:r>
              <a:rPr lang="en-US" dirty="0" err="1">
                <a:solidFill>
                  <a:srgbClr val="7D9029"/>
                </a:solidFill>
                <a:latin typeface="Courier"/>
              </a:rPr>
              <a:t>DepthRange</a:t>
            </a:r>
            <a:r>
              <a:rPr lang="en-US" dirty="0">
                <a:solidFill>
                  <a:srgbClr val="7D9029"/>
                </a:solidFill>
                <a:latin typeface="Courier"/>
              </a:rPr>
              <a:t> =</a:t>
            </a:r>
            <a:r>
              <a:rPr lang="en-US" dirty="0">
                <a:latin typeface="Courier"/>
              </a:rPr>
              <a:t> </a:t>
            </a:r>
            <a:r>
              <a:rPr lang="en-US" dirty="0">
                <a:solidFill>
                  <a:srgbClr val="4070A0"/>
                </a:solidFill>
                <a:latin typeface="Courier"/>
              </a:rPr>
              <a:t>"NA"</a:t>
            </a:r>
            <a:r>
              <a:rPr lang="en-US" dirty="0">
                <a:latin typeface="Courier"/>
              </a:rPr>
              <a:t>, </a:t>
            </a:r>
            <a:br>
              <a:rPr lang="en-US" dirty="0"/>
            </a:br>
            <a:r>
              <a:rPr lang="en-US" dirty="0">
                <a:latin typeface="Courier"/>
              </a:rPr>
              <a:t>    </a:t>
            </a:r>
            <a:br>
              <a:rPr lang="en-US" dirty="0"/>
            </a:br>
            <a:r>
              <a:rPr lang="en-US" dirty="0">
                <a:latin typeface="Courier"/>
              </a:rPr>
              <a:t>    </a:t>
            </a:r>
            <a:r>
              <a:rPr lang="en-US" i="1" dirty="0">
                <a:solidFill>
                  <a:srgbClr val="60A0B0"/>
                </a:solidFill>
                <a:latin typeface="Courier"/>
              </a:rPr>
              <a:t># SI columns</a:t>
            </a:r>
            <a:br>
              <a:rPr lang="en-US" dirty="0"/>
            </a:br>
            <a:r>
              <a:rPr lang="en-US" dirty="0">
                <a:latin typeface="Courier"/>
              </a:rPr>
              <a:t>    </a:t>
            </a:r>
            <a:r>
              <a:rPr lang="en-US" dirty="0">
                <a:solidFill>
                  <a:srgbClr val="7D9029"/>
                </a:solidFill>
                <a:latin typeface="Courier"/>
              </a:rPr>
              <a:t>Species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SAspeCodeFAO</a:t>
            </a:r>
            <a:r>
              <a:rPr lang="en-US" dirty="0">
                <a:latin typeface="Courier"/>
              </a:rPr>
              <a:t>, </a:t>
            </a:r>
            <a:br>
              <a:rPr lang="en-US" dirty="0"/>
            </a:br>
            <a:r>
              <a:rPr lang="en-US" dirty="0">
                <a:latin typeface="Courier"/>
              </a:rPr>
              <a:t>    </a:t>
            </a:r>
            <a:r>
              <a:rPr lang="en-US" dirty="0">
                <a:solidFill>
                  <a:srgbClr val="7D9029"/>
                </a:solidFill>
                <a:latin typeface="Courier"/>
              </a:rPr>
              <a:t>Stock =</a:t>
            </a:r>
            <a:r>
              <a:rPr lang="en-US" dirty="0">
                <a:latin typeface="Courier"/>
              </a:rPr>
              <a:t> </a:t>
            </a:r>
            <a:r>
              <a:rPr lang="en-US" dirty="0">
                <a:solidFill>
                  <a:srgbClr val="4070A0"/>
                </a:solidFill>
                <a:latin typeface="Courier"/>
              </a:rPr>
              <a:t>"Unknown"</a:t>
            </a:r>
            <a:r>
              <a:rPr lang="en-US" dirty="0">
                <a:latin typeface="Courier"/>
              </a:rPr>
              <a:t>,</a:t>
            </a:r>
            <a:br>
              <a:rPr lang="en-US" dirty="0"/>
            </a:br>
            <a:r>
              <a:rPr lang="en-US" dirty="0">
                <a:latin typeface="Courier"/>
              </a:rPr>
              <a:t>    </a:t>
            </a:r>
            <a:r>
              <a:rPr lang="en-US" dirty="0" err="1">
                <a:solidFill>
                  <a:srgbClr val="7D9029"/>
                </a:solidFill>
                <a:latin typeface="Courier"/>
              </a:rPr>
              <a:t>CatchCategory</a:t>
            </a:r>
            <a:r>
              <a:rPr lang="en-US" dirty="0">
                <a:solidFill>
                  <a:srgbClr val="7D9029"/>
                </a:solidFill>
                <a:latin typeface="Courier"/>
              </a:rPr>
              <a:t> =</a:t>
            </a:r>
            <a:r>
              <a:rPr lang="en-US" dirty="0">
                <a:latin typeface="Courier"/>
              </a:rPr>
              <a:t> </a:t>
            </a:r>
            <a:r>
              <a:rPr lang="en-US" dirty="0">
                <a:solidFill>
                  <a:srgbClr val="4070A0"/>
                </a:solidFill>
                <a:latin typeface="Courier"/>
              </a:rPr>
              <a:t>"L"</a:t>
            </a:r>
            <a:r>
              <a:rPr lang="en-US" dirty="0">
                <a:latin typeface="Courier"/>
              </a:rPr>
              <a:t>,</a:t>
            </a:r>
            <a:br>
              <a:rPr lang="en-US" dirty="0"/>
            </a:br>
            <a:r>
              <a:rPr lang="en-US" dirty="0">
                <a:latin typeface="Courier"/>
              </a:rPr>
              <a:t>    </a:t>
            </a:r>
            <a:r>
              <a:rPr lang="en-US" dirty="0" err="1">
                <a:solidFill>
                  <a:srgbClr val="7D9029"/>
                </a:solidFill>
                <a:latin typeface="Courier"/>
              </a:rPr>
              <a:t>ReportingCategory</a:t>
            </a:r>
            <a:r>
              <a:rPr lang="en-US" dirty="0">
                <a:solidFill>
                  <a:srgbClr val="7D9029"/>
                </a:solidFill>
                <a:latin typeface="Courier"/>
              </a:rPr>
              <a:t> =</a:t>
            </a:r>
            <a:r>
              <a:rPr lang="en-US" dirty="0">
                <a:latin typeface="Courier"/>
              </a:rPr>
              <a:t> </a:t>
            </a:r>
            <a:r>
              <a:rPr lang="en-US" dirty="0">
                <a:solidFill>
                  <a:srgbClr val="4070A0"/>
                </a:solidFill>
                <a:latin typeface="Courier"/>
              </a:rPr>
              <a:t>"R"</a:t>
            </a:r>
            <a:r>
              <a:rPr lang="en-US" dirty="0">
                <a:latin typeface="Courier"/>
              </a:rPr>
              <a:t>,</a:t>
            </a:r>
            <a:br>
              <a:rPr lang="en-US" dirty="0"/>
            </a:br>
            <a:r>
              <a:rPr lang="en-US" dirty="0">
                <a:latin typeface="Courier"/>
              </a:rPr>
              <a:t>    </a:t>
            </a:r>
            <a:r>
              <a:rPr lang="en-US" dirty="0" err="1">
                <a:solidFill>
                  <a:srgbClr val="7D9029"/>
                </a:solidFill>
                <a:latin typeface="Courier"/>
              </a:rPr>
              <a:t>DataToFrom</a:t>
            </a:r>
            <a:r>
              <a:rPr lang="en-US" dirty="0">
                <a:solidFill>
                  <a:srgbClr val="7D9029"/>
                </a:solidFill>
                <a:latin typeface="Courier"/>
              </a:rPr>
              <a:t> =</a:t>
            </a:r>
            <a:r>
              <a:rPr lang="en-US" dirty="0">
                <a:latin typeface="Courier"/>
              </a:rPr>
              <a:t> </a:t>
            </a:r>
            <a:r>
              <a:rPr lang="en-US" dirty="0">
                <a:solidFill>
                  <a:srgbClr val="4070A0"/>
                </a:solidFill>
                <a:latin typeface="Courier"/>
              </a:rPr>
              <a:t>"Data"</a:t>
            </a:r>
            <a:r>
              <a:rPr lang="en-US" dirty="0">
                <a:latin typeface="Courier"/>
              </a:rPr>
              <a:t>,</a:t>
            </a:r>
            <a:br>
              <a:rPr lang="en-US" dirty="0"/>
            </a:br>
            <a:r>
              <a:rPr lang="en-US" dirty="0">
                <a:latin typeface="Courier"/>
              </a:rPr>
              <a:t>    </a:t>
            </a:r>
            <a:r>
              <a:rPr lang="en-US" dirty="0">
                <a:solidFill>
                  <a:srgbClr val="7D9029"/>
                </a:solidFill>
                <a:latin typeface="Courier"/>
              </a:rPr>
              <a:t>Usage =</a:t>
            </a:r>
            <a:r>
              <a:rPr lang="en-US" dirty="0">
                <a:latin typeface="Courier"/>
              </a:rPr>
              <a:t> </a:t>
            </a:r>
            <a:r>
              <a:rPr lang="en-US" dirty="0">
                <a:solidFill>
                  <a:srgbClr val="4070A0"/>
                </a:solidFill>
                <a:latin typeface="Courier"/>
              </a:rPr>
              <a:t>"Used"</a:t>
            </a:r>
            <a:r>
              <a:rPr lang="en-US" dirty="0">
                <a:latin typeface="Courier"/>
              </a:rPr>
              <a:t>,</a:t>
            </a:r>
            <a:br>
              <a:rPr lang="en-US" dirty="0"/>
            </a:br>
            <a:r>
              <a:rPr lang="en-US" dirty="0">
                <a:latin typeface="Courier"/>
              </a:rPr>
              <a:t>    </a:t>
            </a:r>
            <a:r>
              <a:rPr lang="en-US" dirty="0" err="1">
                <a:solidFill>
                  <a:srgbClr val="7D9029"/>
                </a:solidFill>
                <a:latin typeface="Courier"/>
              </a:rPr>
              <a:t>SamplesOrigin</a:t>
            </a:r>
            <a:r>
              <a:rPr lang="en-US" dirty="0">
                <a:solidFill>
                  <a:srgbClr val="7D9029"/>
                </a:solidFill>
                <a:latin typeface="Courier"/>
              </a:rPr>
              <a:t> =</a:t>
            </a:r>
            <a:r>
              <a:rPr lang="en-US" dirty="0">
                <a:latin typeface="Courier"/>
              </a:rPr>
              <a:t> </a:t>
            </a:r>
            <a:r>
              <a:rPr lang="en-US" dirty="0">
                <a:solidFill>
                  <a:srgbClr val="4070A0"/>
                </a:solidFill>
                <a:latin typeface="Courier"/>
              </a:rPr>
              <a:t>"U"</a:t>
            </a:r>
            <a:r>
              <a:rPr lang="en-US" dirty="0">
                <a:latin typeface="Courier"/>
              </a:rPr>
              <a:t>,</a:t>
            </a:r>
            <a:br>
              <a:rPr lang="en-US" dirty="0"/>
            </a:br>
            <a:r>
              <a:rPr lang="en-US" dirty="0">
                <a:latin typeface="Courier"/>
              </a:rPr>
              <a:t>    </a:t>
            </a:r>
            <a:r>
              <a:rPr lang="en-US" dirty="0" err="1">
                <a:solidFill>
                  <a:srgbClr val="7D9029"/>
                </a:solidFill>
                <a:latin typeface="Courier"/>
              </a:rPr>
              <a:t>QualityFlag</a:t>
            </a:r>
            <a:r>
              <a:rPr lang="en-US" dirty="0">
                <a:solidFill>
                  <a:srgbClr val="7D9029"/>
                </a:solidFill>
                <a:latin typeface="Courier"/>
              </a:rPr>
              <a:t> =</a:t>
            </a:r>
            <a:r>
              <a:rPr lang="en-US" dirty="0">
                <a:latin typeface="Courier"/>
              </a:rPr>
              <a:t> </a:t>
            </a:r>
            <a:r>
              <a:rPr lang="en-US" dirty="0">
                <a:solidFill>
                  <a:srgbClr val="4070A0"/>
                </a:solidFill>
                <a:latin typeface="Courier"/>
              </a:rPr>
              <a:t>"U"</a:t>
            </a:r>
            <a:r>
              <a:rPr lang="en-US" dirty="0">
                <a:latin typeface="Courier"/>
              </a:rPr>
              <a:t>,</a:t>
            </a:r>
            <a:br>
              <a:rPr lang="en-US" dirty="0"/>
            </a:br>
            <a:r>
              <a:rPr lang="en-US" dirty="0">
                <a:latin typeface="Courier"/>
              </a:rPr>
              <a:t>    </a:t>
            </a:r>
            <a:r>
              <a:rPr lang="en-US" dirty="0" err="1">
                <a:solidFill>
                  <a:srgbClr val="7D9029"/>
                </a:solidFill>
                <a:latin typeface="Courier"/>
              </a:rPr>
              <a:t>UnitCATON</a:t>
            </a:r>
            <a:r>
              <a:rPr lang="en-US" dirty="0">
                <a:solidFill>
                  <a:srgbClr val="7D9029"/>
                </a:solidFill>
                <a:latin typeface="Courier"/>
              </a:rPr>
              <a:t> =</a:t>
            </a:r>
            <a:r>
              <a:rPr lang="en-US" dirty="0">
                <a:latin typeface="Courier"/>
              </a:rPr>
              <a:t> </a:t>
            </a:r>
            <a:r>
              <a:rPr lang="en-US" dirty="0">
                <a:solidFill>
                  <a:srgbClr val="4070A0"/>
                </a:solidFill>
                <a:latin typeface="Courier"/>
              </a:rPr>
              <a:t>"kg"</a:t>
            </a:r>
            <a:r>
              <a:rPr lang="en-US" dirty="0">
                <a:latin typeface="Courier"/>
              </a:rPr>
              <a:t>,</a:t>
            </a:r>
            <a:br>
              <a:rPr lang="en-US" dirty="0"/>
            </a:br>
            <a:r>
              <a:rPr lang="en-US" dirty="0">
                <a:latin typeface="Courier"/>
              </a:rPr>
              <a:t>    </a:t>
            </a:r>
            <a:r>
              <a:rPr lang="en-US" dirty="0">
                <a:solidFill>
                  <a:srgbClr val="7D9029"/>
                </a:solidFill>
                <a:latin typeface="Courier"/>
              </a:rPr>
              <a:t>CATON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sumCLoffWeight</a:t>
            </a:r>
            <a:r>
              <a:rPr lang="en-US" dirty="0">
                <a:latin typeface="Courier"/>
              </a:rPr>
              <a:t>,</a:t>
            </a:r>
            <a:br>
              <a:rPr lang="en-US" dirty="0"/>
            </a:br>
            <a:r>
              <a:rPr lang="en-US" dirty="0">
                <a:latin typeface="Courier"/>
              </a:rPr>
              <a:t>    </a:t>
            </a:r>
            <a:r>
              <a:rPr lang="en-US" dirty="0" err="1">
                <a:solidFill>
                  <a:srgbClr val="7D9029"/>
                </a:solidFill>
                <a:latin typeface="Courier"/>
              </a:rPr>
              <a:t>OffLandings</a:t>
            </a:r>
            <a:r>
              <a:rPr lang="en-US" dirty="0">
                <a:solidFill>
                  <a:srgbClr val="7D9029"/>
                </a:solidFill>
                <a:latin typeface="Courier"/>
              </a:rPr>
              <a:t>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sumCLoffWeight</a:t>
            </a:r>
            <a:r>
              <a:rPr lang="en-US" dirty="0">
                <a:latin typeface="Courier"/>
              </a:rPr>
              <a:t>,</a:t>
            </a:r>
            <a:br>
              <a:rPr lang="en-US" dirty="0"/>
            </a:br>
            <a:r>
              <a:rPr lang="en-US" dirty="0">
                <a:latin typeface="Courier"/>
              </a:rPr>
              <a:t>    </a:t>
            </a:r>
            <a:br>
              <a:rPr lang="en-US" dirty="0"/>
            </a:br>
            <a:r>
              <a:rPr lang="en-US" dirty="0">
                <a:latin typeface="Courier"/>
              </a:rPr>
              <a:t>    </a:t>
            </a:r>
            <a:r>
              <a:rPr lang="en-US" i="1" dirty="0">
                <a:solidFill>
                  <a:srgbClr val="60A0B0"/>
                </a:solidFill>
                <a:latin typeface="Courier"/>
              </a:rPr>
              <a:t># SD columns</a:t>
            </a:r>
            <a:br>
              <a:rPr lang="en-US" dirty="0"/>
            </a:br>
            <a:r>
              <a:rPr lang="en-US" dirty="0">
                <a:latin typeface="Courier"/>
              </a:rPr>
              <a:t>    </a:t>
            </a:r>
            <a:r>
              <a:rPr lang="en-US" dirty="0">
                <a:solidFill>
                  <a:srgbClr val="7D9029"/>
                </a:solidFill>
                <a:latin typeface="Courier"/>
              </a:rPr>
              <a:t>Sex =</a:t>
            </a:r>
            <a:r>
              <a:rPr lang="en-US" dirty="0">
                <a:latin typeface="Courier"/>
              </a:rPr>
              <a:t> </a:t>
            </a:r>
            <a:r>
              <a:rPr lang="en-US" dirty="0">
                <a:solidFill>
                  <a:srgbClr val="4070A0"/>
                </a:solidFill>
                <a:latin typeface="Courier"/>
              </a:rPr>
              <a:t>"N"</a:t>
            </a:r>
            <a:r>
              <a:rPr lang="en-US" dirty="0">
                <a:latin typeface="Courier"/>
              </a:rPr>
              <a:t>,</a:t>
            </a:r>
            <a:br>
              <a:rPr lang="en-US" dirty="0"/>
            </a:br>
            <a:r>
              <a:rPr lang="en-US" dirty="0">
                <a:latin typeface="Courier"/>
              </a:rPr>
              <a:t>    </a:t>
            </a:r>
            <a:r>
              <a:rPr lang="en-US" dirty="0" err="1">
                <a:solidFill>
                  <a:srgbClr val="7D9029"/>
                </a:solidFill>
                <a:latin typeface="Courier"/>
              </a:rPr>
              <a:t>CANUMtype</a:t>
            </a:r>
            <a:r>
              <a:rPr lang="en-US" dirty="0">
                <a:solidFill>
                  <a:srgbClr val="7D9029"/>
                </a:solidFill>
                <a:latin typeface="Courier"/>
              </a:rPr>
              <a:t> =</a:t>
            </a:r>
            <a:r>
              <a:rPr lang="en-US" dirty="0">
                <a:latin typeface="Courier"/>
              </a:rPr>
              <a:t> </a:t>
            </a:r>
            <a:r>
              <a:rPr lang="en-US" dirty="0">
                <a:solidFill>
                  <a:srgbClr val="4070A0"/>
                </a:solidFill>
                <a:latin typeface="Courier"/>
              </a:rPr>
              <a:t>"L"</a:t>
            </a:r>
            <a:r>
              <a:rPr lang="en-US" dirty="0">
                <a:latin typeface="Courier"/>
              </a:rPr>
              <a:t>,</a:t>
            </a:r>
            <a:br>
              <a:rPr lang="en-US" dirty="0"/>
            </a:br>
            <a:r>
              <a:rPr lang="en-US" dirty="0">
                <a:latin typeface="Courier"/>
              </a:rPr>
              <a:t>    </a:t>
            </a:r>
            <a:r>
              <a:rPr lang="en-US" dirty="0" err="1">
                <a:solidFill>
                  <a:srgbClr val="7D9029"/>
                </a:solidFill>
                <a:latin typeface="Courier"/>
              </a:rPr>
              <a:t>AgeLength</a:t>
            </a:r>
            <a:r>
              <a:rPr lang="en-US" dirty="0">
                <a:solidFill>
                  <a:srgbClr val="7D9029"/>
                </a:solidFill>
                <a:latin typeface="Courier"/>
              </a:rPr>
              <a:t> =</a:t>
            </a:r>
            <a:r>
              <a:rPr lang="en-US" dirty="0">
                <a:latin typeface="Courier"/>
              </a:rPr>
              <a:t> </a:t>
            </a:r>
            <a:r>
              <a:rPr lang="en-US" dirty="0" err="1">
                <a:solidFill>
                  <a:srgbClr val="06287E"/>
                </a:solidFill>
                <a:latin typeface="Courier"/>
              </a:rPr>
              <a:t>as.integer</a:t>
            </a:r>
            <a:r>
              <a:rPr lang="en-US" dirty="0">
                <a:latin typeface="Courier"/>
              </a:rPr>
              <a:t>(</a:t>
            </a:r>
            <a:r>
              <a:rPr lang="en-US" dirty="0" err="1">
                <a:solidFill>
                  <a:srgbClr val="06287E"/>
                </a:solidFill>
                <a:latin typeface="Courier"/>
              </a:rPr>
              <a:t>as.character</a:t>
            </a:r>
            <a:r>
              <a:rPr lang="en-US" dirty="0">
                <a:latin typeface="Courier"/>
              </a:rPr>
              <a:t>(</a:t>
            </a:r>
            <a:r>
              <a:rPr lang="en-US" dirty="0" err="1">
                <a:latin typeface="Courier"/>
              </a:rPr>
              <a:t>ageCANUM</a:t>
            </a:r>
            <a:r>
              <a:rPr lang="en-US" dirty="0" err="1">
                <a:solidFill>
                  <a:srgbClr val="4070A0"/>
                </a:solidFill>
                <a:latin typeface="Courier"/>
              </a:rPr>
              <a:t>$</a:t>
            </a:r>
            <a:r>
              <a:rPr lang="en-US" dirty="0" err="1">
                <a:latin typeface="Courier"/>
              </a:rPr>
              <a:t>Group</a:t>
            </a:r>
            <a:r>
              <a:rPr lang="en-US" dirty="0">
                <a:latin typeface="Courier"/>
              </a:rPr>
              <a:t>)),</a:t>
            </a:r>
            <a:br>
              <a:rPr lang="en-US" dirty="0"/>
            </a:br>
            <a:r>
              <a:rPr lang="en-US" dirty="0">
                <a:latin typeface="Courier"/>
              </a:rPr>
              <a:t>    </a:t>
            </a:r>
            <a:r>
              <a:rPr lang="en-US" dirty="0" err="1">
                <a:solidFill>
                  <a:srgbClr val="7D9029"/>
                </a:solidFill>
                <a:latin typeface="Courier"/>
              </a:rPr>
              <a:t>PlusGroup</a:t>
            </a:r>
            <a:r>
              <a:rPr lang="en-US" dirty="0">
                <a:solidFill>
                  <a:srgbClr val="7D9029"/>
                </a:solidFill>
                <a:latin typeface="Courier"/>
              </a:rPr>
              <a:t>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plusGroup</a:t>
            </a:r>
            <a:r>
              <a:rPr lang="en-US" dirty="0">
                <a:latin typeface="Courier"/>
              </a:rPr>
              <a:t>,</a:t>
            </a:r>
            <a:br>
              <a:rPr lang="en-US" dirty="0"/>
            </a:br>
            <a:r>
              <a:rPr lang="en-US" dirty="0">
                <a:latin typeface="Courier"/>
              </a:rPr>
              <a:t>    </a:t>
            </a:r>
            <a:r>
              <a:rPr lang="en-US" dirty="0" err="1">
                <a:solidFill>
                  <a:srgbClr val="7D9029"/>
                </a:solidFill>
                <a:latin typeface="Courier"/>
              </a:rPr>
              <a:t>unitMeanWeight</a:t>
            </a:r>
            <a:r>
              <a:rPr lang="en-US" dirty="0">
                <a:solidFill>
                  <a:srgbClr val="7D9029"/>
                </a:solidFill>
                <a:latin typeface="Courier"/>
              </a:rPr>
              <a:t> =</a:t>
            </a:r>
            <a:r>
              <a:rPr lang="en-US" dirty="0">
                <a:latin typeface="Courier"/>
              </a:rPr>
              <a:t> </a:t>
            </a:r>
            <a:r>
              <a:rPr lang="en-US" dirty="0">
                <a:solidFill>
                  <a:srgbClr val="4070A0"/>
                </a:solidFill>
                <a:latin typeface="Courier"/>
              </a:rPr>
              <a:t>"g"</a:t>
            </a:r>
            <a:r>
              <a:rPr lang="en-US" dirty="0">
                <a:latin typeface="Courier"/>
              </a:rPr>
              <a:t>, </a:t>
            </a:r>
            <a:br>
              <a:rPr lang="en-US" dirty="0"/>
            </a:br>
            <a:r>
              <a:rPr lang="en-US" dirty="0">
                <a:latin typeface="Courier"/>
              </a:rPr>
              <a:t>    </a:t>
            </a:r>
            <a:r>
              <a:rPr lang="en-US" dirty="0" err="1">
                <a:solidFill>
                  <a:srgbClr val="7D9029"/>
                </a:solidFill>
                <a:latin typeface="Courier"/>
              </a:rPr>
              <a:t>unitCANUM</a:t>
            </a:r>
            <a:r>
              <a:rPr lang="en-US" dirty="0">
                <a:solidFill>
                  <a:srgbClr val="7D9029"/>
                </a:solidFill>
                <a:latin typeface="Courier"/>
              </a:rPr>
              <a:t> =</a:t>
            </a:r>
            <a:r>
              <a:rPr lang="en-US" dirty="0">
                <a:latin typeface="Courier"/>
              </a:rPr>
              <a:t> </a:t>
            </a:r>
            <a:r>
              <a:rPr lang="en-US" dirty="0">
                <a:solidFill>
                  <a:srgbClr val="4070A0"/>
                </a:solidFill>
                <a:latin typeface="Courier"/>
              </a:rPr>
              <a:t>"n"</a:t>
            </a:r>
            <a:r>
              <a:rPr lang="en-US" dirty="0">
                <a:latin typeface="Courier"/>
              </a:rPr>
              <a:t>,</a:t>
            </a:r>
            <a:br>
              <a:rPr lang="en-US" dirty="0"/>
            </a:br>
            <a:r>
              <a:rPr lang="en-US" dirty="0">
                <a:latin typeface="Courier"/>
              </a:rPr>
              <a:t>    </a:t>
            </a:r>
            <a:r>
              <a:rPr lang="en-US" dirty="0" err="1">
                <a:solidFill>
                  <a:srgbClr val="7D9029"/>
                </a:solidFill>
                <a:latin typeface="Courier"/>
              </a:rPr>
              <a:t>UnitAgeOrLength</a:t>
            </a:r>
            <a:r>
              <a:rPr lang="en-US" dirty="0">
                <a:solidFill>
                  <a:srgbClr val="7D9029"/>
                </a:solidFill>
                <a:latin typeface="Courier"/>
              </a:rPr>
              <a:t> =</a:t>
            </a:r>
            <a:r>
              <a:rPr lang="en-US" dirty="0">
                <a:latin typeface="Courier"/>
              </a:rPr>
              <a:t> </a:t>
            </a:r>
            <a:r>
              <a:rPr lang="en-US" dirty="0">
                <a:solidFill>
                  <a:srgbClr val="4070A0"/>
                </a:solidFill>
                <a:latin typeface="Courier"/>
              </a:rPr>
              <a:t>"Age"</a:t>
            </a:r>
            <a:r>
              <a:rPr lang="en-US" dirty="0">
                <a:latin typeface="Courier"/>
              </a:rPr>
              <a:t>, </a:t>
            </a:r>
            <a:br>
              <a:rPr lang="en-US" dirty="0"/>
            </a:br>
            <a:r>
              <a:rPr lang="en-US" dirty="0">
                <a:latin typeface="Courier"/>
              </a:rPr>
              <a:t>    </a:t>
            </a:r>
            <a:r>
              <a:rPr lang="en-US" dirty="0" err="1">
                <a:solidFill>
                  <a:srgbClr val="7D9029"/>
                </a:solidFill>
                <a:latin typeface="Courier"/>
              </a:rPr>
              <a:t>UnitMeanLength</a:t>
            </a:r>
            <a:r>
              <a:rPr lang="en-US" dirty="0">
                <a:solidFill>
                  <a:srgbClr val="7D9029"/>
                </a:solidFill>
                <a:latin typeface="Courier"/>
              </a:rPr>
              <a:t> =</a:t>
            </a:r>
            <a:r>
              <a:rPr lang="en-US" dirty="0">
                <a:latin typeface="Courier"/>
              </a:rPr>
              <a:t> </a:t>
            </a:r>
            <a:r>
              <a:rPr lang="en-US" dirty="0">
                <a:solidFill>
                  <a:srgbClr val="4070A0"/>
                </a:solidFill>
                <a:latin typeface="Courier"/>
              </a:rPr>
              <a:t>"mm"</a:t>
            </a:r>
            <a:r>
              <a:rPr lang="en-US" dirty="0">
                <a:latin typeface="Courier"/>
              </a:rPr>
              <a:t>,</a:t>
            </a:r>
            <a:br>
              <a:rPr lang="en-US" dirty="0"/>
            </a:br>
            <a:r>
              <a:rPr lang="en-US" dirty="0">
                <a:latin typeface="Courier"/>
              </a:rPr>
              <a:t>    </a:t>
            </a:r>
            <a:r>
              <a:rPr lang="en-US" dirty="0" err="1">
                <a:solidFill>
                  <a:srgbClr val="7D9029"/>
                </a:solidFill>
                <a:latin typeface="Courier"/>
              </a:rPr>
              <a:t>NumberCaught</a:t>
            </a:r>
            <a:r>
              <a:rPr lang="en-US" dirty="0">
                <a:solidFill>
                  <a:srgbClr val="7D9029"/>
                </a:solidFill>
                <a:latin typeface="Courier"/>
              </a:rPr>
              <a:t>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totNum</a:t>
            </a:r>
            <a:r>
              <a:rPr lang="en-US" dirty="0">
                <a:latin typeface="Courier"/>
              </a:rPr>
              <a:t>,</a:t>
            </a:r>
            <a:br>
              <a:rPr lang="en-US" dirty="0"/>
            </a:br>
            <a:r>
              <a:rPr lang="en-US" dirty="0">
                <a:latin typeface="Courier"/>
              </a:rPr>
              <a:t>    </a:t>
            </a:r>
            <a:r>
              <a:rPr lang="en-US" dirty="0" err="1">
                <a:solidFill>
                  <a:srgbClr val="7D9029"/>
                </a:solidFill>
                <a:latin typeface="Courier"/>
              </a:rPr>
              <a:t>MeanWeight</a:t>
            </a:r>
            <a:r>
              <a:rPr lang="en-US" dirty="0">
                <a:solidFill>
                  <a:srgbClr val="7D9029"/>
                </a:solidFill>
                <a:latin typeface="Courier"/>
              </a:rPr>
              <a:t>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WeightgMean</a:t>
            </a:r>
            <a:r>
              <a:rPr lang="en-US" dirty="0">
                <a:latin typeface="Courier"/>
              </a:rPr>
              <a:t>,</a:t>
            </a:r>
            <a:br>
              <a:rPr lang="en-US" dirty="0"/>
            </a:br>
            <a:r>
              <a:rPr lang="en-US" dirty="0">
                <a:latin typeface="Courier"/>
              </a:rPr>
              <a:t>    </a:t>
            </a:r>
            <a:r>
              <a:rPr lang="en-US" dirty="0" err="1">
                <a:solidFill>
                  <a:srgbClr val="7D9029"/>
                </a:solidFill>
                <a:latin typeface="Courier"/>
              </a:rPr>
              <a:t>MeanLength</a:t>
            </a:r>
            <a:r>
              <a:rPr lang="en-US" dirty="0">
                <a:solidFill>
                  <a:srgbClr val="7D9029"/>
                </a:solidFill>
                <a:latin typeface="Courier"/>
              </a:rPr>
              <a:t> =</a:t>
            </a:r>
            <a:r>
              <a:rPr lang="en-US" dirty="0">
                <a:latin typeface="Courier"/>
              </a:rPr>
              <a:t> </a:t>
            </a:r>
            <a:r>
              <a:rPr lang="en-US" dirty="0" err="1">
                <a:latin typeface="Courier"/>
              </a:rPr>
              <a:t>ageCANUM</a:t>
            </a:r>
            <a:r>
              <a:rPr lang="en-US" dirty="0" err="1">
                <a:solidFill>
                  <a:srgbClr val="4070A0"/>
                </a:solidFill>
                <a:latin typeface="Courier"/>
              </a:rPr>
              <a:t>$</a:t>
            </a:r>
            <a:r>
              <a:rPr lang="en-US" dirty="0" err="1">
                <a:latin typeface="Courier"/>
              </a:rPr>
              <a:t>LengthmmMean</a:t>
            </a:r>
            <a:br>
              <a:rPr lang="en-US" dirty="0"/>
            </a:br>
            <a:r>
              <a:rPr lang="en-US" dirty="0">
                <a:latin typeface="Courier"/>
              </a:rPr>
              <a:t>)</a:t>
            </a:r>
          </a:p>
        </p:txBody>
      </p:sp>
      <p:sp>
        <p:nvSpPr>
          <p:cNvPr id="4" name="Text Placeholder 3">
            <a:extLst>
              <a:ext uri="{FF2B5EF4-FFF2-40B4-BE49-F238E27FC236}">
                <a16:creationId xmlns:a16="http://schemas.microsoft.com/office/drawing/2014/main" id="{D412A4D3-C9BD-4C42-B5BA-ED57C0BEB60B}"/>
              </a:ext>
            </a:extLst>
          </p:cNvPr>
          <p:cNvSpPr>
            <a:spLocks noGrp="1"/>
          </p:cNvSpPr>
          <p:nvPr>
            <p:ph type="body" sz="half" idx="2"/>
          </p:nvPr>
        </p:nvSpPr>
        <p:spPr>
          <a:xfrm>
            <a:off x="5125453" y="1440354"/>
            <a:ext cx="6061166" cy="5025698"/>
          </a:xfrm>
        </p:spPr>
        <p:txBody>
          <a:bodyPr>
            <a:normAutofit fontScale="85000" lnSpcReduction="20000"/>
          </a:bodyPr>
          <a:lstStyle/>
          <a:p>
            <a:pPr lvl="0"/>
            <a:r>
              <a:rPr lang="en-US" dirty="0">
                <a:latin typeface="Courier"/>
              </a:rPr>
              <a:t>## Warning in </a:t>
            </a:r>
            <a:r>
              <a:rPr lang="en-US" dirty="0" err="1">
                <a:latin typeface="Courier"/>
              </a:rPr>
              <a:t>data.frame</a:t>
            </a:r>
            <a:r>
              <a:rPr lang="en-US" dirty="0">
                <a:latin typeface="Courier"/>
              </a:rPr>
              <a:t>(Country = "EE", Year = "2022", </a:t>
            </a:r>
            <a:r>
              <a:rPr lang="en-US" dirty="0" err="1">
                <a:latin typeface="Courier"/>
              </a:rPr>
              <a:t>SeasonType</a:t>
            </a:r>
            <a:r>
              <a:rPr lang="en-US" dirty="0">
                <a:latin typeface="Courier"/>
              </a:rPr>
              <a:t> = "Quarter", :
## NAs introduced by coercion</a:t>
            </a:r>
          </a:p>
          <a:p>
            <a:pPr lvl="0"/>
            <a:r>
              <a:rPr lang="en-US" i="1" dirty="0">
                <a:solidFill>
                  <a:srgbClr val="60A0B0"/>
                </a:solidFill>
                <a:latin typeface="Courier"/>
              </a:rPr>
              <a:t># Generate the </a:t>
            </a:r>
            <a:r>
              <a:rPr lang="en-US" i="1" dirty="0" err="1">
                <a:solidFill>
                  <a:srgbClr val="60A0B0"/>
                </a:solidFill>
                <a:latin typeface="Courier"/>
              </a:rPr>
              <a:t>InterCatch</a:t>
            </a:r>
            <a:r>
              <a:rPr lang="en-US" i="1" dirty="0">
                <a:solidFill>
                  <a:srgbClr val="60A0B0"/>
                </a:solidFill>
                <a:latin typeface="Courier"/>
              </a:rPr>
              <a:t> string</a:t>
            </a:r>
            <a:br>
              <a:rPr lang="en-US" dirty="0"/>
            </a:br>
            <a:r>
              <a:rPr lang="en-US" dirty="0" err="1">
                <a:latin typeface="Courier"/>
              </a:rPr>
              <a:t>ic_output</a:t>
            </a:r>
            <a:r>
              <a:rPr lang="en-US" dirty="0">
                <a:latin typeface="Courier"/>
              </a:rPr>
              <a:t> </a:t>
            </a:r>
            <a:r>
              <a:rPr lang="en-US" dirty="0">
                <a:solidFill>
                  <a:srgbClr val="007020"/>
                </a:solidFill>
                <a:latin typeface="Courier"/>
              </a:rPr>
              <a:t>&lt;-</a:t>
            </a:r>
            <a:r>
              <a:rPr lang="en-US" dirty="0">
                <a:latin typeface="Courier"/>
              </a:rPr>
              <a:t> </a:t>
            </a:r>
            <a:r>
              <a:rPr lang="en-US" dirty="0" err="1">
                <a:solidFill>
                  <a:srgbClr val="06287E"/>
                </a:solidFill>
                <a:latin typeface="Courier"/>
              </a:rPr>
              <a:t>exportEstimationResultsToInterCatchFormat</a:t>
            </a:r>
            <a:r>
              <a:rPr lang="en-US" dirty="0">
                <a:latin typeface="Courier"/>
              </a:rPr>
              <a:t>(</a:t>
            </a:r>
            <a:r>
              <a:rPr lang="en-US" dirty="0" err="1">
                <a:latin typeface="Courier"/>
              </a:rPr>
              <a:t>dataToExport</a:t>
            </a:r>
            <a:r>
              <a:rPr lang="en-US" dirty="0">
                <a:latin typeface="Courier"/>
              </a:rPr>
              <a:t>)</a:t>
            </a:r>
            <a:br>
              <a:rPr lang="en-US" dirty="0"/>
            </a:br>
            <a:br>
              <a:rPr lang="en-US" dirty="0"/>
            </a:br>
            <a:r>
              <a:rPr lang="en-US" i="1" dirty="0">
                <a:solidFill>
                  <a:srgbClr val="60A0B0"/>
                </a:solidFill>
                <a:latin typeface="Courier"/>
              </a:rPr>
              <a:t># Show the first few lines of the output</a:t>
            </a:r>
            <a:br>
              <a:rPr lang="en-US" dirty="0"/>
            </a:br>
            <a:r>
              <a:rPr lang="en-US" dirty="0">
                <a:solidFill>
                  <a:srgbClr val="06287E"/>
                </a:solidFill>
                <a:latin typeface="Courier"/>
              </a:rPr>
              <a:t>head</a:t>
            </a:r>
            <a:r>
              <a:rPr lang="en-US" dirty="0">
                <a:latin typeface="Courier"/>
              </a:rPr>
              <a:t>(</a:t>
            </a:r>
            <a:r>
              <a:rPr lang="en-US" dirty="0" err="1">
                <a:latin typeface="Courier"/>
              </a:rPr>
              <a:t>ic_output</a:t>
            </a:r>
            <a:r>
              <a:rPr lang="en-US" dirty="0">
                <a:latin typeface="Courier"/>
              </a:rPr>
              <a:t>)</a:t>
            </a:r>
          </a:p>
          <a:p>
            <a:pPr lvl="0"/>
            <a:r>
              <a:rPr lang="en-US" dirty="0">
                <a:latin typeface="Courier"/>
              </a:rPr>
              <a:t>## [1] "HI,EE,2022,Quarter,1,OTM_SPF_16-31_0_0,Div,27.3.d.28.1,NA,NA,-9,NA"                                                                                    
## [2] "SI,EE,2022,Quarter,1,OTM_SPF_16-31_0_0,Div,27.3.d.28.1,NA,SPR,Unknown,L,R,Data,Used,U,U,kg,396210,396210,-9,NA,NA,NA"                                  
## [3] "SD,EE,2022,Quarter,1,OTM_SPF_16-31_0_0,Div,27.3.d.28.1,NA,SPR,Unknown,L,R,N,L,1,8,-9,-9,-9,-9,-9,g,n,Age,mm,NA, 5817255.8, 3.943396, 87.01887,-9,-9,-9"
</a:t>
            </a:r>
            <a:r>
              <a:rPr lang="et-EE" dirty="0"/>
              <a:t>See </a:t>
            </a:r>
            <a:r>
              <a:rPr lang="et-EE" dirty="0" err="1"/>
              <a:t>vignettes</a:t>
            </a:r>
            <a:r>
              <a:rPr lang="et-EE" dirty="0"/>
              <a:t> </a:t>
            </a:r>
            <a:r>
              <a:rPr lang="et-EE" dirty="0" err="1"/>
              <a:t>for</a:t>
            </a:r>
            <a:r>
              <a:rPr lang="en-US" dirty="0"/>
              <a:t> explanations of the estimation workflow and exporting results to </a:t>
            </a:r>
            <a:r>
              <a:rPr lang="en-US" dirty="0" err="1"/>
              <a:t>InterCatch</a:t>
            </a:r>
            <a:r>
              <a:rPr lang="en-US" dirty="0"/>
              <a:t> format.</a:t>
            </a:r>
          </a:p>
          <a:p>
            <a:pPr lvl="0"/>
            <a:br>
              <a:rPr lang="en-US" dirty="0"/>
            </a:br>
            <a:endParaRPr lang="en-US" dirty="0"/>
          </a:p>
        </p:txBody>
      </p:sp>
    </p:spTree>
    <p:extLst>
      <p:ext uri="{BB962C8B-B14F-4D97-AF65-F5344CB8AC3E}">
        <p14:creationId xmlns:p14="http://schemas.microsoft.com/office/powerpoint/2010/main" val="70045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Issues Reporting</a:t>
            </a:r>
          </a:p>
        </p:txBody>
      </p:sp>
      <p:sp>
        <p:nvSpPr>
          <p:cNvPr id="3" name="Content Placeholder 2"/>
          <p:cNvSpPr>
            <a:spLocks noGrp="1"/>
          </p:cNvSpPr>
          <p:nvPr>
            <p:ph idx="1"/>
          </p:nvPr>
        </p:nvSpPr>
        <p:spPr/>
        <p:txBody>
          <a:bodyPr/>
          <a:lstStyle/>
          <a:p>
            <a:pPr marL="0" indent="0">
              <a:buNone/>
            </a:pPr>
            <a:r>
              <a:rPr lang="en-US" dirty="0"/>
              <a:t>The general idea of the package is to provide a set of tools to work with the RDBES data in R. The package is under development and we are looking for feedback from users to improve the package.</a:t>
            </a:r>
          </a:p>
          <a:p>
            <a:pPr marL="0" lvl="0" indent="0">
              <a:buNone/>
            </a:pPr>
            <a:endParaRPr lang="et-EE" dirty="0"/>
          </a:p>
          <a:p>
            <a:pPr marL="0" lvl="0" indent="0">
              <a:buNone/>
            </a:pPr>
            <a:r>
              <a:rPr dirty="0"/>
              <a:t>If something is not working as expected, or if you have a feature request, please open an issue on </a:t>
            </a:r>
            <a:r>
              <a:rPr dirty="0" err="1">
                <a:hlinkClick r:id="rId2"/>
              </a:rPr>
              <a:t>RDBEScore</a:t>
            </a:r>
            <a:r>
              <a:rPr dirty="0">
                <a:hlinkClick r:id="rId2"/>
              </a:rPr>
              <a:t> GitHub</a:t>
            </a:r>
            <a:endParaRPr lang="et-EE" dirty="0">
              <a:hlinkClick r:id="rId2"/>
            </a:endParaRPr>
          </a:p>
          <a:p>
            <a:pPr marL="0" lvl="0" indent="0">
              <a:buNone/>
            </a:pPr>
            <a:endParaRPr dirty="0">
              <a:hlinkClick r:id="rId2"/>
            </a:endParaRPr>
          </a:p>
          <a:p>
            <a:pPr marL="0" lvl="0" indent="0">
              <a:buNone/>
            </a:pPr>
            <a:r>
              <a:rPr dirty="0"/>
              <a:t>Of course you can also contribute to the development of the package by forking the repository and submitting a pull request</a:t>
            </a:r>
            <a:r>
              <a:rPr lang="et-EE" dirty="0"/>
              <a:t> </a:t>
            </a:r>
            <a:r>
              <a:rPr lang="et-EE" dirty="0" err="1"/>
              <a:t>or</a:t>
            </a:r>
            <a:r>
              <a:rPr lang="et-EE" dirty="0"/>
              <a:t> </a:t>
            </a:r>
            <a:r>
              <a:rPr lang="et-EE" dirty="0" err="1"/>
              <a:t>directly</a:t>
            </a:r>
            <a:r>
              <a:rPr lang="et-EE" dirty="0"/>
              <a:t> </a:t>
            </a:r>
            <a:r>
              <a:rPr lang="et-EE" dirty="0" err="1"/>
              <a:t>working</a:t>
            </a:r>
            <a:r>
              <a:rPr lang="et-EE" dirty="0"/>
              <a:t> on </a:t>
            </a:r>
            <a:r>
              <a:rPr lang="et-EE" dirty="0" err="1"/>
              <a:t>the</a:t>
            </a:r>
            <a:r>
              <a:rPr lang="et-EE" dirty="0"/>
              <a:t> </a:t>
            </a:r>
            <a:r>
              <a:rPr lang="et-EE" dirty="0" err="1"/>
              <a:t>dev</a:t>
            </a:r>
            <a:r>
              <a:rPr lang="et-EE" dirty="0"/>
              <a:t> </a:t>
            </a:r>
            <a:r>
              <a:rPr lang="et-EE" dirty="0" err="1"/>
              <a:t>branch</a:t>
            </a:r>
            <a:r>
              <a:rPr lang="et-EE" dirty="0"/>
              <a:t>.</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EF909-2B32-46FE-8152-C1661A82ED3C}"/>
              </a:ext>
            </a:extLst>
          </p:cNvPr>
          <p:cNvSpPr>
            <a:spLocks noGrp="1"/>
          </p:cNvSpPr>
          <p:nvPr>
            <p:ph type="title"/>
          </p:nvPr>
        </p:nvSpPr>
        <p:spPr/>
        <p:txBody>
          <a:bodyPr/>
          <a:lstStyle/>
          <a:p>
            <a:r>
              <a:rPr lang="et-EE" dirty="0" err="1"/>
              <a:t>Ongoing</a:t>
            </a:r>
            <a:r>
              <a:rPr lang="et-EE" dirty="0"/>
              <a:t> </a:t>
            </a:r>
            <a:r>
              <a:rPr lang="et-EE" dirty="0" err="1"/>
              <a:t>development</a:t>
            </a:r>
            <a:endParaRPr lang="en-US" dirty="0"/>
          </a:p>
        </p:txBody>
      </p:sp>
      <p:sp>
        <p:nvSpPr>
          <p:cNvPr id="3" name="Content Placeholder 2">
            <a:extLst>
              <a:ext uri="{FF2B5EF4-FFF2-40B4-BE49-F238E27FC236}">
                <a16:creationId xmlns:a16="http://schemas.microsoft.com/office/drawing/2014/main" id="{E8FB2F0E-A593-42E3-8547-11DE434BFDF9}"/>
              </a:ext>
            </a:extLst>
          </p:cNvPr>
          <p:cNvSpPr>
            <a:spLocks noGrp="1"/>
          </p:cNvSpPr>
          <p:nvPr>
            <p:ph idx="1"/>
          </p:nvPr>
        </p:nvSpPr>
        <p:spPr/>
        <p:txBody>
          <a:bodyPr/>
          <a:lstStyle/>
          <a:p>
            <a:pPr marL="0" lvl="0" indent="0">
              <a:buNone/>
            </a:pPr>
            <a:r>
              <a:rPr lang="et-EE" dirty="0" err="1"/>
              <a:t>This</a:t>
            </a:r>
            <a:r>
              <a:rPr lang="et-EE" dirty="0"/>
              <a:t> </a:t>
            </a:r>
            <a:r>
              <a:rPr lang="et-EE" dirty="0" err="1"/>
              <a:t>is</a:t>
            </a:r>
            <a:r>
              <a:rPr lang="et-EE" dirty="0"/>
              <a:t> </a:t>
            </a:r>
            <a:r>
              <a:rPr lang="et-EE" dirty="0" err="1"/>
              <a:t>work</a:t>
            </a:r>
            <a:r>
              <a:rPr lang="et-EE" dirty="0"/>
              <a:t> in progress!</a:t>
            </a:r>
          </a:p>
          <a:p>
            <a:pPr marL="0" lvl="0" indent="0">
              <a:buNone/>
            </a:pPr>
            <a:r>
              <a:rPr lang="et-EE" dirty="0"/>
              <a:t> </a:t>
            </a:r>
            <a:r>
              <a:rPr lang="et-EE" dirty="0" err="1"/>
              <a:t>Several</a:t>
            </a:r>
            <a:r>
              <a:rPr lang="et-EE" dirty="0"/>
              <a:t> </a:t>
            </a:r>
            <a:r>
              <a:rPr lang="et-EE" dirty="0" err="1"/>
              <a:t>things</a:t>
            </a:r>
            <a:r>
              <a:rPr lang="et-EE" dirty="0"/>
              <a:t> are </a:t>
            </a:r>
            <a:r>
              <a:rPr lang="et-EE" dirty="0" err="1"/>
              <a:t>being</a:t>
            </a:r>
            <a:r>
              <a:rPr lang="et-EE" dirty="0"/>
              <a:t> </a:t>
            </a:r>
            <a:r>
              <a:rPr lang="et-EE" dirty="0" err="1"/>
              <a:t>added</a:t>
            </a:r>
            <a:r>
              <a:rPr lang="et-EE" dirty="0"/>
              <a:t> </a:t>
            </a:r>
            <a:r>
              <a:rPr lang="et-EE" dirty="0" err="1"/>
              <a:t>but</a:t>
            </a:r>
            <a:r>
              <a:rPr lang="et-EE" dirty="0"/>
              <a:t> </a:t>
            </a:r>
            <a:r>
              <a:rPr lang="et-EE" dirty="0" err="1"/>
              <a:t>we</a:t>
            </a:r>
            <a:r>
              <a:rPr lang="et-EE" dirty="0"/>
              <a:t> </a:t>
            </a:r>
            <a:r>
              <a:rPr lang="et-EE" dirty="0" err="1"/>
              <a:t>try</a:t>
            </a:r>
            <a:r>
              <a:rPr lang="et-EE" dirty="0"/>
              <a:t> </a:t>
            </a:r>
            <a:r>
              <a:rPr lang="et-EE" dirty="0" err="1"/>
              <a:t>to</a:t>
            </a:r>
            <a:r>
              <a:rPr lang="et-EE" dirty="0"/>
              <a:t> </a:t>
            </a:r>
            <a:r>
              <a:rPr lang="et-EE" dirty="0" err="1"/>
              <a:t>avoid</a:t>
            </a:r>
            <a:r>
              <a:rPr lang="et-EE" dirty="0"/>
              <a:t> </a:t>
            </a:r>
            <a:r>
              <a:rPr lang="et-EE" dirty="0" err="1"/>
              <a:t>adding</a:t>
            </a:r>
            <a:r>
              <a:rPr lang="et-EE" dirty="0"/>
              <a:t> </a:t>
            </a:r>
            <a:r>
              <a:rPr lang="et-EE" dirty="0" err="1"/>
              <a:t>breaking</a:t>
            </a:r>
            <a:r>
              <a:rPr lang="et-EE" dirty="0"/>
              <a:t> </a:t>
            </a:r>
            <a:r>
              <a:rPr lang="et-EE" dirty="0" err="1"/>
              <a:t>changes</a:t>
            </a:r>
            <a:r>
              <a:rPr lang="et-EE" dirty="0"/>
              <a:t>. </a:t>
            </a:r>
          </a:p>
          <a:p>
            <a:pPr marL="0" lvl="0" indent="0">
              <a:buNone/>
            </a:pPr>
            <a:endParaRPr lang="et-EE" dirty="0"/>
          </a:p>
          <a:p>
            <a:pPr marL="0" lvl="0" indent="0">
              <a:buNone/>
            </a:pPr>
            <a:r>
              <a:rPr lang="et-EE" dirty="0"/>
              <a:t> </a:t>
            </a:r>
            <a:r>
              <a:rPr lang="et-EE" dirty="0" err="1"/>
              <a:t>Most</a:t>
            </a:r>
            <a:r>
              <a:rPr lang="et-EE" dirty="0"/>
              <a:t> </a:t>
            </a:r>
            <a:r>
              <a:rPr lang="et-EE" dirty="0" err="1"/>
              <a:t>things</a:t>
            </a:r>
            <a:r>
              <a:rPr lang="et-EE" dirty="0"/>
              <a:t> </a:t>
            </a:r>
            <a:r>
              <a:rPr lang="et-EE" dirty="0" err="1"/>
              <a:t>that</a:t>
            </a:r>
            <a:r>
              <a:rPr lang="et-EE" dirty="0"/>
              <a:t> are </a:t>
            </a:r>
            <a:r>
              <a:rPr lang="et-EE" dirty="0" err="1"/>
              <a:t>worked</a:t>
            </a:r>
            <a:r>
              <a:rPr lang="et-EE" dirty="0"/>
              <a:t> on are in </a:t>
            </a:r>
            <a:r>
              <a:rPr lang="en-US" dirty="0" err="1">
                <a:hlinkClick r:id="rId2"/>
              </a:rPr>
              <a:t>RDBEScore</a:t>
            </a:r>
            <a:r>
              <a:rPr lang="en-US" dirty="0">
                <a:hlinkClick r:id="rId2"/>
              </a:rPr>
              <a:t> </a:t>
            </a:r>
            <a:r>
              <a:rPr lang="en-US" dirty="0" err="1">
                <a:hlinkClick r:id="rId2"/>
              </a:rPr>
              <a:t>GitHu</a:t>
            </a:r>
            <a:r>
              <a:rPr lang="et-EE" dirty="0">
                <a:hlinkClick r:id="rId2"/>
              </a:rPr>
              <a:t>b </a:t>
            </a:r>
            <a:r>
              <a:rPr lang="et-EE" dirty="0" err="1">
                <a:hlinkClick r:id="rId2"/>
              </a:rPr>
              <a:t>issues</a:t>
            </a:r>
            <a:r>
              <a:rPr lang="et-EE" dirty="0"/>
              <a:t> </a:t>
            </a:r>
            <a:r>
              <a:rPr lang="et-EE" dirty="0" err="1"/>
              <a:t>most</a:t>
            </a:r>
            <a:r>
              <a:rPr lang="et-EE" dirty="0"/>
              <a:t> </a:t>
            </a:r>
            <a:r>
              <a:rPr lang="et-EE" dirty="0" err="1"/>
              <a:t>notably</a:t>
            </a:r>
            <a:r>
              <a:rPr lang="et-EE" dirty="0"/>
              <a:t>:</a:t>
            </a:r>
          </a:p>
          <a:p>
            <a:pPr marL="0" lvl="0" indent="0">
              <a:buNone/>
            </a:pPr>
            <a:endParaRPr lang="et-EE" dirty="0"/>
          </a:p>
          <a:p>
            <a:r>
              <a:rPr lang="en-US" u="sng" dirty="0" err="1">
                <a:hlinkClick r:id="rId3"/>
              </a:rPr>
              <a:t>downloadRDBESDataZip</a:t>
            </a:r>
            <a:r>
              <a:rPr lang="et-EE" u="sng" dirty="0"/>
              <a:t> - </a:t>
            </a:r>
            <a:r>
              <a:rPr lang="en-US" dirty="0" err="1"/>
              <a:t>Downlaod</a:t>
            </a:r>
            <a:r>
              <a:rPr lang="en-US" dirty="0"/>
              <a:t> RDBES data </a:t>
            </a:r>
            <a:r>
              <a:rPr lang="en-US" dirty="0" err="1"/>
              <a:t>directlt</a:t>
            </a:r>
            <a:r>
              <a:rPr lang="en-US" dirty="0"/>
              <a:t> from the ICES API #257</a:t>
            </a:r>
          </a:p>
          <a:p>
            <a:r>
              <a:rPr lang="en-US" dirty="0" err="1">
                <a:hlinkClick r:id="rId4" tooltip="doEstimationRatio.R"/>
              </a:rPr>
              <a:t>doEstimationRatio</a:t>
            </a:r>
            <a:r>
              <a:rPr lang="en-US" dirty="0">
                <a:hlinkClick r:id="rId4" tooltip="doEstimationRatio.R"/>
              </a:rPr>
              <a:t> </a:t>
            </a:r>
            <a:r>
              <a:rPr lang="et-EE" dirty="0"/>
              <a:t> - </a:t>
            </a:r>
            <a:r>
              <a:rPr lang="en-US" dirty="0" err="1"/>
              <a:t>doEstimationRatio</a:t>
            </a:r>
            <a:r>
              <a:rPr lang="et-EE" dirty="0"/>
              <a:t> - </a:t>
            </a:r>
            <a:r>
              <a:rPr lang="en-US" dirty="0"/>
              <a:t>Develop ratio estimation function(s) #201</a:t>
            </a:r>
            <a:endParaRPr lang="et-EE" dirty="0"/>
          </a:p>
          <a:p>
            <a:r>
              <a:rPr lang="en-US" u="sng" dirty="0" err="1">
                <a:hlinkClick r:id="rId5" tooltip="doEstimationForAllStrata.R"/>
              </a:rPr>
              <a:t>doEstimationForAllStrata</a:t>
            </a:r>
            <a:r>
              <a:rPr lang="en-US" u="sng" dirty="0">
                <a:hlinkClick r:id="rId5" tooltip="doEstimationForAllStrata.R"/>
              </a:rPr>
              <a:t> </a:t>
            </a:r>
            <a:r>
              <a:rPr lang="et-EE" dirty="0"/>
              <a:t>- </a:t>
            </a:r>
            <a:r>
              <a:rPr lang="en-US" dirty="0"/>
              <a:t>Create </a:t>
            </a:r>
            <a:r>
              <a:rPr lang="en-US" dirty="0" err="1"/>
              <a:t>InterCatch</a:t>
            </a:r>
            <a:r>
              <a:rPr lang="en-US" dirty="0"/>
              <a:t> format output from </a:t>
            </a:r>
            <a:r>
              <a:rPr lang="en-US" dirty="0" err="1"/>
              <a:t>doEstimationForAllStrata</a:t>
            </a:r>
            <a:r>
              <a:rPr lang="en-US" dirty="0"/>
              <a:t>() function #209</a:t>
            </a:r>
          </a:p>
          <a:p>
            <a:endParaRPr lang="en-US" dirty="0"/>
          </a:p>
          <a:p>
            <a:pPr marL="0" indent="0">
              <a:buNone/>
            </a:pPr>
            <a:br>
              <a:rPr lang="en-US" dirty="0"/>
            </a:br>
            <a:br>
              <a:rPr lang="en-US" dirty="0"/>
            </a:br>
            <a:endParaRPr lang="et-EE" dirty="0"/>
          </a:p>
          <a:p>
            <a:pPr marL="0" lvl="0" indent="0">
              <a:buNone/>
            </a:pPr>
            <a:endParaRPr lang="et-EE" dirty="0"/>
          </a:p>
          <a:p>
            <a:pPr marL="0" lvl="0" indent="0">
              <a:buNone/>
            </a:pPr>
            <a:endParaRPr lang="et-EE" dirty="0"/>
          </a:p>
        </p:txBody>
      </p:sp>
    </p:spTree>
    <p:extLst>
      <p:ext uri="{BB962C8B-B14F-4D97-AF65-F5344CB8AC3E}">
        <p14:creationId xmlns:p14="http://schemas.microsoft.com/office/powerpoint/2010/main" val="2893874634"/>
      </p:ext>
    </p:extLst>
  </p:cSld>
  <p:clrMapOvr>
    <a:masterClrMapping/>
  </p:clrMapOvr>
</p:sld>
</file>

<file path=ppt/theme/theme1.xml><?xml version="1.0" encoding="utf-8"?>
<a:theme xmlns:a="http://schemas.openxmlformats.org/drawingml/2006/main" name="ICES">
  <a:themeElements>
    <a:clrScheme name="ICES">
      <a:dk1>
        <a:sysClr val="windowText" lastClr="000000"/>
      </a:dk1>
      <a:lt1>
        <a:sysClr val="window" lastClr="FFFFFF"/>
      </a:lt1>
      <a:dk2>
        <a:srgbClr val="000000"/>
      </a:dk2>
      <a:lt2>
        <a:srgbClr val="FFFFFF"/>
      </a:lt2>
      <a:accent1>
        <a:srgbClr val="00265A"/>
      </a:accent1>
      <a:accent2>
        <a:srgbClr val="EE522C"/>
      </a:accent2>
      <a:accent3>
        <a:srgbClr val="00A695"/>
      </a:accent3>
      <a:accent4>
        <a:srgbClr val="73A9B9"/>
      </a:accent4>
      <a:accent5>
        <a:srgbClr val="B2CCC4"/>
      </a:accent5>
      <a:accent6>
        <a:srgbClr val="3FB8F3"/>
      </a:accent6>
      <a:hlink>
        <a:srgbClr val="0563C1"/>
      </a:hlink>
      <a:folHlink>
        <a:srgbClr val="954F72"/>
      </a:folHlink>
    </a:clrScheme>
    <a:fontScheme name="ICES">
      <a:majorFont>
        <a:latin typeface="Calibri"/>
        <a:ea typeface=""/>
        <a:cs typeface=""/>
      </a:majorFont>
      <a:minorFont>
        <a:latin typeface="Calibri"/>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chor="t">
        <a:noAutofit/>
      </a:bodyPr>
      <a:lstStyle>
        <a:defPPr algn="l">
          <a:defRPr sz="2000" dirty="0" err="1" smtClean="0">
            <a:solidFill>
              <a:schemeClr val="accent1"/>
            </a:solidFill>
            <a:latin typeface="+mn-lt"/>
          </a:defRPr>
        </a:defPPr>
      </a:lstStyle>
    </a:txDef>
  </a:objectDefaults>
  <a:extraClrSchemeLst/>
  <a:extLst>
    <a:ext uri="{05A4C25C-085E-4340-85A3-A5531E510DB2}">
      <thm15:themeFamily xmlns:thm15="http://schemas.microsoft.com/office/thememl/2012/main" name="ICES PowerPoint template 2019 [Read-Only]" id="{70FE6429-2D32-40FE-86C5-7BC4DC107F43}" vid="{ED9E908D-211E-40E0-ACC4-0E7CBCF3B4F5}"/>
    </a:ext>
  </a:extLst>
</a:theme>
</file>

<file path=docProps/app.xml><?xml version="1.0" encoding="utf-8"?>
<Properties xmlns="http://schemas.openxmlformats.org/officeDocument/2006/extended-properties" xmlns:vt="http://schemas.openxmlformats.org/officeDocument/2006/docPropsVTypes">
  <TotalTime>0</TotalTime>
  <Words>3980</Words>
  <Application>Microsoft Office PowerPoint</Application>
  <PresentationFormat>Widescreen</PresentationFormat>
  <Paragraphs>215</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Courier</vt:lpstr>
      <vt:lpstr>ICES</vt:lpstr>
      <vt:lpstr>RDBEScore: Using R for ICES Regional Database &amp; Estimation System (RDBES) Data</vt:lpstr>
      <vt:lpstr>Introduction</vt:lpstr>
      <vt:lpstr>RDBEScore package</vt:lpstr>
      <vt:lpstr>Installation</vt:lpstr>
      <vt:lpstr>Importing RDBES download files</vt:lpstr>
      <vt:lpstr>Importing RDBES download files</vt:lpstr>
      <vt:lpstr>Importing zipped files</vt:lpstr>
      <vt:lpstr>Data Object Structure</vt:lpstr>
      <vt:lpstr>Import Formats</vt:lpstr>
      <vt:lpstr>Importing a List of Data Frames</vt:lpstr>
      <vt:lpstr>Object class RDBESDataObject</vt:lpstr>
      <vt:lpstr>Filtering RDBESDataObjects</vt:lpstr>
      <vt:lpstr>Removing Unlinked Data</vt:lpstr>
      <vt:lpstr>Getting Subsets of RDBESDataObject Tables</vt:lpstr>
      <vt:lpstr>PowerPoint Presentation</vt:lpstr>
      <vt:lpstr>PowerPoint Presentation</vt:lpstr>
      <vt:lpstr>Data Preparation: Handling Zeros and NAs</vt:lpstr>
      <vt:lpstr>Estimating</vt:lpstr>
      <vt:lpstr>Single level Multiple Count Estimator</vt:lpstr>
      <vt:lpstr>Estimation workflow</vt:lpstr>
      <vt:lpstr>Estimation on Multiple Strata</vt:lpstr>
      <vt:lpstr>Basic Ratio Estimation</vt:lpstr>
      <vt:lpstr>Getting the Right Data</vt:lpstr>
      <vt:lpstr>Adding CL data to the lower hierarchy</vt:lpstr>
      <vt:lpstr>Estimation based on CL and BV</vt:lpstr>
      <vt:lpstr>Exporting Results</vt:lpstr>
      <vt:lpstr>Exporting Results</vt:lpstr>
      <vt:lpstr>Issues Reporting</vt:lpstr>
      <vt:lpstr>Ongoing development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2878</Words>
  <Application>Microsoft Office PowerPoint</Application>
  <PresentationFormat>Widescreen</PresentationFormat>
  <Paragraphs>181</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Courier</vt:lpstr>
      <vt:lpstr>ICES</vt:lpstr>
      <vt:lpstr>RDBEScore: Using R for ICES Regional Database &amp; Estimation System (RDBES) Data</vt:lpstr>
      <vt:lpstr>Importing RDBES Data</vt:lpstr>
      <vt:lpstr>Introducton</vt:lpstr>
      <vt:lpstr>RDBEScore package</vt:lpstr>
      <vt:lpstr>Load RDBEScore Development Version</vt:lpstr>
      <vt:lpstr>Importing zipped files</vt:lpstr>
      <vt:lpstr>Data Object Structure</vt:lpstr>
      <vt:lpstr>Import Formats</vt:lpstr>
      <vt:lpstr>Importing a List of Data Frames</vt:lpstr>
      <vt:lpstr>Object class RDBESDataObject</vt:lpstr>
      <vt:lpstr>Filtering RDBESDataObjects</vt:lpstr>
      <vt:lpstr>Remowing Unlinked Data</vt:lpstr>
      <vt:lpstr>Getting Subsets of RDBESDataObject Tables</vt:lpstr>
      <vt:lpstr>Getting Subsets of RDBESDataObject Tables</vt:lpstr>
      <vt:lpstr>PowerPoint Presentation</vt:lpstr>
      <vt:lpstr>Estimating</vt:lpstr>
      <vt:lpstr>Single level Multiple Count Estimator</vt:lpstr>
      <vt:lpstr>Estimation workflow</vt:lpstr>
      <vt:lpstr>Estimation on Multiple Strata</vt:lpstr>
      <vt:lpstr>Basic Ratio Estimation</vt:lpstr>
      <vt:lpstr>Getting the Right Data</vt:lpstr>
      <vt:lpstr>Adding CL data to the lower hierarchy</vt:lpstr>
      <vt:lpstr>Estimation based on CL and BV</vt:lpstr>
      <vt:lpstr>Issues Reporting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RDBEScore: Using R for ICES Regional Database &amp; Estimation System (RDBES) Data</dc:title>
  <dc:creator/>
  <cp:keywords/>
  <cp:lastModifiedBy/>
  <cp:revision>1</cp:revision>
  <dcterms:created xsi:type="dcterms:W3CDTF">2026-03-09T11:55:57Z</dcterms:created>
  <dcterms:modified xsi:type="dcterms:W3CDTF">2026-03-11T07:46:42Z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