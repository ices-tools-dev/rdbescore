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handoutMasterIdLst>
    <p:handoutMasterId r:id="rId20"/>
  </p:handoutMasterIdLst>
  <p:sldIdLst>
    <p:sldId id="257" r:id="rId5"/>
    <p:sldId id="315" r:id="rId6"/>
    <p:sldId id="311" r:id="rId7"/>
    <p:sldId id="292" r:id="rId8"/>
    <p:sldId id="300" r:id="rId9"/>
    <p:sldId id="301" r:id="rId10"/>
    <p:sldId id="312" r:id="rId11"/>
    <p:sldId id="308" r:id="rId12"/>
    <p:sldId id="302" r:id="rId13"/>
    <p:sldId id="303" r:id="rId14"/>
    <p:sldId id="304" r:id="rId15"/>
    <p:sldId id="305" r:id="rId16"/>
    <p:sldId id="309" r:id="rId17"/>
    <p:sldId id="313" r:id="rId18"/>
    <p:sldId id="316" r:id="rId19"/>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84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96" autoAdjust="0"/>
    <p:restoredTop sz="94660"/>
  </p:normalViewPr>
  <p:slideViewPr>
    <p:cSldViewPr snapToGrid="0">
      <p:cViewPr varScale="1">
        <p:scale>
          <a:sx n="129" d="100"/>
          <a:sy n="129" d="100"/>
        </p:scale>
        <p:origin x="552" y="132"/>
      </p:cViewPr>
      <p:guideLst>
        <p:guide orient="horz" pos="2160"/>
        <p:guide pos="3840"/>
      </p:guideLst>
    </p:cSldViewPr>
  </p:slideViewPr>
  <p:notesTextViewPr>
    <p:cViewPr>
      <p:scale>
        <a:sx n="3" d="2"/>
        <a:sy n="3" d="2"/>
      </p:scale>
      <p:origin x="0" y="0"/>
    </p:cViewPr>
  </p:notesTextViewPr>
  <p:notesViewPr>
    <p:cSldViewPr snapToGrid="0">
      <p:cViewPr varScale="1">
        <p:scale>
          <a:sx n="87" d="100"/>
          <a:sy n="87"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66E911-F793-4838-A7E0-22F5DC2E219F}" type="datetimeFigureOut">
              <a:rPr lang="da-DK" smtClean="0"/>
              <a:t>08-10-2026</a:t>
            </a:fld>
            <a:endParaRPr lang="da-DK"/>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9DA88-E9CB-4BD6-A3AA-E9F01D61D701}" type="slidenum">
              <a:rPr lang="da-DK" smtClean="0"/>
              <a:t>‹#›</a:t>
            </a:fld>
            <a:endParaRPr lang="da-DK"/>
          </a:p>
        </p:txBody>
      </p:sp>
    </p:spTree>
    <p:extLst>
      <p:ext uri="{BB962C8B-B14F-4D97-AF65-F5344CB8AC3E}">
        <p14:creationId xmlns:p14="http://schemas.microsoft.com/office/powerpoint/2010/main" val="13864955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209F14E-8D1D-40C6-A539-73D6BEFEED78}"/>
              </a:ext>
            </a:extLst>
          </p:cNvPr>
          <p:cNvSpPr>
            <a:spLocks noGrp="1"/>
          </p:cNvSpPr>
          <p:nvPr>
            <p:ph type="title" hasCustomPrompt="1"/>
          </p:nvPr>
        </p:nvSpPr>
        <p:spPr>
          <a:xfrm>
            <a:off x="638174" y="769938"/>
            <a:ext cx="9220202" cy="2323445"/>
          </a:xfrm>
        </p:spPr>
        <p:txBody>
          <a:bodyPr anchor="b">
            <a:noAutofit/>
          </a:bodyPr>
          <a:lstStyle>
            <a:lvl1pPr>
              <a:defRPr sz="5400" b="0">
                <a:solidFill>
                  <a:schemeClr val="bg2"/>
                </a:solidFill>
              </a:defRPr>
            </a:lvl1pPr>
          </a:lstStyle>
          <a:p>
            <a:r>
              <a:rPr lang="en-US" dirty="0"/>
              <a:t>Click to add title</a:t>
            </a:r>
            <a:endParaRPr lang="en-GB" dirty="0"/>
          </a:p>
        </p:txBody>
      </p:sp>
      <p:sp>
        <p:nvSpPr>
          <p:cNvPr id="8" name="Pladsholder til tekst 18">
            <a:extLst>
              <a:ext uri="{FF2B5EF4-FFF2-40B4-BE49-F238E27FC236}">
                <a16:creationId xmlns:a16="http://schemas.microsoft.com/office/drawing/2014/main" id="{4AAD550C-3146-4C57-AB2D-C76A65C79F41}"/>
              </a:ext>
            </a:extLst>
          </p:cNvPr>
          <p:cNvSpPr>
            <a:spLocks noGrp="1"/>
          </p:cNvSpPr>
          <p:nvPr>
            <p:ph type="body" sz="quarter" idx="12" hasCustomPrompt="1"/>
          </p:nvPr>
        </p:nvSpPr>
        <p:spPr>
          <a:xfrm>
            <a:off x="676276" y="3093383"/>
            <a:ext cx="9182100" cy="1349223"/>
          </a:xfrm>
        </p:spPr>
        <p:txBody>
          <a:bodyPr/>
          <a:lstStyle>
            <a:lvl1pPr marL="0" indent="0">
              <a:buNone/>
              <a:defRPr>
                <a:solidFill>
                  <a:schemeClr val="bg1">
                    <a:lumMod val="85000"/>
                  </a:schemeClr>
                </a:solidFill>
              </a:defRPr>
            </a:lvl1pPr>
          </a:lstStyle>
          <a:p>
            <a:pPr lvl="0"/>
            <a:r>
              <a:rPr lang="en-GB" dirty="0"/>
              <a:t>Click to add </a:t>
            </a:r>
            <a:r>
              <a:rPr lang="en-GB" dirty="0" err="1"/>
              <a:t>subheader</a:t>
            </a:r>
            <a:endParaRPr lang="en-GB" dirty="0"/>
          </a:p>
        </p:txBody>
      </p:sp>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230131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6C7311DF-2A29-4CE6-AEB9-357814EE58BD}"/>
              </a:ext>
            </a:extLst>
          </p:cNvPr>
          <p:cNvSpPr>
            <a:spLocks noGrp="1"/>
          </p:cNvSpPr>
          <p:nvPr>
            <p:ph type="title" hasCustomPrompt="1"/>
          </p:nvPr>
        </p:nvSpPr>
        <p:spPr>
          <a:xfrm>
            <a:off x="638174" y="769938"/>
            <a:ext cx="9220202" cy="2323445"/>
          </a:xfrm>
        </p:spPr>
        <p:txBody>
          <a:bodyPr anchor="b">
            <a:noAutofit/>
          </a:bodyPr>
          <a:lstStyle>
            <a:lvl1pPr>
              <a:defRPr sz="5400" b="0">
                <a:solidFill>
                  <a:schemeClr val="bg2"/>
                </a:solidFill>
              </a:defRPr>
            </a:lvl1pPr>
          </a:lstStyle>
          <a:p>
            <a:r>
              <a:rPr lang="en-US" dirty="0"/>
              <a:t>Click to add title</a:t>
            </a:r>
            <a:endParaRPr lang="en-GB" dirty="0"/>
          </a:p>
        </p:txBody>
      </p:sp>
      <p:sp>
        <p:nvSpPr>
          <p:cNvPr id="10" name="Pladsholder til tekst 18">
            <a:extLst>
              <a:ext uri="{FF2B5EF4-FFF2-40B4-BE49-F238E27FC236}">
                <a16:creationId xmlns:a16="http://schemas.microsoft.com/office/drawing/2014/main" id="{4A07E728-4615-42A6-B1E8-908674A12F99}"/>
              </a:ext>
            </a:extLst>
          </p:cNvPr>
          <p:cNvSpPr>
            <a:spLocks noGrp="1"/>
          </p:cNvSpPr>
          <p:nvPr>
            <p:ph type="body" sz="quarter" idx="12" hasCustomPrompt="1"/>
          </p:nvPr>
        </p:nvSpPr>
        <p:spPr>
          <a:xfrm>
            <a:off x="676276" y="3093383"/>
            <a:ext cx="9182100" cy="1349223"/>
          </a:xfrm>
        </p:spPr>
        <p:txBody>
          <a:bodyPr/>
          <a:lstStyle>
            <a:lvl1pPr marL="0" indent="0">
              <a:buNone/>
              <a:defRPr>
                <a:solidFill>
                  <a:schemeClr val="bg1">
                    <a:lumMod val="85000"/>
                  </a:schemeClr>
                </a:solidFill>
              </a:defRPr>
            </a:lvl1pPr>
          </a:lstStyle>
          <a:p>
            <a:pPr lvl="0"/>
            <a:r>
              <a:rPr lang="en-GB" dirty="0"/>
              <a:t>Click to add </a:t>
            </a:r>
            <a:r>
              <a:rPr lang="en-GB" dirty="0" err="1"/>
              <a:t>subheader</a:t>
            </a:r>
            <a:endParaRPr lang="en-GB" dirty="0"/>
          </a:p>
        </p:txBody>
      </p:sp>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802804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r>
              <a:rPr lang="en-US"/>
              <a:t>Click to edit Master title style</a:t>
            </a:r>
            <a:endParaRPr lang="en-GB" dirty="0"/>
          </a:p>
        </p:txBody>
      </p:sp>
      <p:pic>
        <p:nvPicPr>
          <p:cNvPr id="6" name="Billed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3" name="Content Placeholder 2">
            <a:extLst>
              <a:ext uri="{FF2B5EF4-FFF2-40B4-BE49-F238E27FC236}">
                <a16:creationId xmlns:a16="http://schemas.microsoft.com/office/drawing/2014/main" id="{C1969C79-234C-42BF-93BB-D4FFA57123F8}"/>
              </a:ext>
            </a:extLst>
          </p:cNvPr>
          <p:cNvSpPr>
            <a:spLocks noGrp="1"/>
          </p:cNvSpPr>
          <p:nvPr>
            <p:ph sz="quarter" idx="11" hasCustomPrompt="1"/>
          </p:nvPr>
        </p:nvSpPr>
        <p:spPr>
          <a:xfrm>
            <a:off x="647700" y="1825200"/>
            <a:ext cx="10763249" cy="440034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7080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objects - Blue">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22021D9-F37F-4846-AD9E-FB2231C6F2F9}"/>
              </a:ext>
            </a:extLst>
          </p:cNvPr>
          <p:cNvSpPr>
            <a:spLocks noGrp="1"/>
          </p:cNvSpPr>
          <p:nvPr>
            <p:ph sz="quarter" idx="12" hasCustomPrompt="1"/>
          </p:nvPr>
        </p:nvSpPr>
        <p:spPr>
          <a:xfrm>
            <a:off x="647700" y="1825625"/>
            <a:ext cx="3792220" cy="422625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Content Placeholder 5">
            <a:extLst>
              <a:ext uri="{FF2B5EF4-FFF2-40B4-BE49-F238E27FC236}">
                <a16:creationId xmlns:a16="http://schemas.microsoft.com/office/drawing/2014/main" id="{7B841EB9-3042-4108-98CF-EA57B3983B88}"/>
              </a:ext>
            </a:extLst>
          </p:cNvPr>
          <p:cNvSpPr>
            <a:spLocks noGrp="1"/>
          </p:cNvSpPr>
          <p:nvPr>
            <p:ph sz="quarter" idx="13" hasCustomPrompt="1"/>
          </p:nvPr>
        </p:nvSpPr>
        <p:spPr>
          <a:xfrm>
            <a:off x="5810250" y="1825624"/>
            <a:ext cx="5600700" cy="3739133"/>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ktangel 8"/>
          <p:cNvSpPr/>
          <p:nvPr userDrawn="1"/>
        </p:nvSpPr>
        <p:spPr>
          <a:xfrm>
            <a:off x="-1" y="6296025"/>
            <a:ext cx="12192001" cy="561975"/>
          </a:xfrm>
          <a:prstGeom prst="rect">
            <a:avLst/>
          </a:prstGeom>
          <a:solidFill>
            <a:srgbClr val="002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Billed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Tree>
    <p:extLst>
      <p:ext uri="{BB962C8B-B14F-4D97-AF65-F5344CB8AC3E}">
        <p14:creationId xmlns:p14="http://schemas.microsoft.com/office/powerpoint/2010/main" val="1995038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objects - Orange">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r>
              <a:rPr lang="en-US"/>
              <a:t>Click to edit Master title style</a:t>
            </a:r>
            <a:endParaRPr lang="en-GB" dirty="0"/>
          </a:p>
        </p:txBody>
      </p:sp>
      <p:sp>
        <p:nvSpPr>
          <p:cNvPr id="13" name="Content Placeholder 2">
            <a:extLst>
              <a:ext uri="{FF2B5EF4-FFF2-40B4-BE49-F238E27FC236}">
                <a16:creationId xmlns:a16="http://schemas.microsoft.com/office/drawing/2014/main" id="{F4463921-33CB-4908-B5A9-1060D340A507}"/>
              </a:ext>
            </a:extLst>
          </p:cNvPr>
          <p:cNvSpPr>
            <a:spLocks noGrp="1"/>
          </p:cNvSpPr>
          <p:nvPr>
            <p:ph sz="quarter" idx="12" hasCustomPrompt="1"/>
          </p:nvPr>
        </p:nvSpPr>
        <p:spPr>
          <a:xfrm>
            <a:off x="647700" y="1825625"/>
            <a:ext cx="3792220" cy="422625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Content Placeholder 5">
            <a:extLst>
              <a:ext uri="{FF2B5EF4-FFF2-40B4-BE49-F238E27FC236}">
                <a16:creationId xmlns:a16="http://schemas.microsoft.com/office/drawing/2014/main" id="{116F9FD3-3D16-4DB5-AD5C-E8098D87A875}"/>
              </a:ext>
            </a:extLst>
          </p:cNvPr>
          <p:cNvSpPr>
            <a:spLocks noGrp="1"/>
          </p:cNvSpPr>
          <p:nvPr>
            <p:ph sz="quarter" idx="13" hasCustomPrompt="1"/>
          </p:nvPr>
        </p:nvSpPr>
        <p:spPr>
          <a:xfrm>
            <a:off x="5810250" y="1825624"/>
            <a:ext cx="5600700" cy="3739133"/>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Rektangel 11"/>
          <p:cNvSpPr/>
          <p:nvPr userDrawn="1"/>
        </p:nvSpPr>
        <p:spPr>
          <a:xfrm>
            <a:off x="-1" y="6296025"/>
            <a:ext cx="12192001" cy="561975"/>
          </a:xfrm>
          <a:prstGeom prst="rect">
            <a:avLst/>
          </a:prstGeom>
          <a:solidFill>
            <a:srgbClr val="EC5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Billed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Tree>
    <p:extLst>
      <p:ext uri="{BB962C8B-B14F-4D97-AF65-F5344CB8AC3E}">
        <p14:creationId xmlns:p14="http://schemas.microsoft.com/office/powerpoint/2010/main" val="1725370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objects - Turquoise">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r>
              <a:rPr lang="en-US"/>
              <a:t>Click to edit Master title style</a:t>
            </a:r>
            <a:endParaRPr lang="en-GB" dirty="0"/>
          </a:p>
        </p:txBody>
      </p:sp>
      <p:sp>
        <p:nvSpPr>
          <p:cNvPr id="15" name="Content Placeholder 2">
            <a:extLst>
              <a:ext uri="{FF2B5EF4-FFF2-40B4-BE49-F238E27FC236}">
                <a16:creationId xmlns:a16="http://schemas.microsoft.com/office/drawing/2014/main" id="{721D465C-25A6-4B18-9B14-0DBDE3EF4677}"/>
              </a:ext>
            </a:extLst>
          </p:cNvPr>
          <p:cNvSpPr>
            <a:spLocks noGrp="1"/>
          </p:cNvSpPr>
          <p:nvPr>
            <p:ph sz="quarter" idx="12" hasCustomPrompt="1"/>
          </p:nvPr>
        </p:nvSpPr>
        <p:spPr>
          <a:xfrm>
            <a:off x="647700" y="1825625"/>
            <a:ext cx="3792220" cy="422625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Content Placeholder 5">
            <a:extLst>
              <a:ext uri="{FF2B5EF4-FFF2-40B4-BE49-F238E27FC236}">
                <a16:creationId xmlns:a16="http://schemas.microsoft.com/office/drawing/2014/main" id="{F222F2F0-F6B4-4E5B-8718-B38DF1BB96E1}"/>
              </a:ext>
            </a:extLst>
          </p:cNvPr>
          <p:cNvSpPr>
            <a:spLocks noGrp="1"/>
          </p:cNvSpPr>
          <p:nvPr>
            <p:ph sz="quarter" idx="13" hasCustomPrompt="1"/>
          </p:nvPr>
        </p:nvSpPr>
        <p:spPr>
          <a:xfrm>
            <a:off x="5810250" y="1825624"/>
            <a:ext cx="5600700" cy="3739133"/>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Rektangel 11"/>
          <p:cNvSpPr/>
          <p:nvPr userDrawn="1"/>
        </p:nvSpPr>
        <p:spPr>
          <a:xfrm>
            <a:off x="-1" y="6296025"/>
            <a:ext cx="12192001" cy="561975"/>
          </a:xfrm>
          <a:prstGeom prst="rect">
            <a:avLst/>
          </a:prstGeom>
          <a:solidFill>
            <a:srgbClr val="00A6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Billed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Tree>
    <p:extLst>
      <p:ext uri="{BB962C8B-B14F-4D97-AF65-F5344CB8AC3E}">
        <p14:creationId xmlns:p14="http://schemas.microsoft.com/office/powerpoint/2010/main" val="279826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7"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r>
              <a:rPr lang="en-US"/>
              <a:t>Click to edit Master title style</a:t>
            </a:r>
            <a:endParaRPr lang="en-GB" dirty="0"/>
          </a:p>
        </p:txBody>
      </p:sp>
    </p:spTree>
    <p:extLst>
      <p:ext uri="{BB962C8B-B14F-4D97-AF65-F5344CB8AC3E}">
        <p14:creationId xmlns:p14="http://schemas.microsoft.com/office/powerpoint/2010/main" val="2781100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14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ext, shape and small image">
    <p:spTree>
      <p:nvGrpSpPr>
        <p:cNvPr id="1" name=""/>
        <p:cNvGrpSpPr/>
        <p:nvPr/>
      </p:nvGrpSpPr>
      <p:grpSpPr>
        <a:xfrm>
          <a:off x="0" y="0"/>
          <a:ext cx="0" cy="0"/>
          <a:chOff x="0" y="0"/>
          <a:chExt cx="0" cy="0"/>
        </a:xfrm>
      </p:grpSpPr>
      <p:sp>
        <p:nvSpPr>
          <p:cNvPr id="9" name="Platshållare för text 8">
            <a:extLst>
              <a:ext uri="{FF2B5EF4-FFF2-40B4-BE49-F238E27FC236}">
                <a16:creationId xmlns:a16="http://schemas.microsoft.com/office/drawing/2014/main" id="{098BC990-E3F0-4969-A62C-2B2DAB821CFD}"/>
              </a:ext>
            </a:extLst>
          </p:cNvPr>
          <p:cNvSpPr>
            <a:spLocks noGrp="1"/>
          </p:cNvSpPr>
          <p:nvPr>
            <p:ph type="body" sz="quarter" idx="11" hasCustomPrompt="1"/>
          </p:nvPr>
        </p:nvSpPr>
        <p:spPr>
          <a:xfrm>
            <a:off x="10674669" y="1014582"/>
            <a:ext cx="1543488" cy="5849336"/>
          </a:xfrm>
          <a:custGeom>
            <a:avLst/>
            <a:gdLst>
              <a:gd name="connsiteX0" fmla="*/ 0 w 1533233"/>
              <a:gd name="connsiteY0" fmla="*/ 6008703 h 6008703"/>
              <a:gd name="connsiteX1" fmla="*/ 1533233 w 1533233"/>
              <a:gd name="connsiteY1" fmla="*/ 0 h 6008703"/>
              <a:gd name="connsiteX2" fmla="*/ 1533233 w 1533233"/>
              <a:gd name="connsiteY2" fmla="*/ 6008703 h 6008703"/>
              <a:gd name="connsiteX3" fmla="*/ 0 w 1533233"/>
              <a:gd name="connsiteY3" fmla="*/ 6008703 h 6008703"/>
              <a:gd name="connsiteX0" fmla="*/ 0 w 1533233"/>
              <a:gd name="connsiteY0" fmla="*/ 6008703 h 6014621"/>
              <a:gd name="connsiteX1" fmla="*/ 1533233 w 1533233"/>
              <a:gd name="connsiteY1" fmla="*/ 0 h 6014621"/>
              <a:gd name="connsiteX2" fmla="*/ 314033 w 1533233"/>
              <a:gd name="connsiteY2" fmla="*/ 6014621 h 6014621"/>
              <a:gd name="connsiteX3" fmla="*/ 0 w 1533233"/>
              <a:gd name="connsiteY3" fmla="*/ 6008703 h 6014621"/>
              <a:gd name="connsiteX0" fmla="*/ 0 w 1538565"/>
              <a:gd name="connsiteY0" fmla="*/ 5843418 h 5849336"/>
              <a:gd name="connsiteX1" fmla="*/ 1538565 w 1538565"/>
              <a:gd name="connsiteY1" fmla="*/ 0 h 5849336"/>
              <a:gd name="connsiteX2" fmla="*/ 314033 w 1538565"/>
              <a:gd name="connsiteY2" fmla="*/ 5849336 h 5849336"/>
              <a:gd name="connsiteX3" fmla="*/ 0 w 1538565"/>
              <a:gd name="connsiteY3" fmla="*/ 5843418 h 5849336"/>
              <a:gd name="connsiteX0" fmla="*/ 0 w 1538565"/>
              <a:gd name="connsiteY0" fmla="*/ 5843418 h 5849336"/>
              <a:gd name="connsiteX1" fmla="*/ 1538565 w 1538565"/>
              <a:gd name="connsiteY1" fmla="*/ 0 h 5849336"/>
              <a:gd name="connsiteX2" fmla="*/ 1492752 w 1538565"/>
              <a:gd name="connsiteY2" fmla="*/ 216524 h 5849336"/>
              <a:gd name="connsiteX3" fmla="*/ 314033 w 1538565"/>
              <a:gd name="connsiteY3" fmla="*/ 5849336 h 5849336"/>
              <a:gd name="connsiteX4" fmla="*/ 0 w 1538565"/>
              <a:gd name="connsiteY4" fmla="*/ 5843418 h 5849336"/>
              <a:gd name="connsiteX0" fmla="*/ 0 w 1542759"/>
              <a:gd name="connsiteY0" fmla="*/ 5843418 h 5849336"/>
              <a:gd name="connsiteX1" fmla="*/ 1538565 w 1542759"/>
              <a:gd name="connsiteY1" fmla="*/ 0 h 5849336"/>
              <a:gd name="connsiteX2" fmla="*/ 1542759 w 1542759"/>
              <a:gd name="connsiteY2" fmla="*/ 54599 h 5849336"/>
              <a:gd name="connsiteX3" fmla="*/ 314033 w 1542759"/>
              <a:gd name="connsiteY3" fmla="*/ 5849336 h 5849336"/>
              <a:gd name="connsiteX4" fmla="*/ 0 w 1542759"/>
              <a:gd name="connsiteY4" fmla="*/ 5843418 h 5849336"/>
              <a:gd name="connsiteX0" fmla="*/ 0 w 1538565"/>
              <a:gd name="connsiteY0" fmla="*/ 5843418 h 5849336"/>
              <a:gd name="connsiteX1" fmla="*/ 1538565 w 1538565"/>
              <a:gd name="connsiteY1" fmla="*/ 0 h 5849336"/>
              <a:gd name="connsiteX2" fmla="*/ 1535615 w 1538565"/>
              <a:gd name="connsiteY2" fmla="*/ 56980 h 5849336"/>
              <a:gd name="connsiteX3" fmla="*/ 314033 w 1538565"/>
              <a:gd name="connsiteY3" fmla="*/ 5849336 h 5849336"/>
              <a:gd name="connsiteX4" fmla="*/ 0 w 1538565"/>
              <a:gd name="connsiteY4" fmla="*/ 5843418 h 5849336"/>
              <a:gd name="connsiteX0" fmla="*/ 0 w 1578477"/>
              <a:gd name="connsiteY0" fmla="*/ 5843418 h 5849336"/>
              <a:gd name="connsiteX1" fmla="*/ 1538565 w 1578477"/>
              <a:gd name="connsiteY1" fmla="*/ 0 h 5849336"/>
              <a:gd name="connsiteX2" fmla="*/ 1578477 w 1578477"/>
              <a:gd name="connsiteY2" fmla="*/ 87937 h 5849336"/>
              <a:gd name="connsiteX3" fmla="*/ 314033 w 1578477"/>
              <a:gd name="connsiteY3" fmla="*/ 5849336 h 5849336"/>
              <a:gd name="connsiteX4" fmla="*/ 0 w 1578477"/>
              <a:gd name="connsiteY4" fmla="*/ 5843418 h 5849336"/>
              <a:gd name="connsiteX0" fmla="*/ 0 w 1578502"/>
              <a:gd name="connsiteY0" fmla="*/ 5843418 h 5849336"/>
              <a:gd name="connsiteX1" fmla="*/ 1538565 w 1578502"/>
              <a:gd name="connsiteY1" fmla="*/ 0 h 5849336"/>
              <a:gd name="connsiteX2" fmla="*/ 1578477 w 1578502"/>
              <a:gd name="connsiteY2" fmla="*/ 87937 h 5849336"/>
              <a:gd name="connsiteX3" fmla="*/ 314033 w 1578502"/>
              <a:gd name="connsiteY3" fmla="*/ 5849336 h 5849336"/>
              <a:gd name="connsiteX4" fmla="*/ 0 w 1578502"/>
              <a:gd name="connsiteY4" fmla="*/ 5843418 h 5849336"/>
              <a:gd name="connsiteX0" fmla="*/ 0 w 1543111"/>
              <a:gd name="connsiteY0" fmla="*/ 5843418 h 5849336"/>
              <a:gd name="connsiteX1" fmla="*/ 1538565 w 1543111"/>
              <a:gd name="connsiteY1" fmla="*/ 0 h 5849336"/>
              <a:gd name="connsiteX2" fmla="*/ 1530852 w 1543111"/>
              <a:gd name="connsiteY2" fmla="*/ 83174 h 5849336"/>
              <a:gd name="connsiteX3" fmla="*/ 314033 w 1543111"/>
              <a:gd name="connsiteY3" fmla="*/ 5849336 h 5849336"/>
              <a:gd name="connsiteX4" fmla="*/ 0 w 1543111"/>
              <a:gd name="connsiteY4" fmla="*/ 5843418 h 5849336"/>
              <a:gd name="connsiteX0" fmla="*/ 0 w 1540225"/>
              <a:gd name="connsiteY0" fmla="*/ 5843418 h 5849336"/>
              <a:gd name="connsiteX1" fmla="*/ 1538565 w 1540225"/>
              <a:gd name="connsiteY1" fmla="*/ 0 h 5849336"/>
              <a:gd name="connsiteX2" fmla="*/ 1530852 w 1540225"/>
              <a:gd name="connsiteY2" fmla="*/ 83174 h 5849336"/>
              <a:gd name="connsiteX3" fmla="*/ 314033 w 1540225"/>
              <a:gd name="connsiteY3" fmla="*/ 5849336 h 5849336"/>
              <a:gd name="connsiteX4" fmla="*/ 0 w 1540225"/>
              <a:gd name="connsiteY4" fmla="*/ 5843418 h 5849336"/>
              <a:gd name="connsiteX0" fmla="*/ 0 w 1545425"/>
              <a:gd name="connsiteY0" fmla="*/ 5843418 h 5849336"/>
              <a:gd name="connsiteX1" fmla="*/ 1538565 w 1545425"/>
              <a:gd name="connsiteY1" fmla="*/ 0 h 5849336"/>
              <a:gd name="connsiteX2" fmla="*/ 1545139 w 1545425"/>
              <a:gd name="connsiteY2" fmla="*/ 80793 h 5849336"/>
              <a:gd name="connsiteX3" fmla="*/ 314033 w 1545425"/>
              <a:gd name="connsiteY3" fmla="*/ 5849336 h 5849336"/>
              <a:gd name="connsiteX4" fmla="*/ 0 w 1545425"/>
              <a:gd name="connsiteY4" fmla="*/ 5843418 h 5849336"/>
              <a:gd name="connsiteX0" fmla="*/ 0 w 1543488"/>
              <a:gd name="connsiteY0" fmla="*/ 5843418 h 5849336"/>
              <a:gd name="connsiteX1" fmla="*/ 1538565 w 1543488"/>
              <a:gd name="connsiteY1" fmla="*/ 0 h 5849336"/>
              <a:gd name="connsiteX2" fmla="*/ 1542758 w 1543488"/>
              <a:gd name="connsiteY2" fmla="*/ 49836 h 5849336"/>
              <a:gd name="connsiteX3" fmla="*/ 314033 w 1543488"/>
              <a:gd name="connsiteY3" fmla="*/ 5849336 h 5849336"/>
              <a:gd name="connsiteX4" fmla="*/ 0 w 1543488"/>
              <a:gd name="connsiteY4" fmla="*/ 5843418 h 584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488" h="5849336">
                <a:moveTo>
                  <a:pt x="0" y="5843418"/>
                </a:moveTo>
                <a:lnTo>
                  <a:pt x="1538565" y="0"/>
                </a:lnTo>
                <a:cubicBezTo>
                  <a:pt x="1544726" y="26931"/>
                  <a:pt x="1543742" y="13381"/>
                  <a:pt x="1542758" y="49836"/>
                </a:cubicBezTo>
                <a:lnTo>
                  <a:pt x="314033" y="5849336"/>
                </a:lnTo>
                <a:lnTo>
                  <a:pt x="0" y="5843418"/>
                </a:lnTo>
                <a:close/>
              </a:path>
            </a:pathLst>
          </a:custGeom>
          <a:solidFill>
            <a:schemeClr val="accent3"/>
          </a:solidFill>
          <a:ln>
            <a:noFill/>
          </a:ln>
        </p:spPr>
        <p:txBody>
          <a:bodyPr/>
          <a:lstStyle>
            <a:lvl1pPr marL="0" indent="0">
              <a:buNone/>
              <a:defRPr sz="100"/>
            </a:lvl1pPr>
          </a:lstStyle>
          <a:p>
            <a:pPr lvl="0"/>
            <a:r>
              <a:rPr lang="en-GB" noProof="0"/>
              <a:t>.</a:t>
            </a:r>
          </a:p>
        </p:txBody>
      </p:sp>
      <p:sp>
        <p:nvSpPr>
          <p:cNvPr id="7" name="Platshållare för bild 6">
            <a:extLst>
              <a:ext uri="{FF2B5EF4-FFF2-40B4-BE49-F238E27FC236}">
                <a16:creationId xmlns:a16="http://schemas.microsoft.com/office/drawing/2014/main" id="{42E0A6B9-3A25-4D77-BE60-015619894225}"/>
              </a:ext>
            </a:extLst>
          </p:cNvPr>
          <p:cNvSpPr>
            <a:spLocks noGrp="1"/>
          </p:cNvSpPr>
          <p:nvPr>
            <p:ph type="pic" sz="quarter" idx="10" hasCustomPrompt="1"/>
          </p:nvPr>
        </p:nvSpPr>
        <p:spPr>
          <a:xfrm>
            <a:off x="10960963" y="1108695"/>
            <a:ext cx="1233996" cy="5749305"/>
          </a:xfrm>
          <a:custGeom>
            <a:avLst/>
            <a:gdLst>
              <a:gd name="connsiteX0" fmla="*/ 0 w 1233996"/>
              <a:gd name="connsiteY0" fmla="*/ 5825504 h 5825504"/>
              <a:gd name="connsiteX1" fmla="*/ 1233996 w 1233996"/>
              <a:gd name="connsiteY1" fmla="*/ 0 h 5825504"/>
              <a:gd name="connsiteX2" fmla="*/ 1233996 w 1233996"/>
              <a:gd name="connsiteY2" fmla="*/ 5825504 h 5825504"/>
              <a:gd name="connsiteX3" fmla="*/ 0 w 1233996"/>
              <a:gd name="connsiteY3" fmla="*/ 5825504 h 5825504"/>
              <a:gd name="connsiteX0" fmla="*/ 0 w 1260190"/>
              <a:gd name="connsiteY0" fmla="*/ 5715967 h 5715967"/>
              <a:gd name="connsiteX1" fmla="*/ 1260190 w 1260190"/>
              <a:gd name="connsiteY1" fmla="*/ 0 h 5715967"/>
              <a:gd name="connsiteX2" fmla="*/ 1233996 w 1260190"/>
              <a:gd name="connsiteY2" fmla="*/ 5715967 h 5715967"/>
              <a:gd name="connsiteX3" fmla="*/ 0 w 1260190"/>
              <a:gd name="connsiteY3" fmla="*/ 5715967 h 5715967"/>
              <a:gd name="connsiteX0" fmla="*/ 0 w 1233996"/>
              <a:gd name="connsiteY0" fmla="*/ 5749305 h 5749305"/>
              <a:gd name="connsiteX1" fmla="*/ 1231615 w 1233996"/>
              <a:gd name="connsiteY1" fmla="*/ 0 h 5749305"/>
              <a:gd name="connsiteX2" fmla="*/ 1233996 w 1233996"/>
              <a:gd name="connsiteY2" fmla="*/ 5749305 h 5749305"/>
              <a:gd name="connsiteX3" fmla="*/ 0 w 1233996"/>
              <a:gd name="connsiteY3" fmla="*/ 5749305 h 5749305"/>
            </a:gdLst>
            <a:ahLst/>
            <a:cxnLst>
              <a:cxn ang="0">
                <a:pos x="connsiteX0" y="connsiteY0"/>
              </a:cxn>
              <a:cxn ang="0">
                <a:pos x="connsiteX1" y="connsiteY1"/>
              </a:cxn>
              <a:cxn ang="0">
                <a:pos x="connsiteX2" y="connsiteY2"/>
              </a:cxn>
              <a:cxn ang="0">
                <a:pos x="connsiteX3" y="connsiteY3"/>
              </a:cxn>
            </a:cxnLst>
            <a:rect l="l" t="t" r="r" b="b"/>
            <a:pathLst>
              <a:path w="1233996" h="5749305">
                <a:moveTo>
                  <a:pt x="0" y="5749305"/>
                </a:moveTo>
                <a:lnTo>
                  <a:pt x="1231615" y="0"/>
                </a:lnTo>
                <a:cubicBezTo>
                  <a:pt x="1232409" y="1916435"/>
                  <a:pt x="1233202" y="3832870"/>
                  <a:pt x="1233996" y="5749305"/>
                </a:cubicBezTo>
                <a:lnTo>
                  <a:pt x="0" y="5749305"/>
                </a:lnTo>
                <a:close/>
              </a:path>
            </a:pathLst>
          </a:custGeom>
          <a:blipFill dpi="0" rotWithShape="1">
            <a:blip r:embed="rId2"/>
            <a:srcRect/>
            <a:stretch>
              <a:fillRect/>
            </a:stretch>
          </a:blipFill>
          <a:ln>
            <a:noFill/>
          </a:ln>
        </p:spPr>
        <p:txBody>
          <a:bodyPr lIns="720000" bIns="1656000" anchor="b" anchorCtr="0"/>
          <a:lstStyle>
            <a:lvl1pPr marL="0" indent="0">
              <a:lnSpc>
                <a:spcPct val="100000"/>
              </a:lnSpc>
              <a:spcBef>
                <a:spcPts val="0"/>
              </a:spcBef>
              <a:spcAft>
                <a:spcPts val="0"/>
              </a:spcAft>
              <a:buNone/>
              <a:defRPr sz="100">
                <a:solidFill>
                  <a:schemeClr val="bg1"/>
                </a:solidFill>
              </a:defRPr>
            </a:lvl1pPr>
          </a:lstStyle>
          <a:p>
            <a:r>
              <a:rPr lang="en-GB" noProof="0"/>
              <a:t>.</a:t>
            </a:r>
          </a:p>
        </p:txBody>
      </p:sp>
      <p:sp>
        <p:nvSpPr>
          <p:cNvPr id="6" name="Rektangel 5">
            <a:extLst>
              <a:ext uri="{FF2B5EF4-FFF2-40B4-BE49-F238E27FC236}">
                <a16:creationId xmlns:a16="http://schemas.microsoft.com/office/drawing/2014/main" id="{22CE84D2-A6B0-47F2-BD7C-842E6783A3CA}"/>
              </a:ext>
            </a:extLst>
          </p:cNvPr>
          <p:cNvSpPr/>
          <p:nvPr userDrawn="1"/>
        </p:nvSpPr>
        <p:spPr>
          <a:xfrm>
            <a:off x="-2074459" y="24063"/>
            <a:ext cx="1990236" cy="2694071"/>
          </a:xfrm>
          <a:prstGeom prst="rect">
            <a:avLst/>
          </a:prstGeom>
          <a:solidFill>
            <a:schemeClr val="bg1">
              <a:lumMod val="75000"/>
            </a:schemeClr>
          </a:solidFill>
        </p:spPr>
        <p:txBody>
          <a:bodyPr wrap="square">
            <a:spAutoFit/>
          </a:bodyPr>
          <a:lstStyle/>
          <a:p>
            <a:pPr marL="0" lvl="0" indent="0">
              <a:lnSpc>
                <a:spcPct val="107000"/>
              </a:lnSpc>
              <a:spcAft>
                <a:spcPts val="600"/>
              </a:spcAft>
              <a:buFont typeface="+mj-lt"/>
              <a:buNone/>
            </a:pPr>
            <a:r>
              <a:rPr lang="en-GB" sz="900" i="1" u="none" noProof="0" dirty="0">
                <a:effectLst/>
                <a:latin typeface="Calibri" panose="020F0502020204030204" pitchFamily="34" charset="0"/>
                <a:ea typeface="Calibri" panose="020F0502020204030204" pitchFamily="34" charset="0"/>
                <a:cs typeface="Times New Roman" panose="02020603050405020304" pitchFamily="18" charset="0"/>
              </a:rPr>
              <a:t>Text, shape and interchangeable small image: </a:t>
            </a:r>
          </a:p>
          <a:p>
            <a:pPr marL="0" lvl="0" indent="0">
              <a:lnSpc>
                <a:spcPct val="107000"/>
              </a:lnSpc>
              <a:spcAft>
                <a:spcPts val="600"/>
              </a:spcAft>
              <a:buFont typeface="+mj-lt"/>
              <a:buNone/>
            </a:pPr>
            <a:r>
              <a:rPr lang="en-GB" sz="900" i="0" u="none" noProof="0" dirty="0">
                <a:effectLst/>
                <a:latin typeface="Calibri" panose="020F0502020204030204" pitchFamily="34" charset="0"/>
                <a:ea typeface="Calibri" panose="020F0502020204030204" pitchFamily="34" charset="0"/>
                <a:cs typeface="Times New Roman" panose="02020603050405020304" pitchFamily="18" charset="0"/>
              </a:rPr>
              <a:t>a. To use your own image</a:t>
            </a:r>
            <a:r>
              <a:rPr lang="en-GB" sz="900" i="0" u="none" baseline="0" noProof="0" dirty="0">
                <a:effectLst/>
                <a:latin typeface="Calibri" panose="020F0502020204030204" pitchFamily="34" charset="0"/>
                <a:ea typeface="Calibri" panose="020F0502020204030204" pitchFamily="34" charset="0"/>
                <a:cs typeface="Times New Roman" panose="02020603050405020304" pitchFamily="18" charset="0"/>
              </a:rPr>
              <a:t> to the right</a:t>
            </a:r>
            <a:r>
              <a:rPr lang="en-GB" sz="900" i="0" u="none" noProof="0" dirty="0">
                <a:effectLst/>
                <a:latin typeface="Calibri" panose="020F0502020204030204" pitchFamily="34" charset="0"/>
                <a:ea typeface="Calibri" panose="020F0502020204030204" pitchFamily="34" charset="0"/>
                <a:cs typeface="Times New Roman" panose="02020603050405020304" pitchFamily="18" charset="0"/>
              </a:rPr>
              <a:t>, click on the “Picture” icon in the placeholder and insert an image, which should not be too detailed. </a:t>
            </a:r>
          </a:p>
          <a:p>
            <a:pPr marL="0" lvl="0" indent="0">
              <a:lnSpc>
                <a:spcPct val="107000"/>
              </a:lnSpc>
              <a:spcAft>
                <a:spcPts val="600"/>
              </a:spcAft>
              <a:buFont typeface="+mj-lt"/>
              <a:buNone/>
            </a:pPr>
            <a:r>
              <a:rPr lang="en-GB" sz="900" i="0" u="none" noProof="0" dirty="0">
                <a:effectLst/>
                <a:latin typeface="Calibri" panose="020F0502020204030204" pitchFamily="34" charset="0"/>
                <a:ea typeface="Calibri" panose="020F0502020204030204" pitchFamily="34" charset="0"/>
                <a:cs typeface="Times New Roman" panose="02020603050405020304" pitchFamily="18" charset="0"/>
              </a:rPr>
              <a:t>b. To move the image within the image area: click on the picture, select “Crop”, select the picture again and move it or change the size of it.</a:t>
            </a:r>
          </a:p>
          <a:p>
            <a:pPr marL="0" lvl="0" indent="0">
              <a:lnSpc>
                <a:spcPct val="107000"/>
              </a:lnSpc>
              <a:spcAft>
                <a:spcPts val="600"/>
              </a:spcAft>
              <a:buFont typeface="+mj-lt"/>
              <a:buNone/>
            </a:pPr>
            <a:r>
              <a:rPr lang="en-GB" sz="900" i="0" u="none" noProof="0" dirty="0">
                <a:effectLst/>
                <a:latin typeface="Calibri" panose="020F0502020204030204" pitchFamily="34" charset="0"/>
                <a:ea typeface="Calibri" panose="020F0502020204030204" pitchFamily="34" charset="0"/>
                <a:cs typeface="Times New Roman" panose="02020603050405020304" pitchFamily="18" charset="0"/>
              </a:rPr>
              <a:t>c. To change the colour of the shape: click on the shape and select a different colour theme from “Shape fill”. If it is impossible to click on the shape, click on the image area and select “Send backward”.</a:t>
            </a:r>
          </a:p>
        </p:txBody>
      </p:sp>
      <p:sp>
        <p:nvSpPr>
          <p:cNvPr id="14" name="Rubrik 1">
            <a:extLst>
              <a:ext uri="{FF2B5EF4-FFF2-40B4-BE49-F238E27FC236}">
                <a16:creationId xmlns:a16="http://schemas.microsoft.com/office/drawing/2014/main" id="{74DDC08D-FA75-4863-947C-517F8BA91BD7}"/>
              </a:ext>
            </a:extLst>
          </p:cNvPr>
          <p:cNvSpPr>
            <a:spLocks noGrp="1"/>
          </p:cNvSpPr>
          <p:nvPr>
            <p:ph type="title" hasCustomPrompt="1"/>
          </p:nvPr>
        </p:nvSpPr>
        <p:spPr>
          <a:xfrm>
            <a:off x="768721" y="1250481"/>
            <a:ext cx="9862887" cy="880197"/>
          </a:xfrm>
        </p:spPr>
        <p:txBody>
          <a:bodyPr/>
          <a:lstStyle>
            <a:lvl1pPr>
              <a:defRPr/>
            </a:lvl1pPr>
          </a:lstStyle>
          <a:p>
            <a:r>
              <a:rPr lang="en-GB" noProof="0"/>
              <a:t>Header</a:t>
            </a:r>
          </a:p>
        </p:txBody>
      </p:sp>
      <p:sp>
        <p:nvSpPr>
          <p:cNvPr id="15" name="Platshållare för innehåll 2">
            <a:extLst>
              <a:ext uri="{FF2B5EF4-FFF2-40B4-BE49-F238E27FC236}">
                <a16:creationId xmlns:a16="http://schemas.microsoft.com/office/drawing/2014/main" id="{180675CF-18A0-44DC-94A7-B0DBF8A481D3}"/>
              </a:ext>
            </a:extLst>
          </p:cNvPr>
          <p:cNvSpPr>
            <a:spLocks noGrp="1"/>
          </p:cNvSpPr>
          <p:nvPr>
            <p:ph idx="1" hasCustomPrompt="1"/>
          </p:nvPr>
        </p:nvSpPr>
        <p:spPr>
          <a:xfrm>
            <a:off x="768721" y="2397442"/>
            <a:ext cx="9862887" cy="3648517"/>
          </a:xfrm>
        </p:spPr>
        <p:txBody>
          <a:bodyPr/>
          <a:lstStyle>
            <a:lvl1pPr>
              <a:defRPr/>
            </a:lvl1pPr>
            <a:lvl2pPr>
              <a:defRPr/>
            </a:lvl2pPr>
            <a:lvl3pPr>
              <a:defRPr/>
            </a:lvl3pPr>
            <a:lvl4pPr>
              <a:defRPr/>
            </a:lvl4pPr>
            <a:lvl5pPr>
              <a:defRPr/>
            </a:lvl5pPr>
          </a:lstStyle>
          <a:p>
            <a:pPr lvl="0"/>
            <a:r>
              <a:rPr lang="en-GB" noProof="0"/>
              <a:t>Text</a:t>
            </a:r>
          </a:p>
          <a:p>
            <a:pPr lvl="1"/>
            <a:r>
              <a:rPr lang="en-GB" noProof="0"/>
              <a:t>Level two</a:t>
            </a:r>
          </a:p>
          <a:p>
            <a:pPr lvl="2"/>
            <a:r>
              <a:rPr lang="en-GB" noProof="0"/>
              <a:t>Level three</a:t>
            </a:r>
          </a:p>
          <a:p>
            <a:pPr lvl="3"/>
            <a:r>
              <a:rPr lang="en-GB" noProof="0"/>
              <a:t>Level four</a:t>
            </a:r>
          </a:p>
          <a:p>
            <a:pPr lvl="4"/>
            <a:r>
              <a:rPr lang="en-GB" noProof="0"/>
              <a:t>Level five</a:t>
            </a:r>
          </a:p>
          <a:p>
            <a:pPr lvl="4"/>
            <a:endParaRPr lang="en-GB" noProof="0"/>
          </a:p>
        </p:txBody>
      </p:sp>
    </p:spTree>
    <p:extLst>
      <p:ext uri="{BB962C8B-B14F-4D97-AF65-F5344CB8AC3E}">
        <p14:creationId xmlns:p14="http://schemas.microsoft.com/office/powerpoint/2010/main" val="1961148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9135979" cy="1325563"/>
          </a:xfrm>
          <a:prstGeom prst="rect">
            <a:avLst/>
          </a:prstGeom>
        </p:spPr>
        <p:txBody>
          <a:bodyPr vert="horz" lIns="91440" tIns="45720" rIns="91440" bIns="45720" rtlCol="0" anchor="ctr">
            <a:norm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err="1"/>
              <a:t>Fjerde</a:t>
            </a:r>
            <a:r>
              <a:rPr lang="en-GB" dirty="0"/>
              <a:t> </a:t>
            </a:r>
            <a:r>
              <a:rPr lang="en-GB" dirty="0" err="1"/>
              <a:t>niveau</a:t>
            </a:r>
            <a:endParaRPr lang="en-GB" dirty="0"/>
          </a:p>
          <a:p>
            <a:pPr lvl="4"/>
            <a:r>
              <a:rPr lang="en-GB" dirty="0" err="1"/>
              <a:t>Femte</a:t>
            </a:r>
            <a:r>
              <a:rPr lang="en-GB" dirty="0"/>
              <a:t> </a:t>
            </a:r>
            <a:r>
              <a:rPr lang="en-GB" dirty="0" err="1"/>
              <a:t>niveau</a:t>
            </a:r>
            <a:endParaRPr lang="en-GB" dirty="0"/>
          </a:p>
          <a:p>
            <a:pPr lvl="5"/>
            <a:r>
              <a:rPr lang="en-GB" dirty="0"/>
              <a:t>6</a:t>
            </a:r>
          </a:p>
          <a:p>
            <a:pPr lvl="6"/>
            <a:r>
              <a:rPr lang="en-GB" dirty="0"/>
              <a:t>7</a:t>
            </a:r>
          </a:p>
          <a:p>
            <a:pPr lvl="7"/>
            <a:r>
              <a:rPr lang="en-GB" dirty="0"/>
              <a:t>8</a:t>
            </a:r>
          </a:p>
          <a:p>
            <a:pPr lvl="8"/>
            <a:r>
              <a:rPr lang="en-GB" dirty="0"/>
              <a:t>9</a:t>
            </a:r>
          </a:p>
        </p:txBody>
      </p:sp>
      <p:sp>
        <p:nvSpPr>
          <p:cNvPr id="4" name="Pladsholder til dato 3"/>
          <p:cNvSpPr>
            <a:spLocks noGrp="1"/>
          </p:cNvSpPr>
          <p:nvPr>
            <p:ph type="dt" sz="half" idx="2"/>
          </p:nvPr>
        </p:nvSpPr>
        <p:spPr>
          <a:xfrm>
            <a:off x="0" y="6858000"/>
            <a:ext cx="0" cy="0"/>
          </a:xfrm>
          <a:prstGeom prst="rect">
            <a:avLst/>
          </a:prstGeom>
        </p:spPr>
        <p:txBody>
          <a:bodyPr vert="horz" lIns="91440" tIns="45720" rIns="91440" bIns="45720" rtlCol="0" anchor="ctr"/>
          <a:lstStyle>
            <a:lvl1pPr algn="l">
              <a:defRPr sz="100">
                <a:solidFill>
                  <a:schemeClr val="tx1">
                    <a:tint val="75000"/>
                  </a:schemeClr>
                </a:solidFill>
              </a:defRPr>
            </a:lvl1pPr>
          </a:lstStyle>
          <a:p>
            <a:r>
              <a:rPr lang="en-GB" dirty="0"/>
              <a:t>.</a:t>
            </a:r>
          </a:p>
        </p:txBody>
      </p:sp>
      <p:sp>
        <p:nvSpPr>
          <p:cNvPr id="5" name="Pladsholder til sidefod 4"/>
          <p:cNvSpPr>
            <a:spLocks noGrp="1"/>
          </p:cNvSpPr>
          <p:nvPr>
            <p:ph type="ftr" sz="quarter" idx="3"/>
          </p:nvPr>
        </p:nvSpPr>
        <p:spPr>
          <a:xfrm>
            <a:off x="0" y="6858000"/>
            <a:ext cx="0" cy="0"/>
          </a:xfrm>
          <a:prstGeom prst="rect">
            <a:avLst/>
          </a:prstGeom>
        </p:spPr>
        <p:txBody>
          <a:bodyPr vert="horz" lIns="91440" tIns="45720" rIns="91440" bIns="45720" rtlCol="0" anchor="ctr"/>
          <a:lstStyle>
            <a:lvl1pPr algn="ctr">
              <a:defRPr sz="100">
                <a:solidFill>
                  <a:schemeClr val="tx1">
                    <a:tint val="75000"/>
                  </a:schemeClr>
                </a:solidFill>
              </a:defRPr>
            </a:lvl1pPr>
          </a:lstStyle>
          <a:p>
            <a:r>
              <a:rPr lang="en-GB" dirty="0"/>
              <a:t>.</a:t>
            </a:r>
          </a:p>
        </p:txBody>
      </p:sp>
      <p:sp>
        <p:nvSpPr>
          <p:cNvPr id="6" name="Pladsholder til slidenummer 5"/>
          <p:cNvSpPr>
            <a:spLocks noGrp="1"/>
          </p:cNvSpPr>
          <p:nvPr>
            <p:ph type="sldNum" sz="quarter" idx="4"/>
          </p:nvPr>
        </p:nvSpPr>
        <p:spPr>
          <a:xfrm>
            <a:off x="0" y="6858000"/>
            <a:ext cx="0" cy="0"/>
          </a:xfrm>
          <a:prstGeom prst="rect">
            <a:avLst/>
          </a:prstGeom>
        </p:spPr>
        <p:txBody>
          <a:bodyPr vert="horz" lIns="91440" tIns="45720" rIns="91440" bIns="45720" rtlCol="0" anchor="ctr"/>
          <a:lstStyle>
            <a:lvl1pPr algn="r">
              <a:defRPr sz="100">
                <a:noFill/>
              </a:defRPr>
            </a:lvl1pPr>
          </a:lstStyle>
          <a:p>
            <a:endParaRPr lang="en-GB" dirty="0"/>
          </a:p>
        </p:txBody>
      </p:sp>
      <p:pic>
        <p:nvPicPr>
          <p:cNvPr id="7" name="Billede 6">
            <a:extLst>
              <a:ext uri="{FF2B5EF4-FFF2-40B4-BE49-F238E27FC236}">
                <a16:creationId xmlns:a16="http://schemas.microsoft.com/office/drawing/2014/main" id="{5501499D-F55E-49F4-B2E9-CBEF800A0415}"/>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Tree>
    <p:extLst>
      <p:ext uri="{BB962C8B-B14F-4D97-AF65-F5344CB8AC3E}">
        <p14:creationId xmlns:p14="http://schemas.microsoft.com/office/powerpoint/2010/main" val="206948723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61" r:id="rId5"/>
    <p:sldLayoutId id="2147483662" r:id="rId6"/>
    <p:sldLayoutId id="2147483654" r:id="rId7"/>
    <p:sldLayoutId id="2147483655" r:id="rId8"/>
    <p:sldLayoutId id="2147483663" r:id="rId9"/>
  </p:sldLayoutIdLst>
  <p:txStyles>
    <p:title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p:titleStyle>
    <p:bodyStyle>
      <a:lvl1pPr marL="180000" indent="-180000" algn="l" defTabSz="914400" rtl="0" eaLnBrk="1" latinLnBrk="0" hangingPunct="1">
        <a:lnSpc>
          <a:spcPct val="90000"/>
        </a:lnSpc>
        <a:spcBef>
          <a:spcPts val="600"/>
        </a:spcBef>
        <a:buFont typeface="Arial" panose="020B0604020202020204" pitchFamily="34" charset="0"/>
        <a:buChar char="•"/>
        <a:defRPr sz="2000" kern="1200">
          <a:solidFill>
            <a:schemeClr val="accent1"/>
          </a:solidFill>
          <a:latin typeface="+mn-lt"/>
          <a:ea typeface="+mn-ea"/>
          <a:cs typeface="+mn-cs"/>
        </a:defRPr>
      </a:lvl1pPr>
      <a:lvl2pPr marL="360000" indent="-180000" algn="l" defTabSz="914400" rtl="0" eaLnBrk="1" latinLnBrk="0" hangingPunct="1">
        <a:lnSpc>
          <a:spcPct val="100000"/>
        </a:lnSpc>
        <a:spcBef>
          <a:spcPts val="600"/>
        </a:spcBef>
        <a:spcAft>
          <a:spcPts val="0"/>
        </a:spcAft>
        <a:buFont typeface="Arial" panose="020B0604020202020204" pitchFamily="34" charset="0"/>
        <a:buChar char="•"/>
        <a:defRPr sz="1800" kern="1200">
          <a:solidFill>
            <a:schemeClr val="accent1"/>
          </a:solidFill>
          <a:latin typeface="+mn-lt"/>
          <a:ea typeface="+mn-ea"/>
          <a:cs typeface="+mn-cs"/>
        </a:defRPr>
      </a:lvl2pPr>
      <a:lvl3pPr marL="540000" indent="-180000" algn="l" defTabSz="914400" rtl="0" eaLnBrk="1" latinLnBrk="0" hangingPunct="1">
        <a:lnSpc>
          <a:spcPct val="100000"/>
        </a:lnSpc>
        <a:spcBef>
          <a:spcPts val="600"/>
        </a:spcBef>
        <a:spcAft>
          <a:spcPts val="0"/>
        </a:spcAft>
        <a:buFont typeface="Arial" panose="020B0604020202020204" pitchFamily="34" charset="0"/>
        <a:buChar char="•"/>
        <a:defRPr sz="1600" kern="1200">
          <a:solidFill>
            <a:schemeClr val="accent1"/>
          </a:solidFill>
          <a:latin typeface="+mn-lt"/>
          <a:ea typeface="+mn-ea"/>
          <a:cs typeface="+mn-cs"/>
        </a:defRPr>
      </a:lvl3pPr>
      <a:lvl4pPr marL="72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4pPr>
      <a:lvl5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5pPr>
      <a:lvl6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6pPr>
      <a:lvl7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7pPr>
      <a:lvl8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8pPr>
      <a:lvl9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ices-eg/WK_RDBES/blob/master/WKRDB-EST2/styleGuideCodeRDBES.pdf" TargetMode="Externa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www.rdocumentation.org/packages/mgcv/versions/1.8-33/topics/gam" TargetMode="External"/><Relationship Id="rId2" Type="http://schemas.openxmlformats.org/officeDocument/2006/relationships/hyperlink" Target="https://github.com/ices-eg/WK_RDBES/blob/master/WKRDB-EST2/styleGuideCodeRDBES.pdf"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A1C458-7B80-44E1-A4F2-09E73FF56CAC}"/>
              </a:ext>
            </a:extLst>
          </p:cNvPr>
          <p:cNvSpPr>
            <a:spLocks noGrp="1"/>
          </p:cNvSpPr>
          <p:nvPr>
            <p:ph type="title"/>
          </p:nvPr>
        </p:nvSpPr>
        <p:spPr>
          <a:xfrm>
            <a:off x="638173" y="769938"/>
            <a:ext cx="10434987" cy="2323445"/>
          </a:xfrm>
        </p:spPr>
        <p:txBody>
          <a:bodyPr/>
          <a:lstStyle/>
          <a:p>
            <a:r>
              <a:rPr lang="en-US" b="1" dirty="0"/>
              <a:t>A newbie’s guide to the development of a new function for RDBES</a:t>
            </a:r>
            <a:r>
              <a:rPr lang="et-EE" b="1"/>
              <a:t>core</a:t>
            </a:r>
            <a:r>
              <a:rPr lang="en-US" b="1"/>
              <a:t> </a:t>
            </a:r>
            <a:r>
              <a:rPr lang="en-US" sz="3600" b="1" dirty="0"/>
              <a:t>(and editing existing ones)</a:t>
            </a:r>
            <a:br>
              <a:rPr lang="en-US" b="1" dirty="0"/>
            </a:br>
            <a:r>
              <a:rPr lang="en-US" sz="1600" b="1" dirty="0"/>
              <a:t>(with details for more experienced contributors at the end)</a:t>
            </a:r>
            <a:endParaRPr lang="en-GB" sz="1600" dirty="0"/>
          </a:p>
        </p:txBody>
      </p:sp>
      <p:sp>
        <p:nvSpPr>
          <p:cNvPr id="2" name="Text Placeholder 1"/>
          <p:cNvSpPr>
            <a:spLocks noGrp="1"/>
          </p:cNvSpPr>
          <p:nvPr>
            <p:ph type="body" sz="quarter" idx="12"/>
          </p:nvPr>
        </p:nvSpPr>
        <p:spPr/>
        <p:txBody>
          <a:bodyPr/>
          <a:lstStyle/>
          <a:p>
            <a:endParaRPr lang="sv-SE" dirty="0"/>
          </a:p>
        </p:txBody>
      </p:sp>
    </p:spTree>
    <p:extLst>
      <p:ext uri="{BB962C8B-B14F-4D97-AF65-F5344CB8AC3E}">
        <p14:creationId xmlns:p14="http://schemas.microsoft.com/office/powerpoint/2010/main" val="559743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Contents</a:t>
            </a:r>
            <a:endParaRPr lang="sv-SE" dirty="0"/>
          </a:p>
        </p:txBody>
      </p:sp>
      <p:sp>
        <p:nvSpPr>
          <p:cNvPr id="5" name="Content Placeholder 4"/>
          <p:cNvSpPr>
            <a:spLocks noGrp="1"/>
          </p:cNvSpPr>
          <p:nvPr>
            <p:ph sz="quarter" idx="11"/>
          </p:nvPr>
        </p:nvSpPr>
        <p:spPr/>
        <p:txBody>
          <a:bodyPr/>
          <a:lstStyle/>
          <a:p>
            <a:pPr>
              <a:lnSpc>
                <a:spcPct val="150000"/>
              </a:lnSpc>
            </a:pPr>
            <a:r>
              <a:rPr lang="en-US" b="1" dirty="0"/>
              <a:t>Slide 3:</a:t>
            </a:r>
            <a:r>
              <a:rPr lang="en-US" dirty="0"/>
              <a:t> Time table of development</a:t>
            </a:r>
          </a:p>
          <a:p>
            <a:pPr>
              <a:lnSpc>
                <a:spcPct val="150000"/>
              </a:lnSpc>
            </a:pPr>
            <a:r>
              <a:rPr lang="en-US" b="1" dirty="0"/>
              <a:t>Slide 4: </a:t>
            </a:r>
            <a:r>
              <a:rPr lang="en-US" dirty="0"/>
              <a:t>Overview of routine work-flow</a:t>
            </a:r>
          </a:p>
          <a:p>
            <a:pPr>
              <a:lnSpc>
                <a:spcPct val="150000"/>
              </a:lnSpc>
            </a:pPr>
            <a:r>
              <a:rPr lang="en-US" b="1" dirty="0"/>
              <a:t>Slide 5-14: </a:t>
            </a:r>
            <a:r>
              <a:rPr lang="en-US" dirty="0"/>
              <a:t>Building of new functions</a:t>
            </a:r>
          </a:p>
          <a:p>
            <a:pPr lvl="1">
              <a:lnSpc>
                <a:spcPct val="150000"/>
              </a:lnSpc>
            </a:pPr>
            <a:r>
              <a:rPr lang="en-US" sz="1600" b="1" dirty="0"/>
              <a:t>[slide 5-12]: </a:t>
            </a:r>
            <a:r>
              <a:rPr lang="en-US" sz="1600" dirty="0"/>
              <a:t>If you have little experience in contributing functions to R packages </a:t>
            </a:r>
          </a:p>
          <a:p>
            <a:pPr lvl="1">
              <a:lnSpc>
                <a:spcPct val="150000"/>
              </a:lnSpc>
            </a:pPr>
            <a:r>
              <a:rPr lang="en-US" sz="1600" b="1" dirty="0"/>
              <a:t>[slide 13-14]</a:t>
            </a:r>
            <a:r>
              <a:rPr lang="en-US" sz="1600" dirty="0"/>
              <a:t>: If you have some previous experience in contributing functions to R packages</a:t>
            </a:r>
          </a:p>
          <a:p>
            <a:pPr>
              <a:lnSpc>
                <a:spcPct val="150000"/>
              </a:lnSpc>
            </a:pPr>
            <a:r>
              <a:rPr lang="en-US" b="1" dirty="0"/>
              <a:t>Slide 15</a:t>
            </a:r>
            <a:r>
              <a:rPr lang="en-US" b="1" dirty="0">
                <a:solidFill>
                  <a:schemeClr val="tx1"/>
                </a:solidFill>
              </a:rPr>
              <a:t>: </a:t>
            </a:r>
            <a:r>
              <a:rPr lang="en-US" dirty="0">
                <a:solidFill>
                  <a:schemeClr val="tx1"/>
                </a:solidFill>
              </a:rPr>
              <a:t>Contributing to already existing functions</a:t>
            </a:r>
            <a:endParaRPr lang="sv-SE" dirty="0">
              <a:solidFill>
                <a:schemeClr val="tx1"/>
              </a:solidFill>
            </a:endParaRPr>
          </a:p>
        </p:txBody>
      </p:sp>
    </p:spTree>
    <p:extLst>
      <p:ext uri="{BB962C8B-B14F-4D97-AF65-F5344CB8AC3E}">
        <p14:creationId xmlns:p14="http://schemas.microsoft.com/office/powerpoint/2010/main" val="3233613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721" y="502336"/>
            <a:ext cx="9862887" cy="880197"/>
          </a:xfrm>
        </p:spPr>
        <p:txBody>
          <a:bodyPr>
            <a:normAutofit/>
          </a:bodyPr>
          <a:lstStyle/>
          <a:p>
            <a:r>
              <a:rPr lang="en-US" dirty="0"/>
              <a:t>Time table of development </a:t>
            </a:r>
            <a:r>
              <a:rPr lang="en-US" sz="2000" dirty="0"/>
              <a:t>(as of 25/11/2021)</a:t>
            </a:r>
            <a:endParaRPr lang="sv-SE" sz="2000" dirty="0"/>
          </a:p>
        </p:txBody>
      </p:sp>
      <p:pic>
        <p:nvPicPr>
          <p:cNvPr id="6" name="Content Placeholder 5"/>
          <p:cNvPicPr>
            <a:picLocks noGrp="1" noChangeAspect="1"/>
          </p:cNvPicPr>
          <p:nvPr>
            <p:ph idx="1"/>
          </p:nvPr>
        </p:nvPicPr>
        <p:blipFill>
          <a:blip r:embed="rId2"/>
          <a:stretch>
            <a:fillRect/>
          </a:stretch>
        </p:blipFill>
        <p:spPr>
          <a:xfrm>
            <a:off x="768721" y="2165174"/>
            <a:ext cx="9863138" cy="2895663"/>
          </a:xfrm>
          <a:prstGeom prst="rect">
            <a:avLst/>
          </a:prstGeom>
        </p:spPr>
      </p:pic>
    </p:spTree>
    <p:extLst>
      <p:ext uri="{BB962C8B-B14F-4D97-AF65-F5344CB8AC3E}">
        <p14:creationId xmlns:p14="http://schemas.microsoft.com/office/powerpoint/2010/main" val="4059040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35986" y="1421906"/>
            <a:ext cx="7324888" cy="267605"/>
          </a:xfrm>
          <a:prstGeom prst="rect">
            <a:avLst/>
          </a:prstGeom>
        </p:spPr>
        <p:txBody>
          <a:bodyPr vert="horz" wrap="square" lIns="0" tIns="0" rIns="0" bIns="0" rtlCol="0" anchor="t">
            <a:noAutofit/>
          </a:bodyPr>
          <a:lstStyle/>
          <a:p>
            <a:pPr algn="l"/>
            <a:r>
              <a:rPr lang="en-US" sz="1400" b="1" dirty="0">
                <a:solidFill>
                  <a:schemeClr val="accent1"/>
                </a:solidFill>
                <a:latin typeface="+mn-lt"/>
              </a:rPr>
              <a:t>Bold: </a:t>
            </a:r>
            <a:r>
              <a:rPr lang="en-US" sz="1400" dirty="0">
                <a:solidFill>
                  <a:schemeClr val="accent1"/>
                </a:solidFill>
                <a:latin typeface="+mn-lt"/>
              </a:rPr>
              <a:t>Main decision points; MC = Main Contributor; TG = test group; PG = supporting package group</a:t>
            </a:r>
            <a:endParaRPr lang="sv-SE" sz="1400" dirty="0" err="1">
              <a:solidFill>
                <a:schemeClr val="accent1"/>
              </a:solidFill>
              <a:latin typeface="+mn-lt"/>
            </a:endParaRPr>
          </a:p>
        </p:txBody>
      </p:sp>
      <p:sp>
        <p:nvSpPr>
          <p:cNvPr id="7" name="Title 3"/>
          <p:cNvSpPr>
            <a:spLocks noGrp="1"/>
          </p:cNvSpPr>
          <p:nvPr>
            <p:ph type="title"/>
          </p:nvPr>
        </p:nvSpPr>
        <p:spPr>
          <a:xfrm>
            <a:off x="735330" y="505204"/>
            <a:ext cx="9862887" cy="880197"/>
          </a:xfrm>
        </p:spPr>
        <p:txBody>
          <a:bodyPr>
            <a:normAutofit/>
          </a:bodyPr>
          <a:lstStyle/>
          <a:p>
            <a:r>
              <a:rPr lang="en-US" dirty="0"/>
              <a:t>Overview of routine work-flow</a:t>
            </a:r>
            <a:endParaRPr lang="sv-SE" dirty="0"/>
          </a:p>
        </p:txBody>
      </p:sp>
      <p:sp>
        <p:nvSpPr>
          <p:cNvPr id="2" name="Rectangle 1"/>
          <p:cNvSpPr/>
          <p:nvPr/>
        </p:nvSpPr>
        <p:spPr>
          <a:xfrm>
            <a:off x="2459100" y="3577983"/>
            <a:ext cx="975745" cy="40493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Meeting</a:t>
            </a:r>
            <a:endParaRPr lang="sv-SE" sz="1400" dirty="0" err="1"/>
          </a:p>
        </p:txBody>
      </p:sp>
      <p:sp>
        <p:nvSpPr>
          <p:cNvPr id="8" name="Rectangle 7"/>
          <p:cNvSpPr/>
          <p:nvPr/>
        </p:nvSpPr>
        <p:spPr>
          <a:xfrm>
            <a:off x="1557855" y="2813121"/>
            <a:ext cx="1177346" cy="404935"/>
          </a:xfrm>
          <a:prstGeom prst="rect">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Development</a:t>
            </a:r>
            <a:endParaRPr lang="sv-SE" sz="1400" dirty="0" err="1">
              <a:solidFill>
                <a:schemeClr val="tx1"/>
              </a:solidFill>
            </a:endParaRPr>
          </a:p>
        </p:txBody>
      </p:sp>
      <p:sp>
        <p:nvSpPr>
          <p:cNvPr id="9" name="Rectangle 8"/>
          <p:cNvSpPr/>
          <p:nvPr/>
        </p:nvSpPr>
        <p:spPr>
          <a:xfrm>
            <a:off x="1557855" y="4342845"/>
            <a:ext cx="1177346" cy="404935"/>
          </a:xfrm>
          <a:prstGeom prst="rect">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Testing</a:t>
            </a:r>
            <a:endParaRPr lang="sv-SE" sz="1400" dirty="0" err="1">
              <a:solidFill>
                <a:schemeClr val="tx1"/>
              </a:solidFill>
            </a:endParaRPr>
          </a:p>
        </p:txBody>
      </p:sp>
      <p:sp>
        <p:nvSpPr>
          <p:cNvPr id="11" name="Rectangle 10"/>
          <p:cNvSpPr/>
          <p:nvPr/>
        </p:nvSpPr>
        <p:spPr>
          <a:xfrm>
            <a:off x="894549" y="2048259"/>
            <a:ext cx="975745" cy="40493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Meeting</a:t>
            </a:r>
            <a:endParaRPr lang="sv-SE" sz="1400" dirty="0" err="1"/>
          </a:p>
        </p:txBody>
      </p:sp>
      <p:sp>
        <p:nvSpPr>
          <p:cNvPr id="12" name="Rectangle 11"/>
          <p:cNvSpPr/>
          <p:nvPr/>
        </p:nvSpPr>
        <p:spPr>
          <a:xfrm>
            <a:off x="894549" y="5107707"/>
            <a:ext cx="975745" cy="40493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Meeting</a:t>
            </a:r>
            <a:endParaRPr lang="sv-SE" sz="1400" dirty="0" err="1"/>
          </a:p>
        </p:txBody>
      </p:sp>
      <p:sp>
        <p:nvSpPr>
          <p:cNvPr id="13" name="Rectangle 12"/>
          <p:cNvSpPr/>
          <p:nvPr/>
        </p:nvSpPr>
        <p:spPr>
          <a:xfrm>
            <a:off x="1569730" y="5895140"/>
            <a:ext cx="1177346" cy="404935"/>
          </a:xfrm>
          <a:prstGeom prst="rect">
            <a:avLst/>
          </a:prstGeom>
          <a:solidFill>
            <a:srgbClr val="568424"/>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Packaging</a:t>
            </a:r>
            <a:endParaRPr lang="sv-SE" sz="1400" dirty="0" err="1"/>
          </a:p>
        </p:txBody>
      </p:sp>
      <p:sp>
        <p:nvSpPr>
          <p:cNvPr id="4" name="Rectangle 3"/>
          <p:cNvSpPr/>
          <p:nvPr/>
        </p:nvSpPr>
        <p:spPr>
          <a:xfrm>
            <a:off x="5215285" y="1876527"/>
            <a:ext cx="6096000" cy="646331"/>
          </a:xfrm>
          <a:prstGeom prst="rect">
            <a:avLst/>
          </a:prstGeom>
        </p:spPr>
        <p:txBody>
          <a:bodyPr>
            <a:spAutoFit/>
          </a:bodyPr>
          <a:lstStyle/>
          <a:p>
            <a:pPr>
              <a:lnSpc>
                <a:spcPct val="100000"/>
              </a:lnSpc>
            </a:pPr>
            <a:r>
              <a:rPr lang="en-GB" b="1" dirty="0"/>
              <a:t>Meet: identify what functions needs produced [issues are open in GitHub and main contributor MC identified]</a:t>
            </a:r>
            <a:endParaRPr lang="en-GB" dirty="0"/>
          </a:p>
        </p:txBody>
      </p:sp>
      <p:sp>
        <p:nvSpPr>
          <p:cNvPr id="14" name="Rectangle 13"/>
          <p:cNvSpPr/>
          <p:nvPr/>
        </p:nvSpPr>
        <p:spPr>
          <a:xfrm>
            <a:off x="5215285" y="2766902"/>
            <a:ext cx="5502019" cy="369332"/>
          </a:xfrm>
          <a:prstGeom prst="rect">
            <a:avLst/>
          </a:prstGeom>
        </p:spPr>
        <p:txBody>
          <a:bodyPr wrap="none">
            <a:spAutoFit/>
          </a:bodyPr>
          <a:lstStyle/>
          <a:p>
            <a:pPr>
              <a:lnSpc>
                <a:spcPct val="100000"/>
              </a:lnSpc>
            </a:pPr>
            <a:r>
              <a:rPr lang="en-GB" dirty="0"/>
              <a:t>MC: setup up your workspace and develop your function</a:t>
            </a:r>
          </a:p>
        </p:txBody>
      </p:sp>
      <p:sp>
        <p:nvSpPr>
          <p:cNvPr id="15" name="Rectangle 14"/>
          <p:cNvSpPr/>
          <p:nvPr/>
        </p:nvSpPr>
        <p:spPr>
          <a:xfrm>
            <a:off x="5215285" y="3425894"/>
            <a:ext cx="6096000" cy="646331"/>
          </a:xfrm>
          <a:prstGeom prst="rect">
            <a:avLst/>
          </a:prstGeom>
        </p:spPr>
        <p:txBody>
          <a:bodyPr>
            <a:spAutoFit/>
          </a:bodyPr>
          <a:lstStyle/>
          <a:p>
            <a:pPr>
              <a:lnSpc>
                <a:spcPct val="100000"/>
              </a:lnSpc>
            </a:pPr>
            <a:r>
              <a:rPr lang="en-GB" b="1" dirty="0"/>
              <a:t>Meet: </a:t>
            </a:r>
            <a:r>
              <a:rPr lang="en-GB" b="1" dirty="0" err="1"/>
              <a:t>Present&amp;Discuss</a:t>
            </a:r>
            <a:r>
              <a:rPr lang="en-GB" b="1" dirty="0"/>
              <a:t> with other contributors; identify group for testing and further development TG; set a test period;</a:t>
            </a:r>
          </a:p>
        </p:txBody>
      </p:sp>
      <p:sp>
        <p:nvSpPr>
          <p:cNvPr id="16" name="Rectangle 15"/>
          <p:cNvSpPr/>
          <p:nvPr/>
        </p:nvSpPr>
        <p:spPr>
          <a:xfrm>
            <a:off x="5215285" y="4249444"/>
            <a:ext cx="6096000" cy="646331"/>
          </a:xfrm>
          <a:prstGeom prst="rect">
            <a:avLst/>
          </a:prstGeom>
        </p:spPr>
        <p:txBody>
          <a:bodyPr>
            <a:spAutoFit/>
          </a:bodyPr>
          <a:lstStyle/>
          <a:p>
            <a:pPr>
              <a:lnSpc>
                <a:spcPct val="100000"/>
              </a:lnSpc>
            </a:pPr>
            <a:r>
              <a:rPr lang="en-GB" dirty="0"/>
              <a:t>MC,TG: Place issues in </a:t>
            </a:r>
            <a:r>
              <a:rPr lang="en-GB" dirty="0" err="1"/>
              <a:t>github</a:t>
            </a:r>
            <a:r>
              <a:rPr lang="en-GB" dirty="0"/>
              <a:t>, help solve them; further development</a:t>
            </a:r>
          </a:p>
        </p:txBody>
      </p:sp>
      <p:sp>
        <p:nvSpPr>
          <p:cNvPr id="17" name="Rectangle 16"/>
          <p:cNvSpPr/>
          <p:nvPr/>
        </p:nvSpPr>
        <p:spPr>
          <a:xfrm>
            <a:off x="5215285" y="5016514"/>
            <a:ext cx="6096000" cy="646331"/>
          </a:xfrm>
          <a:prstGeom prst="rect">
            <a:avLst/>
          </a:prstGeom>
        </p:spPr>
        <p:txBody>
          <a:bodyPr>
            <a:spAutoFit/>
          </a:bodyPr>
          <a:lstStyle/>
          <a:p>
            <a:pPr>
              <a:lnSpc>
                <a:spcPct val="100000"/>
              </a:lnSpc>
            </a:pPr>
            <a:r>
              <a:rPr lang="en-GB" b="1" dirty="0"/>
              <a:t>Meet: is function ready for “safe” routine use? -&gt; function can go to package</a:t>
            </a:r>
          </a:p>
        </p:txBody>
      </p:sp>
      <p:sp>
        <p:nvSpPr>
          <p:cNvPr id="19" name="Rectangle 18"/>
          <p:cNvSpPr/>
          <p:nvPr/>
        </p:nvSpPr>
        <p:spPr>
          <a:xfrm>
            <a:off x="5215285" y="5783585"/>
            <a:ext cx="6096000" cy="1015663"/>
          </a:xfrm>
          <a:prstGeom prst="rect">
            <a:avLst/>
          </a:prstGeom>
        </p:spPr>
        <p:txBody>
          <a:bodyPr>
            <a:spAutoFit/>
          </a:bodyPr>
          <a:lstStyle/>
          <a:p>
            <a:pPr>
              <a:lnSpc>
                <a:spcPct val="100000"/>
              </a:lnSpc>
            </a:pPr>
            <a:r>
              <a:rPr lang="en-GB" dirty="0"/>
              <a:t>MC (with PG support): Incorporate function in package [issue put in GitHub]</a:t>
            </a:r>
          </a:p>
          <a:p>
            <a:pPr lvl="1">
              <a:lnSpc>
                <a:spcPct val="100000"/>
              </a:lnSpc>
            </a:pPr>
            <a:r>
              <a:rPr lang="en-GB" sz="1200" dirty="0"/>
              <a:t>More tests are developed; remaining complexity issues solved; optimization; etc. [note: function may drastically change after re-coding]</a:t>
            </a:r>
          </a:p>
        </p:txBody>
      </p:sp>
      <p:cxnSp>
        <p:nvCxnSpPr>
          <p:cNvPr id="22" name="Straight Arrow Connector 21"/>
          <p:cNvCxnSpPr/>
          <p:nvPr/>
        </p:nvCxnSpPr>
        <p:spPr>
          <a:xfrm>
            <a:off x="1557855" y="2522858"/>
            <a:ext cx="178131" cy="244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211773" y="3303872"/>
            <a:ext cx="178131" cy="244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646920" y="5574094"/>
            <a:ext cx="178131" cy="244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403266" y="4809232"/>
            <a:ext cx="234322" cy="24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2183677" y="4072225"/>
            <a:ext cx="234322" cy="24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962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768720" y="1739750"/>
            <a:ext cx="9862887" cy="3648517"/>
          </a:xfrm>
        </p:spPr>
        <p:txBody>
          <a:bodyPr/>
          <a:lstStyle/>
          <a:p>
            <a:pPr marL="457200" indent="-457200">
              <a:buFont typeface="+mj-lt"/>
              <a:buAutoNum type="arabicPeriod"/>
            </a:pPr>
            <a:r>
              <a:rPr lang="en-US" dirty="0"/>
              <a:t>Install latest version of R, </a:t>
            </a:r>
            <a:r>
              <a:rPr lang="en-US" dirty="0" err="1"/>
              <a:t>roxygen</a:t>
            </a:r>
            <a:r>
              <a:rPr lang="en-US" dirty="0"/>
              <a:t> and any dependencies; R-studio also comes handy</a:t>
            </a:r>
          </a:p>
          <a:p>
            <a:pPr marL="712788" lvl="1" indent="0">
              <a:buNone/>
            </a:pPr>
            <a:r>
              <a:rPr lang="en-US" sz="1400" dirty="0" err="1">
                <a:solidFill>
                  <a:schemeClr val="tx1"/>
                </a:solidFill>
              </a:rPr>
              <a:t>installr</a:t>
            </a:r>
            <a:r>
              <a:rPr lang="en-US" sz="1400" dirty="0">
                <a:solidFill>
                  <a:schemeClr val="tx1"/>
                </a:solidFill>
              </a:rPr>
              <a:t>::</a:t>
            </a:r>
            <a:r>
              <a:rPr lang="en-US" sz="1400" dirty="0" err="1">
                <a:solidFill>
                  <a:schemeClr val="tx1"/>
                </a:solidFill>
              </a:rPr>
              <a:t>check.for.updates.R</a:t>
            </a:r>
            <a:r>
              <a:rPr lang="en-US" sz="1400" dirty="0">
                <a:solidFill>
                  <a:schemeClr val="tx1"/>
                </a:solidFill>
              </a:rPr>
              <a:t>(</a:t>
            </a:r>
            <a:r>
              <a:rPr lang="en-US" sz="1400" dirty="0" err="1">
                <a:solidFill>
                  <a:schemeClr val="tx1"/>
                </a:solidFill>
              </a:rPr>
              <a:t>notify_user</a:t>
            </a:r>
            <a:r>
              <a:rPr lang="en-US" sz="1400" dirty="0">
                <a:solidFill>
                  <a:schemeClr val="tx1"/>
                </a:solidFill>
              </a:rPr>
              <a:t> = TRUE, GUI = TRUE, </a:t>
            </a:r>
          </a:p>
          <a:p>
            <a:pPr marL="712788" indent="0">
              <a:buNone/>
            </a:pPr>
            <a:r>
              <a:rPr lang="en-US" sz="1400" dirty="0">
                <a:solidFill>
                  <a:schemeClr val="tx1"/>
                </a:solidFill>
              </a:rPr>
              <a:t>	</a:t>
            </a:r>
            <a:r>
              <a:rPr lang="en-US" sz="1400" dirty="0" err="1">
                <a:solidFill>
                  <a:schemeClr val="tx1"/>
                </a:solidFill>
              </a:rPr>
              <a:t>page_with_download_url</a:t>
            </a:r>
            <a:r>
              <a:rPr lang="en-US" sz="1400" dirty="0">
                <a:solidFill>
                  <a:schemeClr val="tx1"/>
                </a:solidFill>
              </a:rPr>
              <a:t> = "https://cran.rstudio.com/bin/windows/base/", pat = "R-[0-9.]+.+-win\\.exe")</a:t>
            </a:r>
          </a:p>
          <a:p>
            <a:pPr marL="457200" indent="-457200">
              <a:buFont typeface="+mj-lt"/>
              <a:buAutoNum type="arabicPeriod"/>
            </a:pPr>
            <a:r>
              <a:rPr lang="en-US" dirty="0"/>
              <a:t>Install “remotes”</a:t>
            </a:r>
          </a:p>
          <a:p>
            <a:pPr marL="457200" indent="-457200">
              <a:buFont typeface="+mj-lt"/>
              <a:buAutoNum type="arabicPeriod"/>
            </a:pPr>
            <a:r>
              <a:rPr lang="en-US" dirty="0"/>
              <a:t>Install latest version of </a:t>
            </a:r>
            <a:r>
              <a:rPr lang="en-US" dirty="0" err="1"/>
              <a:t>icesRDBES</a:t>
            </a:r>
            <a:endParaRPr lang="sv-SE" dirty="0"/>
          </a:p>
        </p:txBody>
      </p:sp>
      <p:pic>
        <p:nvPicPr>
          <p:cNvPr id="6" name="Picture 5"/>
          <p:cNvPicPr>
            <a:picLocks noChangeAspect="1"/>
          </p:cNvPicPr>
          <p:nvPr/>
        </p:nvPicPr>
        <p:blipFill>
          <a:blip r:embed="rId2"/>
          <a:stretch>
            <a:fillRect/>
          </a:stretch>
        </p:blipFill>
        <p:spPr>
          <a:xfrm>
            <a:off x="2968831" y="3746687"/>
            <a:ext cx="6260700" cy="2333135"/>
          </a:xfrm>
          <a:prstGeom prst="rect">
            <a:avLst/>
          </a:prstGeom>
          <a:ln>
            <a:solidFill>
              <a:schemeClr val="accent1"/>
            </a:solidFill>
          </a:ln>
        </p:spPr>
      </p:pic>
      <p:sp>
        <p:nvSpPr>
          <p:cNvPr id="9" name="Title 3"/>
          <p:cNvSpPr>
            <a:spLocks noGrp="1"/>
          </p:cNvSpPr>
          <p:nvPr>
            <p:ph type="title"/>
          </p:nvPr>
        </p:nvSpPr>
        <p:spPr>
          <a:xfrm>
            <a:off x="768721" y="502336"/>
            <a:ext cx="9862887" cy="880197"/>
          </a:xfrm>
        </p:spPr>
        <p:txBody>
          <a:bodyPr/>
          <a:lstStyle/>
          <a:p>
            <a:r>
              <a:rPr lang="en-US" dirty="0"/>
              <a:t>First steps: set-up your workspace</a:t>
            </a:r>
            <a:endParaRPr lang="sv-SE" dirty="0"/>
          </a:p>
        </p:txBody>
      </p:sp>
    </p:spTree>
    <p:extLst>
      <p:ext uri="{BB962C8B-B14F-4D97-AF65-F5344CB8AC3E}">
        <p14:creationId xmlns:p14="http://schemas.microsoft.com/office/powerpoint/2010/main" val="1828783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8721" y="1566170"/>
            <a:ext cx="9729066" cy="4894007"/>
          </a:xfrm>
        </p:spPr>
        <p:txBody>
          <a:bodyPr>
            <a:normAutofit fontScale="92500" lnSpcReduction="10000"/>
          </a:bodyPr>
          <a:lstStyle/>
          <a:p>
            <a:pPr marL="457200" indent="-457200">
              <a:lnSpc>
                <a:spcPct val="100000"/>
              </a:lnSpc>
              <a:buFont typeface="+mj-lt"/>
              <a:buAutoNum type="arabicPeriod" startAt="4"/>
            </a:pPr>
            <a:r>
              <a:rPr lang="en-US" dirty="0">
                <a:solidFill>
                  <a:schemeClr val="tx1"/>
                </a:solidFill>
              </a:rPr>
              <a:t>If not already done: Request writing access to </a:t>
            </a:r>
            <a:r>
              <a:rPr lang="en-US" dirty="0" err="1">
                <a:solidFill>
                  <a:schemeClr val="tx1"/>
                </a:solidFill>
              </a:rPr>
              <a:t>icesRDBES</a:t>
            </a:r>
            <a:r>
              <a:rPr lang="en-US" dirty="0">
                <a:solidFill>
                  <a:schemeClr val="tx1"/>
                </a:solidFill>
              </a:rPr>
              <a:t> repo [email to chairs]; </a:t>
            </a:r>
          </a:p>
          <a:p>
            <a:pPr marL="457200" indent="-457200">
              <a:lnSpc>
                <a:spcPct val="100000"/>
              </a:lnSpc>
              <a:buFont typeface="+mj-lt"/>
              <a:buAutoNum type="arabicPeriod" startAt="4"/>
            </a:pPr>
            <a:r>
              <a:rPr lang="en-GB" dirty="0">
                <a:solidFill>
                  <a:schemeClr val="tx1"/>
                </a:solidFill>
              </a:rPr>
              <a:t>Open an issue that details on what you will be working on. </a:t>
            </a:r>
          </a:p>
          <a:p>
            <a:pPr marL="900113" lvl="1" indent="-450850"/>
            <a:r>
              <a:rPr lang="en-GB" dirty="0">
                <a:solidFill>
                  <a:schemeClr val="tx1"/>
                </a:solidFill>
              </a:rPr>
              <a:t>This will signal to others what you are doing and avoid duplication; also allow you to make your contributions more visible.</a:t>
            </a:r>
            <a:endParaRPr lang="en-US" dirty="0">
              <a:solidFill>
                <a:schemeClr val="tx1"/>
              </a:solidFill>
            </a:endParaRPr>
          </a:p>
          <a:p>
            <a:pPr marL="457200" indent="-457200">
              <a:lnSpc>
                <a:spcPct val="100000"/>
              </a:lnSpc>
              <a:buFont typeface="+mj-lt"/>
              <a:buAutoNum type="arabicPeriod" startAt="4"/>
            </a:pPr>
            <a:r>
              <a:rPr lang="en-GB" dirty="0">
                <a:solidFill>
                  <a:schemeClr val="tx1"/>
                </a:solidFill>
              </a:rPr>
              <a:t>Check out the “dev” branch and work on it</a:t>
            </a:r>
          </a:p>
          <a:p>
            <a:pPr marL="903288" lvl="1" indent="0">
              <a:buNone/>
            </a:pPr>
            <a:r>
              <a:rPr lang="en-US" dirty="0">
                <a:solidFill>
                  <a:schemeClr val="tx1"/>
                </a:solidFill>
              </a:rPr>
              <a:t>The dev branch is used for all development work – contributors can commit directly to it </a:t>
            </a:r>
          </a:p>
          <a:p>
            <a:pPr marL="457200" indent="-457200">
              <a:lnSpc>
                <a:spcPct val="100000"/>
              </a:lnSpc>
              <a:buFont typeface="+mj-lt"/>
              <a:buAutoNum type="arabicPeriod" startAt="4"/>
            </a:pPr>
            <a:r>
              <a:rPr lang="en-GB" dirty="0">
                <a:solidFill>
                  <a:schemeClr val="tx1"/>
                </a:solidFill>
              </a:rPr>
              <a:t>Choose the options below you are more comfortable with:</a:t>
            </a:r>
          </a:p>
          <a:p>
            <a:pPr marL="712788" lvl="1" indent="-439738">
              <a:buFont typeface="+mj-lt"/>
              <a:buAutoNum type="alphaUcPeriod"/>
            </a:pPr>
            <a:r>
              <a:rPr lang="en-GB" dirty="0">
                <a:solidFill>
                  <a:schemeClr val="tx1"/>
                </a:solidFill>
              </a:rPr>
              <a:t>Work directly on the core repo [preferable]</a:t>
            </a:r>
          </a:p>
          <a:p>
            <a:pPr marL="892788" lvl="2" indent="-439738"/>
            <a:r>
              <a:rPr lang="en-GB" dirty="0">
                <a:solidFill>
                  <a:schemeClr val="tx1"/>
                </a:solidFill>
              </a:rPr>
              <a:t>This means your functions and changes will be readily available to those (including you) interested in building a local “dev version” of the </a:t>
            </a:r>
            <a:r>
              <a:rPr lang="en-GB" dirty="0" err="1">
                <a:solidFill>
                  <a:schemeClr val="tx1"/>
                </a:solidFill>
              </a:rPr>
              <a:t>icesRDBES</a:t>
            </a:r>
            <a:r>
              <a:rPr lang="en-GB" dirty="0">
                <a:solidFill>
                  <a:schemeClr val="tx1"/>
                </a:solidFill>
              </a:rPr>
              <a:t> package.</a:t>
            </a:r>
          </a:p>
          <a:p>
            <a:pPr marL="892788" lvl="2" indent="-439738"/>
            <a:r>
              <a:rPr lang="en-GB" dirty="0">
                <a:solidFill>
                  <a:schemeClr val="tx1"/>
                </a:solidFill>
              </a:rPr>
              <a:t>If you are not experienced with building packages and the checks and procedures involved, some changes you make may lead code to break</a:t>
            </a:r>
          </a:p>
          <a:p>
            <a:pPr marL="712788" lvl="1" indent="-439738">
              <a:buFont typeface="+mj-lt"/>
              <a:buAutoNum type="alphaUcPeriod"/>
            </a:pPr>
            <a:r>
              <a:rPr lang="en-GB" dirty="0">
                <a:solidFill>
                  <a:schemeClr val="tx1"/>
                </a:solidFill>
              </a:rPr>
              <a:t>Work on folder WGRDBES\personal [less advised]</a:t>
            </a:r>
          </a:p>
          <a:p>
            <a:pPr marL="892788" lvl="2" indent="-439738"/>
            <a:r>
              <a:rPr lang="en-GB" dirty="0">
                <a:solidFill>
                  <a:schemeClr val="tx1"/>
                </a:solidFill>
              </a:rPr>
              <a:t>This means your functions will not be readily available local “dev version” of the </a:t>
            </a:r>
            <a:r>
              <a:rPr lang="en-GB" dirty="0" err="1">
                <a:solidFill>
                  <a:schemeClr val="tx1"/>
                </a:solidFill>
              </a:rPr>
              <a:t>icesRDBES</a:t>
            </a:r>
            <a:r>
              <a:rPr lang="en-GB" dirty="0">
                <a:solidFill>
                  <a:schemeClr val="tx1"/>
                </a:solidFill>
              </a:rPr>
              <a:t> package [because WGRDBES directory is in </a:t>
            </a:r>
            <a:r>
              <a:rPr lang="en-GB" dirty="0" err="1">
                <a:solidFill>
                  <a:schemeClr val="tx1"/>
                </a:solidFill>
              </a:rPr>
              <a:t>buildignore</a:t>
            </a:r>
            <a:r>
              <a:rPr lang="en-GB" dirty="0">
                <a:solidFill>
                  <a:schemeClr val="tx1"/>
                </a:solidFill>
              </a:rPr>
              <a:t>]</a:t>
            </a:r>
          </a:p>
          <a:p>
            <a:pPr marL="892788" lvl="2" indent="-439738"/>
            <a:r>
              <a:rPr lang="en-GB" dirty="0">
                <a:solidFill>
                  <a:schemeClr val="tx1"/>
                </a:solidFill>
              </a:rPr>
              <a:t>Since its personal there are less risks of breaking others cod</a:t>
            </a:r>
            <a:r>
              <a:rPr lang="en-GB" dirty="0"/>
              <a:t>e; But also less interaction with other contributors; and it will take more time for your functions to integrate the package</a:t>
            </a:r>
          </a:p>
          <a:p>
            <a:pPr marL="892788" lvl="2" indent="-439738"/>
            <a:endParaRPr lang="en-GB" dirty="0"/>
          </a:p>
          <a:p>
            <a:pPr marL="457200" indent="-457200">
              <a:lnSpc>
                <a:spcPct val="100000"/>
              </a:lnSpc>
              <a:buFont typeface="+mj-lt"/>
              <a:buAutoNum type="arabicPeriod" startAt="4"/>
            </a:pPr>
            <a:endParaRPr lang="en-GB"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sv-SE" dirty="0"/>
          </a:p>
        </p:txBody>
      </p:sp>
      <p:sp>
        <p:nvSpPr>
          <p:cNvPr id="16" name="Title 3"/>
          <p:cNvSpPr txBox="1">
            <a:spLocks/>
          </p:cNvSpPr>
          <p:nvPr/>
        </p:nvSpPr>
        <p:spPr>
          <a:xfrm>
            <a:off x="768721" y="502336"/>
            <a:ext cx="9862887" cy="880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a:t>First steps: set-up your workspace</a:t>
            </a:r>
            <a:endParaRPr lang="sv-SE" dirty="0"/>
          </a:p>
        </p:txBody>
      </p:sp>
    </p:spTree>
    <p:extLst>
      <p:ext uri="{BB962C8B-B14F-4D97-AF65-F5344CB8AC3E}">
        <p14:creationId xmlns:p14="http://schemas.microsoft.com/office/powerpoint/2010/main" val="233303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68635" y="549565"/>
            <a:ext cx="9862887" cy="880197"/>
          </a:xfrm>
        </p:spPr>
        <p:txBody>
          <a:bodyPr/>
          <a:lstStyle/>
          <a:p>
            <a:r>
              <a:rPr lang="en-US" dirty="0"/>
              <a:t>First steps: set-up your workspace</a:t>
            </a:r>
            <a:endParaRPr lang="sv-SE" dirty="0"/>
          </a:p>
        </p:txBody>
      </p:sp>
      <p:sp>
        <p:nvSpPr>
          <p:cNvPr id="5" name="Content Placeholder 4"/>
          <p:cNvSpPr>
            <a:spLocks noGrp="1"/>
          </p:cNvSpPr>
          <p:nvPr>
            <p:ph idx="1"/>
          </p:nvPr>
        </p:nvSpPr>
        <p:spPr>
          <a:xfrm>
            <a:off x="768721" y="1542419"/>
            <a:ext cx="7611627" cy="4181488"/>
          </a:xfrm>
        </p:spPr>
        <p:txBody>
          <a:bodyPr>
            <a:normAutofit lnSpcReduction="10000"/>
          </a:bodyPr>
          <a:lstStyle/>
          <a:p>
            <a:r>
              <a:rPr lang="en-US" dirty="0"/>
              <a:t>If you decide to </a:t>
            </a:r>
            <a:r>
              <a:rPr lang="en-GB" dirty="0"/>
              <a:t>Work directly on the core repo</a:t>
            </a:r>
          </a:p>
          <a:p>
            <a:pPr lvl="1"/>
            <a:r>
              <a:rPr lang="en-US" dirty="0"/>
              <a:t>Commit your functions in \R </a:t>
            </a:r>
            <a:r>
              <a:rPr lang="en-US" dirty="0" err="1"/>
              <a:t>dir</a:t>
            </a:r>
            <a:endParaRPr lang="en-US" dirty="0"/>
          </a:p>
          <a:p>
            <a:pPr lvl="1"/>
            <a:r>
              <a:rPr lang="en-US" dirty="0"/>
              <a:t>Commit your data to \data </a:t>
            </a:r>
            <a:r>
              <a:rPr lang="en-US" dirty="0" err="1"/>
              <a:t>dir</a:t>
            </a:r>
            <a:r>
              <a:rPr lang="en-US" dirty="0"/>
              <a:t> </a:t>
            </a:r>
          </a:p>
          <a:p>
            <a:pPr lvl="1"/>
            <a:r>
              <a:rPr lang="en-US" dirty="0"/>
              <a:t>Commit your vignettes to \vignettes </a:t>
            </a:r>
            <a:r>
              <a:rPr lang="en-US" dirty="0" err="1"/>
              <a:t>dir</a:t>
            </a:r>
            <a:endParaRPr lang="en-US" dirty="0"/>
          </a:p>
          <a:p>
            <a:pPr lvl="1"/>
            <a:r>
              <a:rPr lang="en-US" dirty="0"/>
              <a:t>Commit your tests to \tests </a:t>
            </a:r>
            <a:r>
              <a:rPr lang="en-US" dirty="0" err="1"/>
              <a:t>dir</a:t>
            </a:r>
            <a:endParaRPr lang="en-US" dirty="0"/>
          </a:p>
          <a:p>
            <a:endParaRPr lang="en-US" dirty="0"/>
          </a:p>
          <a:p>
            <a:r>
              <a:rPr lang="en-US" dirty="0"/>
              <a:t>If you decide to work on  </a:t>
            </a:r>
            <a:r>
              <a:rPr lang="en-GB" dirty="0"/>
              <a:t>WGRDBES-EST\personal</a:t>
            </a:r>
            <a:endParaRPr lang="en-US" dirty="0"/>
          </a:p>
          <a:p>
            <a:pPr lvl="1"/>
            <a:r>
              <a:rPr lang="en-GB" dirty="0"/>
              <a:t>Open a folder with your </a:t>
            </a:r>
            <a:r>
              <a:rPr lang="en-GB" dirty="0">
                <a:solidFill>
                  <a:srgbClr val="FF0000"/>
                </a:solidFill>
              </a:rPr>
              <a:t>name</a:t>
            </a:r>
            <a:endParaRPr lang="en-GB" dirty="0"/>
          </a:p>
          <a:p>
            <a:pPr lvl="1"/>
            <a:r>
              <a:rPr lang="en-US" dirty="0"/>
              <a:t>Create a \R directory and \data to put your functions and data </a:t>
            </a:r>
          </a:p>
          <a:p>
            <a:pPr lvl="1"/>
            <a:r>
              <a:rPr lang="en-US" dirty="0"/>
              <a:t>Vignettes/Examples that details use of your functions:</a:t>
            </a:r>
          </a:p>
          <a:p>
            <a:pPr lvl="2"/>
            <a:r>
              <a:rPr lang="en-US" dirty="0"/>
              <a:t>If you can </a:t>
            </a:r>
            <a:r>
              <a:rPr lang="en-US" dirty="0" err="1"/>
              <a:t>Rmd</a:t>
            </a:r>
            <a:r>
              <a:rPr lang="en-US" dirty="0"/>
              <a:t>: Create a \vignettes to put your .</a:t>
            </a:r>
            <a:r>
              <a:rPr lang="en-US" dirty="0" err="1"/>
              <a:t>Rmd</a:t>
            </a:r>
            <a:r>
              <a:rPr lang="en-US" dirty="0"/>
              <a:t> vignettes there</a:t>
            </a:r>
          </a:p>
          <a:p>
            <a:pPr lvl="2"/>
            <a:r>
              <a:rPr lang="en-US" dirty="0"/>
              <a:t>If you cannot </a:t>
            </a:r>
            <a:r>
              <a:rPr lang="en-US" dirty="0" err="1"/>
              <a:t>Rmd</a:t>
            </a:r>
            <a:r>
              <a:rPr lang="en-US" dirty="0"/>
              <a:t>: Create “</a:t>
            </a:r>
            <a:r>
              <a:rPr lang="en-US" dirty="0" err="1"/>
              <a:t>example_script.R</a:t>
            </a:r>
            <a:r>
              <a:rPr lang="en-US" dirty="0"/>
              <a:t>” in normal R and place it in the root of your personal folder</a:t>
            </a:r>
          </a:p>
          <a:p>
            <a:endParaRPr lang="en-US" dirty="0"/>
          </a:p>
        </p:txBody>
      </p:sp>
      <p:pic>
        <p:nvPicPr>
          <p:cNvPr id="6" name="Picture 5"/>
          <p:cNvPicPr>
            <a:picLocks noChangeAspect="1"/>
          </p:cNvPicPr>
          <p:nvPr/>
        </p:nvPicPr>
        <p:blipFill>
          <a:blip r:embed="rId2"/>
          <a:stretch>
            <a:fillRect/>
          </a:stretch>
        </p:blipFill>
        <p:spPr>
          <a:xfrm>
            <a:off x="8385396" y="1536500"/>
            <a:ext cx="2974054" cy="1942969"/>
          </a:xfrm>
          <a:prstGeom prst="rect">
            <a:avLst/>
          </a:prstGeom>
        </p:spPr>
      </p:pic>
      <p:cxnSp>
        <p:nvCxnSpPr>
          <p:cNvPr id="8" name="Straight Connector 7"/>
          <p:cNvCxnSpPr/>
          <p:nvPr/>
        </p:nvCxnSpPr>
        <p:spPr>
          <a:xfrm>
            <a:off x="9153736" y="2412309"/>
            <a:ext cx="405900" cy="1747837"/>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8380348" y="4272803"/>
            <a:ext cx="3491346" cy="752308"/>
          </a:xfrm>
          <a:prstGeom prst="rect">
            <a:avLst/>
          </a:prstGeom>
          <a:ln>
            <a:solidFill>
              <a:schemeClr val="accent1"/>
            </a:solidFill>
          </a:ln>
        </p:spPr>
      </p:pic>
      <p:sp>
        <p:nvSpPr>
          <p:cNvPr id="14" name="TextBox 13"/>
          <p:cNvSpPr txBox="1"/>
          <p:nvPr/>
        </p:nvSpPr>
        <p:spPr>
          <a:xfrm>
            <a:off x="2256312" y="5723907"/>
            <a:ext cx="914400" cy="914400"/>
          </a:xfrm>
          <a:prstGeom prst="rect">
            <a:avLst/>
          </a:prstGeom>
        </p:spPr>
        <p:txBody>
          <a:bodyPr vert="horz" wrap="none" lIns="0" tIns="0" rIns="0" bIns="0" rtlCol="0" anchor="t">
            <a:noAutofit/>
          </a:bodyPr>
          <a:lstStyle/>
          <a:p>
            <a:pPr algn="l"/>
            <a:endParaRPr lang="sv-SE" sz="2000" dirty="0" err="1">
              <a:solidFill>
                <a:schemeClr val="accent1"/>
              </a:solidFill>
              <a:latin typeface="+mn-lt"/>
            </a:endParaRPr>
          </a:p>
        </p:txBody>
      </p:sp>
      <p:sp>
        <p:nvSpPr>
          <p:cNvPr id="16" name="TextBox 15"/>
          <p:cNvSpPr txBox="1"/>
          <p:nvPr/>
        </p:nvSpPr>
        <p:spPr>
          <a:xfrm>
            <a:off x="4975760" y="5760930"/>
            <a:ext cx="6198919" cy="914400"/>
          </a:xfrm>
          <a:prstGeom prst="rect">
            <a:avLst/>
          </a:prstGeom>
        </p:spPr>
        <p:txBody>
          <a:bodyPr vert="horz" wrap="none" lIns="0" tIns="0" rIns="0" bIns="0" rtlCol="0" anchor="t">
            <a:noAutofit/>
          </a:bodyPr>
          <a:lstStyle/>
          <a:p>
            <a:pPr algn="l"/>
            <a:r>
              <a:rPr lang="en-US" sz="2000" b="1" dirty="0">
                <a:solidFill>
                  <a:schemeClr val="accent1"/>
                </a:solidFill>
                <a:latin typeface="+mn-lt"/>
              </a:rPr>
              <a:t>In any case: </a:t>
            </a:r>
          </a:p>
          <a:p>
            <a:pPr algn="l"/>
            <a:r>
              <a:rPr lang="en-US" sz="2000" dirty="0">
                <a:solidFill>
                  <a:schemeClr val="accent1"/>
                </a:solidFill>
                <a:latin typeface="+mn-lt"/>
              </a:rPr>
              <a:t>Do not forget to check out “dev” branch before you start</a:t>
            </a:r>
          </a:p>
          <a:p>
            <a:pPr algn="l"/>
            <a:r>
              <a:rPr lang="en-US" sz="2000" dirty="0">
                <a:solidFill>
                  <a:schemeClr val="accent1"/>
                </a:solidFill>
              </a:rPr>
              <a:t>Do not forget to open an issue</a:t>
            </a:r>
            <a:endParaRPr lang="sv-SE" sz="2000" dirty="0" err="1">
              <a:solidFill>
                <a:schemeClr val="accent1"/>
              </a:solidFill>
              <a:latin typeface="+mn-lt"/>
            </a:endParaRPr>
          </a:p>
        </p:txBody>
      </p:sp>
    </p:spTree>
    <p:extLst>
      <p:ext uri="{BB962C8B-B14F-4D97-AF65-F5344CB8AC3E}">
        <p14:creationId xmlns:p14="http://schemas.microsoft.com/office/powerpoint/2010/main" val="2386921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721" y="466710"/>
            <a:ext cx="9862887" cy="880197"/>
          </a:xfrm>
        </p:spPr>
        <p:txBody>
          <a:bodyPr/>
          <a:lstStyle/>
          <a:p>
            <a:r>
              <a:rPr lang="en-US" dirty="0"/>
              <a:t>First steps: set-up your workspace</a:t>
            </a:r>
            <a:endParaRPr lang="sv-SE" dirty="0"/>
          </a:p>
        </p:txBody>
      </p:sp>
      <p:sp>
        <p:nvSpPr>
          <p:cNvPr id="2" name="Content Placeholder 1"/>
          <p:cNvSpPr>
            <a:spLocks noGrp="1"/>
          </p:cNvSpPr>
          <p:nvPr>
            <p:ph idx="1"/>
          </p:nvPr>
        </p:nvSpPr>
        <p:spPr>
          <a:xfrm>
            <a:off x="851848" y="1542419"/>
            <a:ext cx="9862887" cy="4218511"/>
          </a:xfrm>
        </p:spPr>
        <p:txBody>
          <a:bodyPr>
            <a:normAutofit/>
          </a:bodyPr>
          <a:lstStyle/>
          <a:p>
            <a:pPr marL="457200" indent="-457200">
              <a:buFont typeface="+mj-lt"/>
              <a:buAutoNum type="arabicPeriod" startAt="8"/>
            </a:pPr>
            <a:r>
              <a:rPr lang="en-US" dirty="0"/>
              <a:t>Take a look </a:t>
            </a:r>
            <a:r>
              <a:rPr lang="en-US" dirty="0" err="1"/>
              <a:t>styleguide</a:t>
            </a:r>
            <a:r>
              <a:rPr lang="en-US" dirty="0"/>
              <a:t> developed during WKRDB-EST 1-2 </a:t>
            </a:r>
            <a:r>
              <a:rPr lang="en-US" dirty="0">
                <a:hlinkClick r:id="rId2"/>
              </a:rPr>
              <a:t>https://github.com/ices-eg/WK_RDBES/blob/master/WKRDB-EST2/styleGuideCodeRDBES.pdf</a:t>
            </a:r>
            <a:r>
              <a:rPr lang="en-US" dirty="0"/>
              <a:t> </a:t>
            </a:r>
          </a:p>
          <a:p>
            <a:pPr marL="892175" lvl="1" indent="-171450">
              <a:spcBef>
                <a:spcPts val="1200"/>
              </a:spcBef>
            </a:pPr>
            <a:r>
              <a:rPr lang="en-US" dirty="0"/>
              <a:t>prefer nouns when naming your objects; use concise and meaningful names; avoid using names of existing objects</a:t>
            </a:r>
          </a:p>
          <a:p>
            <a:pPr marL="892175" lvl="1" indent="-171450">
              <a:spcBef>
                <a:spcPts val="1200"/>
              </a:spcBef>
            </a:pPr>
            <a:r>
              <a:rPr lang="en-US" dirty="0"/>
              <a:t>use </a:t>
            </a:r>
            <a:r>
              <a:rPr lang="en-US" dirty="0" err="1"/>
              <a:t>camelCase</a:t>
            </a:r>
            <a:r>
              <a:rPr lang="en-US" dirty="0"/>
              <a:t> for variable names; use verbs as start of function names (e.g., import…; generate…)</a:t>
            </a:r>
          </a:p>
          <a:p>
            <a:pPr marL="892175" lvl="1" indent="-171450">
              <a:spcBef>
                <a:spcPts val="1200"/>
              </a:spcBef>
            </a:pPr>
            <a:r>
              <a:rPr lang="en-US" dirty="0"/>
              <a:t>It is preferable to use base R but the following packages (and their dependencies) are also allowed: </a:t>
            </a:r>
            <a:r>
              <a:rPr lang="en-US" b="1" dirty="0" err="1"/>
              <a:t>data.table</a:t>
            </a:r>
            <a:r>
              <a:rPr lang="en-US" dirty="0"/>
              <a:t>, and </a:t>
            </a:r>
            <a:r>
              <a:rPr lang="en-US" b="1" dirty="0" err="1"/>
              <a:t>dplyr</a:t>
            </a:r>
            <a:r>
              <a:rPr lang="en-US" dirty="0"/>
              <a:t> (not the whole </a:t>
            </a:r>
            <a:r>
              <a:rPr lang="en-US" dirty="0" err="1"/>
              <a:t>tidyverse</a:t>
            </a:r>
            <a:r>
              <a:rPr lang="en-US" dirty="0"/>
              <a:t>). If contributors wish/need to use other packages this must be discussed beforehand.</a:t>
            </a:r>
          </a:p>
          <a:p>
            <a:pPr marL="457200" indent="-457200">
              <a:buFont typeface="+mj-lt"/>
              <a:buAutoNum type="arabicPeriod" startAt="8"/>
            </a:pPr>
            <a:endParaRPr lang="en-US" dirty="0"/>
          </a:p>
          <a:p>
            <a:pPr marL="457200" indent="-457200">
              <a:buFont typeface="+mj-lt"/>
              <a:buAutoNum type="arabicPeriod" startAt="8"/>
            </a:pPr>
            <a:r>
              <a:rPr lang="en-US" dirty="0"/>
              <a:t>Start developing your code</a:t>
            </a:r>
          </a:p>
          <a:p>
            <a:pPr marL="457200" indent="-457200">
              <a:buFont typeface="+mj-lt"/>
              <a:buAutoNum type="arabicPeriod" startAt="8"/>
            </a:pPr>
            <a:endParaRPr lang="en-US" dirty="0"/>
          </a:p>
          <a:p>
            <a:pPr marL="457200" indent="-457200">
              <a:buFont typeface="+mj-lt"/>
              <a:buAutoNum type="arabicPeriod" startAt="8"/>
            </a:pPr>
            <a:endParaRPr lang="en-US" dirty="0"/>
          </a:p>
          <a:p>
            <a:pPr marL="457200" indent="-457200">
              <a:buFont typeface="+mj-lt"/>
              <a:buAutoNum type="arabicPeriod" startAt="8"/>
            </a:pPr>
            <a:endParaRPr lang="en-US" dirty="0"/>
          </a:p>
          <a:p>
            <a:pPr marL="457200" indent="-457200">
              <a:buFont typeface="+mj-lt"/>
              <a:buAutoNum type="arabicPeriod" startAt="8"/>
            </a:pPr>
            <a:endParaRPr lang="en-US" dirty="0"/>
          </a:p>
          <a:p>
            <a:pPr marL="457200" indent="-457200">
              <a:buFont typeface="+mj-lt"/>
              <a:buAutoNum type="arabicPeriod" startAt="8"/>
            </a:pPr>
            <a:endParaRPr lang="en-US" dirty="0"/>
          </a:p>
          <a:p>
            <a:pPr marL="457200" indent="-457200">
              <a:buFont typeface="+mj-lt"/>
              <a:buAutoNum type="arabicPeriod" startAt="8"/>
            </a:pPr>
            <a:endParaRPr lang="en-US" dirty="0"/>
          </a:p>
          <a:p>
            <a:pPr marL="457200" indent="-457200">
              <a:buFont typeface="+mj-lt"/>
              <a:buAutoNum type="arabicPeriod" startAt="8"/>
            </a:pPr>
            <a:endParaRPr lang="en-US" dirty="0"/>
          </a:p>
          <a:p>
            <a:pPr marL="457200" indent="-457200">
              <a:buFont typeface="+mj-lt"/>
              <a:buAutoNum type="arabicPeriod" startAt="8"/>
            </a:pPr>
            <a:endParaRPr lang="en-US" dirty="0"/>
          </a:p>
          <a:p>
            <a:pPr marL="457200" indent="-457200">
              <a:buFont typeface="+mj-lt"/>
              <a:buAutoNum type="arabicPeriod" startAt="8"/>
            </a:pPr>
            <a:endParaRPr lang="sv-SE" dirty="0"/>
          </a:p>
        </p:txBody>
      </p:sp>
      <p:sp>
        <p:nvSpPr>
          <p:cNvPr id="3" name="TextBox 2"/>
          <p:cNvSpPr txBox="1"/>
          <p:nvPr/>
        </p:nvSpPr>
        <p:spPr>
          <a:xfrm>
            <a:off x="4975760" y="5760930"/>
            <a:ext cx="6198919" cy="914400"/>
          </a:xfrm>
          <a:prstGeom prst="rect">
            <a:avLst/>
          </a:prstGeom>
        </p:spPr>
        <p:txBody>
          <a:bodyPr vert="horz" wrap="none" lIns="0" tIns="0" rIns="0" bIns="0" rtlCol="0" anchor="t">
            <a:noAutofit/>
          </a:bodyPr>
          <a:lstStyle/>
          <a:p>
            <a:pPr algn="l"/>
            <a:r>
              <a:rPr lang="en-US" sz="2000" dirty="0">
                <a:solidFill>
                  <a:schemeClr val="accent1"/>
                </a:solidFill>
                <a:latin typeface="+mn-lt"/>
              </a:rPr>
              <a:t>Do not forget to check out “dev” branch before you start</a:t>
            </a:r>
          </a:p>
          <a:p>
            <a:pPr algn="l"/>
            <a:r>
              <a:rPr lang="en-US" sz="2000" dirty="0">
                <a:solidFill>
                  <a:schemeClr val="accent1"/>
                </a:solidFill>
              </a:rPr>
              <a:t>and open an issue!</a:t>
            </a:r>
            <a:endParaRPr lang="sv-SE" sz="2000" dirty="0" err="1">
              <a:solidFill>
                <a:schemeClr val="accent1"/>
              </a:solidFill>
              <a:latin typeface="+mn-lt"/>
            </a:endParaRPr>
          </a:p>
        </p:txBody>
      </p:sp>
    </p:spTree>
    <p:extLst>
      <p:ext uri="{BB962C8B-B14F-4D97-AF65-F5344CB8AC3E}">
        <p14:creationId xmlns:p14="http://schemas.microsoft.com/office/powerpoint/2010/main" val="619565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720" y="573588"/>
            <a:ext cx="9862887" cy="880197"/>
          </a:xfrm>
        </p:spPr>
        <p:txBody>
          <a:bodyPr>
            <a:normAutofit/>
          </a:bodyPr>
          <a:lstStyle/>
          <a:p>
            <a:r>
              <a:rPr lang="en-US" dirty="0"/>
              <a:t>When you are done with your function</a:t>
            </a:r>
            <a:endParaRPr lang="sv-SE" dirty="0"/>
          </a:p>
        </p:txBody>
      </p:sp>
      <p:sp>
        <p:nvSpPr>
          <p:cNvPr id="2" name="Content Placeholder 1"/>
          <p:cNvSpPr>
            <a:spLocks noGrp="1"/>
          </p:cNvSpPr>
          <p:nvPr>
            <p:ph idx="1"/>
          </p:nvPr>
        </p:nvSpPr>
        <p:spPr>
          <a:xfrm>
            <a:off x="768719" y="1803676"/>
            <a:ext cx="9862887" cy="3648517"/>
          </a:xfrm>
        </p:spPr>
        <p:txBody>
          <a:bodyPr>
            <a:normAutofit/>
          </a:bodyPr>
          <a:lstStyle/>
          <a:p>
            <a:pPr marL="457200" indent="-457200">
              <a:buFont typeface="+mj-lt"/>
              <a:buAutoNum type="arabicPeriod"/>
            </a:pPr>
            <a:r>
              <a:rPr lang="en-US" dirty="0"/>
              <a:t>Add the “Minimum standard documentation” preamble</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0" indent="0">
              <a:buNone/>
            </a:pPr>
            <a:endParaRPr lang="en-US" dirty="0"/>
          </a:p>
          <a:p>
            <a:pPr marL="457200" indent="-457200">
              <a:buFont typeface="+mj-lt"/>
              <a:buAutoNum type="arabicPeriod"/>
            </a:pPr>
            <a:endParaRPr lang="en-US" dirty="0"/>
          </a:p>
          <a:p>
            <a:pPr marL="457200" indent="-457200">
              <a:buFont typeface="+mj-lt"/>
              <a:buAutoNum type="arabicPeriod"/>
            </a:pPr>
            <a:endParaRPr lang="sv-SE" dirty="0"/>
          </a:p>
        </p:txBody>
      </p:sp>
      <p:pic>
        <p:nvPicPr>
          <p:cNvPr id="11" name="Picture 10"/>
          <p:cNvPicPr>
            <a:picLocks noChangeAspect="1"/>
          </p:cNvPicPr>
          <p:nvPr/>
        </p:nvPicPr>
        <p:blipFill>
          <a:blip r:embed="rId2"/>
          <a:stretch>
            <a:fillRect/>
          </a:stretch>
        </p:blipFill>
        <p:spPr>
          <a:xfrm>
            <a:off x="2464045" y="2442245"/>
            <a:ext cx="6005158" cy="2882017"/>
          </a:xfrm>
          <a:prstGeom prst="rect">
            <a:avLst/>
          </a:prstGeom>
        </p:spPr>
      </p:pic>
      <p:sp>
        <p:nvSpPr>
          <p:cNvPr id="12" name="Rectangle 11"/>
          <p:cNvSpPr/>
          <p:nvPr/>
        </p:nvSpPr>
        <p:spPr>
          <a:xfrm>
            <a:off x="3661494" y="5655054"/>
            <a:ext cx="8985028" cy="307777"/>
          </a:xfrm>
          <a:prstGeom prst="rect">
            <a:avLst/>
          </a:prstGeom>
        </p:spPr>
        <p:txBody>
          <a:bodyPr wrap="square">
            <a:spAutoFit/>
          </a:bodyPr>
          <a:lstStyle/>
          <a:p>
            <a:r>
              <a:rPr lang="sv-SE" sz="1400" dirty="0" err="1"/>
              <a:t>Some</a:t>
            </a:r>
            <a:r>
              <a:rPr lang="sv-SE" sz="1400" dirty="0"/>
              <a:t> </a:t>
            </a:r>
            <a:r>
              <a:rPr lang="sv-SE" sz="1400" dirty="0" err="1"/>
              <a:t>more</a:t>
            </a:r>
            <a:r>
              <a:rPr lang="sv-SE" sz="1400" dirty="0"/>
              <a:t> info </a:t>
            </a:r>
            <a:r>
              <a:rPr lang="sv-SE" sz="1400" dirty="0" err="1"/>
              <a:t>e.g</a:t>
            </a:r>
            <a:r>
              <a:rPr lang="sv-SE" sz="1400" dirty="0"/>
              <a:t>., https://riptutorial.com/r/example/18279/documenting-a-package-with-roxygen2</a:t>
            </a:r>
          </a:p>
        </p:txBody>
      </p:sp>
    </p:spTree>
    <p:extLst>
      <p:ext uri="{BB962C8B-B14F-4D97-AF65-F5344CB8AC3E}">
        <p14:creationId xmlns:p14="http://schemas.microsoft.com/office/powerpoint/2010/main" val="39355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721" y="478585"/>
            <a:ext cx="9862887" cy="880197"/>
          </a:xfrm>
        </p:spPr>
        <p:txBody>
          <a:bodyPr>
            <a:normAutofit/>
          </a:bodyPr>
          <a:lstStyle/>
          <a:p>
            <a:r>
              <a:rPr lang="en-US" dirty="0"/>
              <a:t>When you are done with your function</a:t>
            </a:r>
            <a:endParaRPr lang="sv-SE" dirty="0"/>
          </a:p>
        </p:txBody>
      </p:sp>
      <p:sp>
        <p:nvSpPr>
          <p:cNvPr id="2" name="Content Placeholder 1"/>
          <p:cNvSpPr>
            <a:spLocks noGrp="1"/>
          </p:cNvSpPr>
          <p:nvPr>
            <p:ph idx="1"/>
          </p:nvPr>
        </p:nvSpPr>
        <p:spPr>
          <a:xfrm>
            <a:off x="768721" y="1625546"/>
            <a:ext cx="9862887" cy="3648517"/>
          </a:xfrm>
        </p:spPr>
        <p:txBody>
          <a:bodyPr>
            <a:normAutofit/>
          </a:bodyPr>
          <a:lstStyle/>
          <a:p>
            <a:pPr marL="457200" indent="-457200">
              <a:buFont typeface="+mj-lt"/>
              <a:buAutoNum type="arabicPeriod" startAt="2"/>
            </a:pPr>
            <a:r>
              <a:rPr lang="en-US" dirty="0"/>
              <a:t>Install and run </a:t>
            </a:r>
            <a:r>
              <a:rPr lang="en-US" dirty="0" err="1"/>
              <a:t>styler</a:t>
            </a:r>
            <a:r>
              <a:rPr lang="en-US" dirty="0"/>
              <a:t> package in e.g., default mode (</a:t>
            </a:r>
            <a:r>
              <a:rPr lang="en-US" dirty="0" err="1"/>
              <a:t>tidyverse</a:t>
            </a:r>
            <a:r>
              <a:rPr lang="en-US" dirty="0"/>
              <a:t>)</a:t>
            </a:r>
          </a:p>
          <a:p>
            <a:pPr marL="600075" lvl="1" indent="-257175"/>
            <a:r>
              <a:rPr lang="en-US" dirty="0"/>
              <a:t>If you are using </a:t>
            </a:r>
            <a:r>
              <a:rPr lang="en-US" dirty="0" err="1"/>
              <a:t>RStudio</a:t>
            </a:r>
            <a:r>
              <a:rPr lang="en-US" dirty="0"/>
              <a:t> then when you install </a:t>
            </a:r>
            <a:r>
              <a:rPr lang="en-US" dirty="0" err="1"/>
              <a:t>styler</a:t>
            </a:r>
            <a:r>
              <a:rPr lang="en-US" dirty="0"/>
              <a:t> an </a:t>
            </a:r>
            <a:r>
              <a:rPr lang="en-US" dirty="0" err="1"/>
              <a:t>RStudio</a:t>
            </a:r>
            <a:r>
              <a:rPr lang="en-US" dirty="0"/>
              <a:t> add-in is created – this allows you to easily style sections of text, or the active file.  </a:t>
            </a:r>
          </a:p>
          <a:p>
            <a:pPr marL="600075" lvl="1" indent="-257175"/>
            <a:r>
              <a:rPr lang="en-US" dirty="0"/>
              <a:t>Just select the text, and then choose “Style selection” from </a:t>
            </a:r>
            <a:r>
              <a:rPr lang="en-US" dirty="0" err="1"/>
              <a:t>Addins</a:t>
            </a:r>
            <a:r>
              <a:rPr lang="en-US" dirty="0"/>
              <a:t>:</a:t>
            </a:r>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pPr marL="0" indent="0">
              <a:buNone/>
            </a:pPr>
            <a:endParaRPr lang="en-US" dirty="0"/>
          </a:p>
          <a:p>
            <a:pPr marL="457200" indent="-457200">
              <a:buFont typeface="+mj-lt"/>
              <a:buAutoNum type="arabicPeriod"/>
            </a:pPr>
            <a:endParaRPr lang="en-US" dirty="0"/>
          </a:p>
          <a:p>
            <a:pPr marL="457200" indent="-457200">
              <a:buFont typeface="+mj-lt"/>
              <a:buAutoNum type="arabicPeriod"/>
            </a:pPr>
            <a:endParaRPr lang="sv-SE" dirty="0"/>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6063961" y="3449804"/>
            <a:ext cx="3937298" cy="2592593"/>
          </a:xfrm>
          <a:prstGeom prst="rect">
            <a:avLst/>
          </a:prstGeom>
        </p:spPr>
      </p:pic>
    </p:spTree>
    <p:extLst>
      <p:ext uri="{BB962C8B-B14F-4D97-AF65-F5344CB8AC3E}">
        <p14:creationId xmlns:p14="http://schemas.microsoft.com/office/powerpoint/2010/main" val="203542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720" y="490460"/>
            <a:ext cx="9862887" cy="880197"/>
          </a:xfrm>
        </p:spPr>
        <p:txBody>
          <a:bodyPr>
            <a:normAutofit/>
          </a:bodyPr>
          <a:lstStyle/>
          <a:p>
            <a:r>
              <a:rPr lang="en-US" dirty="0"/>
              <a:t>When you are done with your function</a:t>
            </a:r>
            <a:endParaRPr lang="sv-SE" dirty="0"/>
          </a:p>
        </p:txBody>
      </p:sp>
      <p:sp>
        <p:nvSpPr>
          <p:cNvPr id="2" name="Content Placeholder 1"/>
          <p:cNvSpPr>
            <a:spLocks noGrp="1"/>
          </p:cNvSpPr>
          <p:nvPr>
            <p:ph idx="1"/>
          </p:nvPr>
        </p:nvSpPr>
        <p:spPr>
          <a:xfrm>
            <a:off x="768720" y="1673047"/>
            <a:ext cx="9862887" cy="3648517"/>
          </a:xfrm>
        </p:spPr>
        <p:txBody>
          <a:bodyPr>
            <a:normAutofit/>
          </a:bodyPr>
          <a:lstStyle/>
          <a:p>
            <a:pPr marL="457200" indent="-457200">
              <a:buFont typeface="+mj-lt"/>
              <a:buAutoNum type="arabicPeriod" startAt="3"/>
            </a:pPr>
            <a:r>
              <a:rPr lang="en-US" dirty="0"/>
              <a:t>Install and run </a:t>
            </a:r>
            <a:r>
              <a:rPr lang="en-US" dirty="0" err="1"/>
              <a:t>lintr</a:t>
            </a:r>
            <a:r>
              <a:rPr lang="en-US" dirty="0"/>
              <a:t> package, solving the main issues flagged</a:t>
            </a:r>
          </a:p>
          <a:p>
            <a:pPr marL="600075" lvl="1" indent="-257175"/>
            <a:r>
              <a:rPr lang="en-US" dirty="0"/>
              <a:t>This is a tool to help identify and remove problems in your code – in particular we are using it to identify any remaining style problems.</a:t>
            </a:r>
          </a:p>
          <a:p>
            <a:pPr marL="600075" lvl="1" indent="-257175"/>
            <a:r>
              <a:rPr lang="en-US" dirty="0"/>
              <a:t>Run the following command to identify problems in a file called </a:t>
            </a:r>
            <a:r>
              <a:rPr lang="en-US" dirty="0" err="1">
                <a:solidFill>
                  <a:srgbClr val="FF0000"/>
                </a:solidFill>
              </a:rPr>
              <a:t>myFunction.R</a:t>
            </a:r>
            <a:r>
              <a:rPr lang="en-US" dirty="0"/>
              <a:t>:</a:t>
            </a:r>
          </a:p>
          <a:p>
            <a:pPr marL="780075" lvl="2" indent="-257175"/>
            <a:r>
              <a:rPr lang="en-US" dirty="0" err="1"/>
              <a:t>lintr</a:t>
            </a:r>
            <a:r>
              <a:rPr lang="en-US" dirty="0"/>
              <a:t>::lint("</a:t>
            </a:r>
            <a:r>
              <a:rPr lang="en-US" dirty="0" err="1">
                <a:solidFill>
                  <a:srgbClr val="FF0000"/>
                </a:solidFill>
              </a:rPr>
              <a:t>myFunction.R</a:t>
            </a:r>
            <a:r>
              <a:rPr lang="en-US" dirty="0" err="1"/>
              <a:t>",linters</a:t>
            </a:r>
            <a:r>
              <a:rPr lang="en-US" dirty="0"/>
              <a:t>=</a:t>
            </a:r>
            <a:r>
              <a:rPr lang="en-US" dirty="0" err="1"/>
              <a:t>lintr</a:t>
            </a:r>
            <a:r>
              <a:rPr lang="en-US" dirty="0"/>
              <a:t>::</a:t>
            </a:r>
            <a:r>
              <a:rPr lang="en-US" dirty="0" err="1"/>
              <a:t>with_defaults</a:t>
            </a:r>
            <a:r>
              <a:rPr lang="en-US" dirty="0"/>
              <a:t>(</a:t>
            </a:r>
            <a:r>
              <a:rPr lang="en-US" dirty="0" err="1"/>
              <a:t>object_name_linter</a:t>
            </a:r>
            <a:r>
              <a:rPr lang="en-US" dirty="0"/>
              <a:t>=</a:t>
            </a:r>
            <a:r>
              <a:rPr lang="en-US" dirty="0" err="1"/>
              <a:t>lintr</a:t>
            </a:r>
            <a:r>
              <a:rPr lang="en-US" dirty="0"/>
              <a:t>::</a:t>
            </a:r>
            <a:r>
              <a:rPr lang="en-US" dirty="0" err="1"/>
              <a:t>object_name_linter</a:t>
            </a:r>
            <a:r>
              <a:rPr lang="en-US" dirty="0"/>
              <a:t>(styles = "</a:t>
            </a:r>
            <a:r>
              <a:rPr lang="en-US" dirty="0" err="1"/>
              <a:t>camelCase</a:t>
            </a:r>
            <a:r>
              <a:rPr lang="en-US" dirty="0"/>
              <a:t>")))</a:t>
            </a:r>
          </a:p>
          <a:p>
            <a:pPr marL="600075" lvl="1" indent="-257175"/>
            <a:r>
              <a:rPr lang="en-US" dirty="0"/>
              <a:t>If you run the </a:t>
            </a:r>
            <a:r>
              <a:rPr lang="en-US" dirty="0" err="1"/>
              <a:t>lintr</a:t>
            </a:r>
            <a:r>
              <a:rPr lang="en-US" dirty="0"/>
              <a:t> command in </a:t>
            </a:r>
            <a:r>
              <a:rPr lang="en-US" dirty="0" err="1"/>
              <a:t>RStudio</a:t>
            </a:r>
            <a:r>
              <a:rPr lang="en-US" dirty="0"/>
              <a:t> you will see a “Markers” pane open to show any problems</a:t>
            </a:r>
          </a:p>
          <a:p>
            <a:pPr marL="780075" lvl="2" indent="-257175"/>
            <a:r>
              <a:rPr lang="en-US" dirty="0"/>
              <a:t>If you have a warning about </a:t>
            </a:r>
            <a:r>
              <a:rPr lang="en-US" dirty="0" err="1"/>
              <a:t>cyclomatic</a:t>
            </a:r>
            <a:r>
              <a:rPr lang="en-US" dirty="0"/>
              <a:t> complexity: </a:t>
            </a:r>
            <a:r>
              <a:rPr lang="en-US" dirty="0">
                <a:solidFill>
                  <a:schemeClr val="tx1"/>
                </a:solidFill>
              </a:rPr>
              <a:t>consider splitting up the function into smaller parts, (but don't worry too much if that looks difficult – can be done later)</a:t>
            </a:r>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0" indent="0">
              <a:buNone/>
            </a:pPr>
            <a:endParaRPr lang="en-US" dirty="0"/>
          </a:p>
          <a:p>
            <a:pPr marL="457200" indent="-457200">
              <a:buFont typeface="+mj-lt"/>
              <a:buAutoNum type="arabicPeriod"/>
            </a:pPr>
            <a:endParaRPr lang="en-US" dirty="0"/>
          </a:p>
          <a:p>
            <a:pPr marL="457200" indent="-457200">
              <a:buFont typeface="+mj-lt"/>
              <a:buAutoNum type="arabicPeriod"/>
            </a:pPr>
            <a:endParaRPr lang="sv-SE" dirty="0"/>
          </a:p>
        </p:txBody>
      </p:sp>
      <p:pic>
        <p:nvPicPr>
          <p:cNvPr id="7" name="Picture 6"/>
          <p:cNvPicPr/>
          <p:nvPr/>
        </p:nvPicPr>
        <p:blipFill>
          <a:blip r:embed="rId2"/>
          <a:stretch>
            <a:fillRect/>
          </a:stretch>
        </p:blipFill>
        <p:spPr>
          <a:xfrm>
            <a:off x="7329454" y="4768452"/>
            <a:ext cx="4206018" cy="1711003"/>
          </a:xfrm>
          <a:prstGeom prst="rect">
            <a:avLst/>
          </a:prstGeom>
        </p:spPr>
      </p:pic>
    </p:spTree>
    <p:extLst>
      <p:ext uri="{BB962C8B-B14F-4D97-AF65-F5344CB8AC3E}">
        <p14:creationId xmlns:p14="http://schemas.microsoft.com/office/powerpoint/2010/main" val="154773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721" y="516852"/>
            <a:ext cx="9862887" cy="880197"/>
          </a:xfrm>
        </p:spPr>
        <p:txBody>
          <a:bodyPr>
            <a:normAutofit/>
          </a:bodyPr>
          <a:lstStyle/>
          <a:p>
            <a:r>
              <a:rPr lang="en-US" dirty="0"/>
              <a:t>When you are done with your function</a:t>
            </a:r>
            <a:endParaRPr lang="sv-SE" dirty="0"/>
          </a:p>
        </p:txBody>
      </p:sp>
      <p:sp>
        <p:nvSpPr>
          <p:cNvPr id="2" name="Content Placeholder 1"/>
          <p:cNvSpPr>
            <a:spLocks noGrp="1"/>
          </p:cNvSpPr>
          <p:nvPr>
            <p:ph idx="1"/>
          </p:nvPr>
        </p:nvSpPr>
        <p:spPr>
          <a:xfrm>
            <a:off x="863724" y="1623472"/>
            <a:ext cx="9862887" cy="3981843"/>
          </a:xfrm>
        </p:spPr>
        <p:txBody>
          <a:bodyPr>
            <a:normAutofit/>
          </a:bodyPr>
          <a:lstStyle/>
          <a:p>
            <a:pPr marL="457200" indent="-457200">
              <a:lnSpc>
                <a:spcPct val="150000"/>
              </a:lnSpc>
              <a:buFont typeface="+mj-lt"/>
              <a:buAutoNum type="arabicPeriod" startAt="4"/>
            </a:pPr>
            <a:r>
              <a:rPr lang="en-US" dirty="0"/>
              <a:t>Commit your code, data and </a:t>
            </a:r>
            <a:r>
              <a:rPr lang="en-GB" dirty="0"/>
              <a:t>example/vignettes</a:t>
            </a:r>
            <a:endParaRPr lang="en-US" dirty="0"/>
          </a:p>
          <a:p>
            <a:pPr marL="457200" indent="-457200">
              <a:lnSpc>
                <a:spcPct val="150000"/>
              </a:lnSpc>
              <a:buFont typeface="+mj-lt"/>
              <a:buAutoNum type="arabicPeriod" startAt="4"/>
            </a:pPr>
            <a:r>
              <a:rPr lang="en-US" dirty="0"/>
              <a:t>Inform WGRDBES-EST chairs so your </a:t>
            </a:r>
            <a:r>
              <a:rPr lang="en-US" dirty="0" err="1"/>
              <a:t>example_script&amp;function</a:t>
            </a:r>
            <a:r>
              <a:rPr lang="en-US" dirty="0"/>
              <a:t> are highlighted for discussion at next meeting; </a:t>
            </a:r>
          </a:p>
          <a:p>
            <a:pPr marL="457200" indent="-457200">
              <a:lnSpc>
                <a:spcPct val="150000"/>
              </a:lnSpc>
              <a:buFont typeface="+mj-lt"/>
              <a:buAutoNum type="arabicPeriod" startAt="4"/>
            </a:pPr>
            <a:r>
              <a:rPr lang="en-US" dirty="0"/>
              <a:t>Leave a comment in your issue detailing where the code is (and other developments you consider important to flag), and label it as “in test” so others know they can test it.</a:t>
            </a:r>
          </a:p>
          <a:p>
            <a:pPr marL="457200" indent="-457200">
              <a:lnSpc>
                <a:spcPct val="150000"/>
              </a:lnSpc>
              <a:buFont typeface="+mj-lt"/>
              <a:buAutoNum type="arabicPeriod" startAt="4"/>
            </a:pPr>
            <a:r>
              <a:rPr lang="en-US" dirty="0"/>
              <a:t>After your code is tested you will receive support from maintainers in the final preparation of your code for inclusion in the package</a:t>
            </a:r>
          </a:p>
          <a:p>
            <a:pPr marL="457200" indent="-457200">
              <a:lnSpc>
                <a:spcPct val="150000"/>
              </a:lnSpc>
              <a:buFont typeface="+mj-lt"/>
              <a:buAutoNum type="arabicPeriod" startAt="4"/>
            </a:pPr>
            <a:endParaRPr lang="en-US" dirty="0"/>
          </a:p>
          <a:p>
            <a:pPr marL="457200" indent="-457200">
              <a:lnSpc>
                <a:spcPct val="150000"/>
              </a:lnSpc>
              <a:buFont typeface="+mj-lt"/>
              <a:buAutoNum type="arabicPeriod" startAt="4"/>
            </a:pPr>
            <a:endParaRPr lang="en-US" dirty="0"/>
          </a:p>
          <a:p>
            <a:pPr marL="600075" lvl="1" indent="-257175">
              <a:lnSpc>
                <a:spcPct val="150000"/>
              </a:lnSpc>
            </a:pPr>
            <a:endParaRPr lang="en-US" dirty="0"/>
          </a:p>
          <a:p>
            <a:pPr marL="457200" indent="-457200">
              <a:lnSpc>
                <a:spcPct val="150000"/>
              </a:lnSpc>
              <a:buFont typeface="+mj-lt"/>
              <a:buAutoNum type="arabicPeriod" startAt="4"/>
            </a:pPr>
            <a:endParaRPr lang="en-US" dirty="0"/>
          </a:p>
          <a:p>
            <a:pPr marL="457200" indent="-457200">
              <a:lnSpc>
                <a:spcPct val="150000"/>
              </a:lnSpc>
              <a:buFont typeface="+mj-lt"/>
              <a:buAutoNum type="arabicPeriod" startAt="4"/>
            </a:pPr>
            <a:endParaRPr lang="en-US" dirty="0"/>
          </a:p>
          <a:p>
            <a:pPr marL="457200" indent="-457200">
              <a:lnSpc>
                <a:spcPct val="150000"/>
              </a:lnSpc>
              <a:buFont typeface="+mj-lt"/>
              <a:buAutoNum type="arabicPeriod" startAt="4"/>
            </a:pPr>
            <a:endParaRPr lang="en-US" dirty="0"/>
          </a:p>
          <a:p>
            <a:pPr marL="457200" indent="-457200">
              <a:lnSpc>
                <a:spcPct val="150000"/>
              </a:lnSpc>
              <a:buFont typeface="+mj-lt"/>
              <a:buAutoNum type="arabicPeriod" startAt="4"/>
            </a:pPr>
            <a:endParaRPr lang="en-US" dirty="0"/>
          </a:p>
          <a:p>
            <a:pPr marL="457200" indent="-457200">
              <a:lnSpc>
                <a:spcPct val="150000"/>
              </a:lnSpc>
              <a:buFont typeface="+mj-lt"/>
              <a:buAutoNum type="arabicPeriod" startAt="4"/>
            </a:pPr>
            <a:endParaRPr lang="en-US" dirty="0"/>
          </a:p>
          <a:p>
            <a:pPr marL="457200" indent="-457200">
              <a:lnSpc>
                <a:spcPct val="150000"/>
              </a:lnSpc>
              <a:buFont typeface="+mj-lt"/>
              <a:buAutoNum type="arabicPeriod" startAt="4"/>
            </a:pPr>
            <a:endParaRPr lang="en-US" dirty="0"/>
          </a:p>
          <a:p>
            <a:pPr marL="0" indent="0">
              <a:lnSpc>
                <a:spcPct val="150000"/>
              </a:lnSpc>
              <a:buNone/>
            </a:pPr>
            <a:endParaRPr lang="en-US" dirty="0"/>
          </a:p>
          <a:p>
            <a:pPr marL="457200" indent="-457200">
              <a:lnSpc>
                <a:spcPct val="150000"/>
              </a:lnSpc>
              <a:buFont typeface="+mj-lt"/>
              <a:buAutoNum type="arabicPeriod"/>
            </a:pPr>
            <a:endParaRPr lang="en-US" dirty="0"/>
          </a:p>
          <a:p>
            <a:pPr marL="457200" indent="-457200">
              <a:lnSpc>
                <a:spcPct val="150000"/>
              </a:lnSpc>
              <a:buFont typeface="+mj-lt"/>
              <a:buAutoNum type="arabicPeriod"/>
            </a:pPr>
            <a:endParaRPr lang="sv-SE" dirty="0"/>
          </a:p>
        </p:txBody>
      </p:sp>
      <p:sp>
        <p:nvSpPr>
          <p:cNvPr id="5" name="Content Placeholder 1"/>
          <p:cNvSpPr txBox="1">
            <a:spLocks/>
          </p:cNvSpPr>
          <p:nvPr/>
        </p:nvSpPr>
        <p:spPr>
          <a:xfrm>
            <a:off x="768721" y="3518031"/>
            <a:ext cx="9862887" cy="3648517"/>
          </a:xfrm>
          <a:prstGeom prst="rect">
            <a:avLst/>
          </a:prstGeom>
        </p:spPr>
        <p:txBody>
          <a:bodyPr vert="horz" lIns="91440" tIns="45720" rIns="91440" bIns="45720" rtlCol="0">
            <a:normAutofit/>
          </a:bodyPr>
          <a:lstStyle>
            <a:lvl1pPr marL="180000" indent="-180000" algn="l" defTabSz="914400" rtl="0" eaLnBrk="1" latinLnBrk="0" hangingPunct="1">
              <a:lnSpc>
                <a:spcPct val="90000"/>
              </a:lnSpc>
              <a:spcBef>
                <a:spcPts val="600"/>
              </a:spcBef>
              <a:buFont typeface="Arial" panose="020B0604020202020204" pitchFamily="34" charset="0"/>
              <a:buChar char="•"/>
              <a:defRPr sz="2000" kern="1200">
                <a:solidFill>
                  <a:schemeClr val="accent1"/>
                </a:solidFill>
                <a:latin typeface="+mn-lt"/>
                <a:ea typeface="+mn-ea"/>
                <a:cs typeface="+mn-cs"/>
              </a:defRPr>
            </a:lvl1pPr>
            <a:lvl2pPr marL="360000" indent="-180000" algn="l" defTabSz="914400" rtl="0" eaLnBrk="1" latinLnBrk="0" hangingPunct="1">
              <a:lnSpc>
                <a:spcPct val="100000"/>
              </a:lnSpc>
              <a:spcBef>
                <a:spcPts val="600"/>
              </a:spcBef>
              <a:spcAft>
                <a:spcPts val="0"/>
              </a:spcAft>
              <a:buFont typeface="Arial" panose="020B0604020202020204" pitchFamily="34" charset="0"/>
              <a:buChar char="•"/>
              <a:defRPr sz="1800" kern="1200">
                <a:solidFill>
                  <a:schemeClr val="accent1"/>
                </a:solidFill>
                <a:latin typeface="+mn-lt"/>
                <a:ea typeface="+mn-ea"/>
                <a:cs typeface="+mn-cs"/>
              </a:defRPr>
            </a:lvl2pPr>
            <a:lvl3pPr marL="540000" indent="-180000" algn="l" defTabSz="914400" rtl="0" eaLnBrk="1" latinLnBrk="0" hangingPunct="1">
              <a:lnSpc>
                <a:spcPct val="100000"/>
              </a:lnSpc>
              <a:spcBef>
                <a:spcPts val="600"/>
              </a:spcBef>
              <a:spcAft>
                <a:spcPts val="0"/>
              </a:spcAft>
              <a:buFont typeface="Arial" panose="020B0604020202020204" pitchFamily="34" charset="0"/>
              <a:buChar char="•"/>
              <a:defRPr sz="1600" kern="1200">
                <a:solidFill>
                  <a:schemeClr val="accent1"/>
                </a:solidFill>
                <a:latin typeface="+mn-lt"/>
                <a:ea typeface="+mn-ea"/>
                <a:cs typeface="+mn-cs"/>
              </a:defRPr>
            </a:lvl3pPr>
            <a:lvl4pPr marL="72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4pPr>
            <a:lvl5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5pPr>
            <a:lvl6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6pPr>
            <a:lvl7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7pPr>
            <a:lvl8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8pPr>
            <a:lvl9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9pPr>
          </a:lstStyle>
          <a:p>
            <a:pPr marL="457200" indent="-457200">
              <a:buFont typeface="+mj-lt"/>
              <a:buAutoNum type="arabicPeriod" startAt="3"/>
            </a:pPr>
            <a:endParaRPr lang="en-US" dirty="0"/>
          </a:p>
          <a:p>
            <a:pPr marL="457200" indent="-457200">
              <a:buFont typeface="+mj-lt"/>
              <a:buAutoNum type="arabicPeriod" startAt="3"/>
            </a:pPr>
            <a:endParaRPr lang="en-US" dirty="0"/>
          </a:p>
          <a:p>
            <a:pPr marL="600075" lvl="1" indent="-257175"/>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0" indent="0">
              <a:buFont typeface="Arial" panose="020B0604020202020204" pitchFamily="34" charset="0"/>
              <a:buNone/>
            </a:pPr>
            <a:endParaRPr lang="en-US" dirty="0"/>
          </a:p>
          <a:p>
            <a:pPr marL="457200" indent="-457200">
              <a:buFont typeface="+mj-lt"/>
              <a:buAutoNum type="arabicPeriod"/>
            </a:pPr>
            <a:endParaRPr lang="en-US" dirty="0"/>
          </a:p>
          <a:p>
            <a:pPr marL="457200" indent="-457200">
              <a:buFont typeface="+mj-lt"/>
              <a:buAutoNum type="arabicPeriod"/>
            </a:pPr>
            <a:endParaRPr lang="sv-SE" dirty="0"/>
          </a:p>
        </p:txBody>
      </p:sp>
    </p:spTree>
    <p:extLst>
      <p:ext uri="{BB962C8B-B14F-4D97-AF65-F5344CB8AC3E}">
        <p14:creationId xmlns:p14="http://schemas.microsoft.com/office/powerpoint/2010/main" val="3646957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721" y="396656"/>
            <a:ext cx="9862887" cy="880197"/>
          </a:xfrm>
        </p:spPr>
        <p:txBody>
          <a:bodyPr>
            <a:normAutofit fontScale="90000"/>
          </a:bodyPr>
          <a:lstStyle/>
          <a:p>
            <a:r>
              <a:rPr lang="en-US" dirty="0"/>
              <a:t>If you are a more experienced contributor</a:t>
            </a:r>
            <a:endParaRPr lang="sv-SE" dirty="0"/>
          </a:p>
        </p:txBody>
      </p:sp>
      <p:sp>
        <p:nvSpPr>
          <p:cNvPr id="5" name="Content Placeholder 1"/>
          <p:cNvSpPr txBox="1">
            <a:spLocks/>
          </p:cNvSpPr>
          <p:nvPr/>
        </p:nvSpPr>
        <p:spPr>
          <a:xfrm>
            <a:off x="768721" y="3518031"/>
            <a:ext cx="9862887" cy="3648517"/>
          </a:xfrm>
          <a:prstGeom prst="rect">
            <a:avLst/>
          </a:prstGeom>
        </p:spPr>
        <p:txBody>
          <a:bodyPr vert="horz" lIns="91440" tIns="45720" rIns="91440" bIns="45720" rtlCol="0">
            <a:normAutofit/>
          </a:bodyPr>
          <a:lstStyle>
            <a:lvl1pPr marL="180000" indent="-180000" algn="l" defTabSz="914400" rtl="0" eaLnBrk="1" latinLnBrk="0" hangingPunct="1">
              <a:lnSpc>
                <a:spcPct val="90000"/>
              </a:lnSpc>
              <a:spcBef>
                <a:spcPts val="600"/>
              </a:spcBef>
              <a:buFont typeface="Arial" panose="020B0604020202020204" pitchFamily="34" charset="0"/>
              <a:buChar char="•"/>
              <a:defRPr sz="2000" kern="1200">
                <a:solidFill>
                  <a:schemeClr val="accent1"/>
                </a:solidFill>
                <a:latin typeface="+mn-lt"/>
                <a:ea typeface="+mn-ea"/>
                <a:cs typeface="+mn-cs"/>
              </a:defRPr>
            </a:lvl1pPr>
            <a:lvl2pPr marL="360000" indent="-180000" algn="l" defTabSz="914400" rtl="0" eaLnBrk="1" latinLnBrk="0" hangingPunct="1">
              <a:lnSpc>
                <a:spcPct val="100000"/>
              </a:lnSpc>
              <a:spcBef>
                <a:spcPts val="600"/>
              </a:spcBef>
              <a:spcAft>
                <a:spcPts val="0"/>
              </a:spcAft>
              <a:buFont typeface="Arial" panose="020B0604020202020204" pitchFamily="34" charset="0"/>
              <a:buChar char="•"/>
              <a:defRPr sz="1800" kern="1200">
                <a:solidFill>
                  <a:schemeClr val="accent1"/>
                </a:solidFill>
                <a:latin typeface="+mn-lt"/>
                <a:ea typeface="+mn-ea"/>
                <a:cs typeface="+mn-cs"/>
              </a:defRPr>
            </a:lvl2pPr>
            <a:lvl3pPr marL="540000" indent="-180000" algn="l" defTabSz="914400" rtl="0" eaLnBrk="1" latinLnBrk="0" hangingPunct="1">
              <a:lnSpc>
                <a:spcPct val="100000"/>
              </a:lnSpc>
              <a:spcBef>
                <a:spcPts val="600"/>
              </a:spcBef>
              <a:spcAft>
                <a:spcPts val="0"/>
              </a:spcAft>
              <a:buFont typeface="Arial" panose="020B0604020202020204" pitchFamily="34" charset="0"/>
              <a:buChar char="•"/>
              <a:defRPr sz="1600" kern="1200">
                <a:solidFill>
                  <a:schemeClr val="accent1"/>
                </a:solidFill>
                <a:latin typeface="+mn-lt"/>
                <a:ea typeface="+mn-ea"/>
                <a:cs typeface="+mn-cs"/>
              </a:defRPr>
            </a:lvl3pPr>
            <a:lvl4pPr marL="72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4pPr>
            <a:lvl5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5pPr>
            <a:lvl6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6pPr>
            <a:lvl7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7pPr>
            <a:lvl8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8pPr>
            <a:lvl9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9pPr>
          </a:lstStyle>
          <a:p>
            <a:pPr marL="457200" indent="-457200">
              <a:buFont typeface="+mj-lt"/>
              <a:buAutoNum type="arabicPeriod" startAt="3"/>
            </a:pPr>
            <a:endParaRPr lang="en-US" dirty="0"/>
          </a:p>
          <a:p>
            <a:pPr marL="457200" indent="-457200">
              <a:buFont typeface="+mj-lt"/>
              <a:buAutoNum type="arabicPeriod" startAt="3"/>
            </a:pPr>
            <a:endParaRPr lang="en-US" dirty="0"/>
          </a:p>
          <a:p>
            <a:pPr marL="600075" lvl="1" indent="-257175"/>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0" indent="0">
              <a:buFont typeface="Arial" panose="020B0604020202020204" pitchFamily="34" charset="0"/>
              <a:buNone/>
            </a:pPr>
            <a:endParaRPr lang="en-US" dirty="0"/>
          </a:p>
          <a:p>
            <a:pPr marL="457200" indent="-457200">
              <a:buFont typeface="+mj-lt"/>
              <a:buAutoNum type="arabicPeriod"/>
            </a:pPr>
            <a:endParaRPr lang="en-US" dirty="0"/>
          </a:p>
          <a:p>
            <a:pPr marL="457200" indent="-457200">
              <a:buFont typeface="+mj-lt"/>
              <a:buAutoNum type="arabicPeriod"/>
            </a:pPr>
            <a:endParaRPr lang="sv-SE" dirty="0"/>
          </a:p>
        </p:txBody>
      </p:sp>
      <p:sp>
        <p:nvSpPr>
          <p:cNvPr id="6" name="Content Placeholder 5"/>
          <p:cNvSpPr>
            <a:spLocks noGrp="1"/>
          </p:cNvSpPr>
          <p:nvPr>
            <p:ph idx="1"/>
          </p:nvPr>
        </p:nvSpPr>
        <p:spPr>
          <a:xfrm>
            <a:off x="768721" y="1276854"/>
            <a:ext cx="10227830" cy="5230824"/>
          </a:xfrm>
        </p:spPr>
        <p:txBody>
          <a:bodyPr>
            <a:normAutofit/>
          </a:bodyPr>
          <a:lstStyle/>
          <a:p>
            <a:pPr marL="273050" indent="-273050"/>
            <a:r>
              <a:rPr lang="en-US" sz="1400" dirty="0"/>
              <a:t>Contributors need to be given commit access to the dev and prod repos – ICES have a work-flow for this [contact the chairs for info]</a:t>
            </a:r>
          </a:p>
          <a:p>
            <a:pPr marL="273050" indent="-273050"/>
            <a:r>
              <a:rPr lang="en-US" sz="1400" dirty="0"/>
              <a:t>There are two branches within the repo: master and dev</a:t>
            </a:r>
          </a:p>
          <a:p>
            <a:pPr marL="800100" lvl="1" indent="-342900"/>
            <a:r>
              <a:rPr lang="en-US" sz="1400" dirty="0"/>
              <a:t>The master branch is protected so that only the maintainers can commit to it </a:t>
            </a:r>
          </a:p>
          <a:p>
            <a:pPr marL="800100" lvl="1" indent="-342900"/>
            <a:r>
              <a:rPr lang="en-US" sz="1400" dirty="0"/>
              <a:t>The dev branch is used for all development work – contributors can commit directly to it </a:t>
            </a:r>
          </a:p>
          <a:p>
            <a:pPr marL="800100" lvl="1" indent="-342900"/>
            <a:r>
              <a:rPr lang="en-US" sz="1400" dirty="0"/>
              <a:t>A pull request needs to be created when we want to merge the development branch into the master branch – the maintainers will need to approve the pull request </a:t>
            </a:r>
          </a:p>
          <a:p>
            <a:pPr marL="800100" lvl="1" indent="-342900"/>
            <a:r>
              <a:rPr lang="en-US" sz="1400" dirty="0"/>
              <a:t>Release labels will be applied to the master branch to keep track of releases </a:t>
            </a:r>
          </a:p>
          <a:p>
            <a:pPr marL="273050" indent="-273050"/>
            <a:r>
              <a:rPr lang="en-US" sz="1400" b="1" dirty="0"/>
              <a:t>Before any development is started an “issue” should be raised on the GitHub repo </a:t>
            </a:r>
            <a:r>
              <a:rPr lang="en-US" sz="1400" dirty="0"/>
              <a:t>– this can be to point out a bug in existing code, improve existing functions, or describe new functions that are required.  The proposed changes can then be discussed and agreed with the maintainers and other relevant people (there are regular online meetings) – this should also act as peer-review system for the statistical content of the proposed development</a:t>
            </a:r>
          </a:p>
          <a:p>
            <a:pPr marL="273050" indent="-273050"/>
            <a:r>
              <a:rPr lang="en-US" sz="1400" b="1" dirty="0"/>
              <a:t>All contributed developments should be linked to an issue </a:t>
            </a:r>
            <a:r>
              <a:rPr lang="en-US" sz="1400" dirty="0"/>
              <a:t>– they will not be included in a future pull request if they are not.</a:t>
            </a:r>
          </a:p>
          <a:p>
            <a:pPr marL="273050" indent="-273050"/>
            <a:r>
              <a:rPr lang="en-US" sz="1400" dirty="0"/>
              <a:t>Periodically the maintainers will update the package in CRAN. If people want/need the latest version of the package it can always be installed directly from GitHub. </a:t>
            </a:r>
          </a:p>
          <a:p>
            <a:pPr marL="273050" indent="-273050">
              <a:lnSpc>
                <a:spcPct val="100000"/>
              </a:lnSpc>
            </a:pPr>
            <a:r>
              <a:rPr lang="en-US" sz="1400" dirty="0"/>
              <a:t>A </a:t>
            </a:r>
            <a:r>
              <a:rPr lang="en-US" sz="1400" dirty="0">
                <a:solidFill>
                  <a:schemeClr val="tx1"/>
                </a:solidFill>
              </a:rPr>
              <a:t>small group of maintainers will need to volunteer. The group includes someone from the ICES Secretariat. We are actively looking for maintainers. You are welcome to flag your interest.</a:t>
            </a:r>
          </a:p>
          <a:p>
            <a:pPr marL="273050" indent="-273050">
              <a:lnSpc>
                <a:spcPct val="100000"/>
              </a:lnSpc>
            </a:pPr>
            <a:r>
              <a:rPr lang="en-US" sz="1400" dirty="0">
                <a:solidFill>
                  <a:schemeClr val="tx1"/>
                </a:solidFill>
              </a:rPr>
              <a:t>A “lint” tool is configured that will compare committed code to a defined style and warn if there any problems. For now it is not activated – just run </a:t>
            </a:r>
            <a:r>
              <a:rPr lang="en-US" sz="1400" dirty="0" err="1">
                <a:solidFill>
                  <a:schemeClr val="tx1"/>
                </a:solidFill>
              </a:rPr>
              <a:t>styler</a:t>
            </a:r>
            <a:r>
              <a:rPr lang="en-US" sz="1400" dirty="0">
                <a:solidFill>
                  <a:schemeClr val="tx1"/>
                </a:solidFill>
              </a:rPr>
              <a:t> (default: </a:t>
            </a:r>
            <a:r>
              <a:rPr lang="en-US" sz="1400" dirty="0" err="1">
                <a:solidFill>
                  <a:schemeClr val="tx1"/>
                </a:solidFill>
              </a:rPr>
              <a:t>tidyverse</a:t>
            </a:r>
            <a:r>
              <a:rPr lang="en-US" sz="1400" dirty="0">
                <a:solidFill>
                  <a:schemeClr val="tx1"/>
                </a:solidFill>
              </a:rPr>
              <a:t>) and </a:t>
            </a:r>
            <a:r>
              <a:rPr lang="en-US" sz="1400" dirty="0" err="1"/>
              <a:t>lintr</a:t>
            </a:r>
            <a:r>
              <a:rPr lang="en-US" sz="1400" dirty="0"/>
              <a:t>::lint("</a:t>
            </a:r>
            <a:r>
              <a:rPr lang="en-US" sz="1400" dirty="0" err="1">
                <a:solidFill>
                  <a:srgbClr val="FF0000"/>
                </a:solidFill>
              </a:rPr>
              <a:t>myFunction.R</a:t>
            </a:r>
            <a:r>
              <a:rPr lang="en-US" sz="1400" dirty="0" err="1"/>
              <a:t>",linters</a:t>
            </a:r>
            <a:r>
              <a:rPr lang="en-US" sz="1400" dirty="0"/>
              <a:t>=</a:t>
            </a:r>
            <a:r>
              <a:rPr lang="en-US" sz="1400" dirty="0" err="1"/>
              <a:t>lintr</a:t>
            </a:r>
            <a:r>
              <a:rPr lang="en-US" sz="1400" dirty="0"/>
              <a:t>::</a:t>
            </a:r>
            <a:r>
              <a:rPr lang="en-US" sz="1400" dirty="0" err="1"/>
              <a:t>with_defaults</a:t>
            </a:r>
            <a:r>
              <a:rPr lang="en-US" sz="1400" dirty="0"/>
              <a:t>(</a:t>
            </a:r>
            <a:r>
              <a:rPr lang="en-US" sz="1400" dirty="0" err="1"/>
              <a:t>object_name_linter</a:t>
            </a:r>
            <a:r>
              <a:rPr lang="en-US" sz="1400" dirty="0"/>
              <a:t>=</a:t>
            </a:r>
            <a:r>
              <a:rPr lang="en-US" sz="1400" dirty="0" err="1"/>
              <a:t>lintr</a:t>
            </a:r>
            <a:r>
              <a:rPr lang="en-US" sz="1400" dirty="0"/>
              <a:t>::</a:t>
            </a:r>
            <a:r>
              <a:rPr lang="en-US" sz="1400" dirty="0" err="1"/>
              <a:t>object_name_linter</a:t>
            </a:r>
            <a:r>
              <a:rPr lang="en-US" sz="1400" dirty="0"/>
              <a:t>(styles = "</a:t>
            </a:r>
            <a:r>
              <a:rPr lang="en-US" sz="1400" dirty="0" err="1"/>
              <a:t>camelCase</a:t>
            </a:r>
            <a:r>
              <a:rPr lang="en-US" sz="1400" dirty="0"/>
              <a:t>")))</a:t>
            </a:r>
          </a:p>
          <a:p>
            <a:pPr marL="257175" indent="-257175">
              <a:lnSpc>
                <a:spcPct val="100000"/>
              </a:lnSpc>
            </a:pPr>
            <a:endParaRPr lang="en-US" sz="1400" dirty="0"/>
          </a:p>
          <a:p>
            <a:pPr marL="257175" indent="-257175">
              <a:lnSpc>
                <a:spcPct val="100000"/>
              </a:lnSpc>
            </a:pPr>
            <a:endParaRPr lang="en-US" sz="1400" dirty="0"/>
          </a:p>
          <a:p>
            <a:pPr marL="600075" lvl="1" indent="-257175"/>
            <a:endParaRPr lang="en-US" sz="1400" dirty="0"/>
          </a:p>
          <a:p>
            <a:endParaRPr lang="sv-SE" dirty="0"/>
          </a:p>
        </p:txBody>
      </p:sp>
    </p:spTree>
    <p:extLst>
      <p:ext uri="{BB962C8B-B14F-4D97-AF65-F5344CB8AC3E}">
        <p14:creationId xmlns:p14="http://schemas.microsoft.com/office/powerpoint/2010/main" val="2384444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721" y="396656"/>
            <a:ext cx="9862887" cy="880197"/>
          </a:xfrm>
        </p:spPr>
        <p:txBody>
          <a:bodyPr>
            <a:normAutofit fontScale="90000"/>
          </a:bodyPr>
          <a:lstStyle/>
          <a:p>
            <a:r>
              <a:rPr lang="en-US" dirty="0"/>
              <a:t>If you are a more experienced contributor</a:t>
            </a:r>
            <a:endParaRPr lang="sv-SE" dirty="0"/>
          </a:p>
        </p:txBody>
      </p:sp>
      <p:sp>
        <p:nvSpPr>
          <p:cNvPr id="5" name="Content Placeholder 1"/>
          <p:cNvSpPr txBox="1">
            <a:spLocks/>
          </p:cNvSpPr>
          <p:nvPr/>
        </p:nvSpPr>
        <p:spPr>
          <a:xfrm>
            <a:off x="768721" y="3518031"/>
            <a:ext cx="9862887" cy="3648517"/>
          </a:xfrm>
          <a:prstGeom prst="rect">
            <a:avLst/>
          </a:prstGeom>
        </p:spPr>
        <p:txBody>
          <a:bodyPr vert="horz" lIns="91440" tIns="45720" rIns="91440" bIns="45720" rtlCol="0">
            <a:normAutofit/>
          </a:bodyPr>
          <a:lstStyle>
            <a:lvl1pPr marL="180000" indent="-180000" algn="l" defTabSz="914400" rtl="0" eaLnBrk="1" latinLnBrk="0" hangingPunct="1">
              <a:lnSpc>
                <a:spcPct val="90000"/>
              </a:lnSpc>
              <a:spcBef>
                <a:spcPts val="600"/>
              </a:spcBef>
              <a:buFont typeface="Arial" panose="020B0604020202020204" pitchFamily="34" charset="0"/>
              <a:buChar char="•"/>
              <a:defRPr sz="2000" kern="1200">
                <a:solidFill>
                  <a:schemeClr val="accent1"/>
                </a:solidFill>
                <a:latin typeface="+mn-lt"/>
                <a:ea typeface="+mn-ea"/>
                <a:cs typeface="+mn-cs"/>
              </a:defRPr>
            </a:lvl1pPr>
            <a:lvl2pPr marL="360000" indent="-180000" algn="l" defTabSz="914400" rtl="0" eaLnBrk="1" latinLnBrk="0" hangingPunct="1">
              <a:lnSpc>
                <a:spcPct val="100000"/>
              </a:lnSpc>
              <a:spcBef>
                <a:spcPts val="600"/>
              </a:spcBef>
              <a:spcAft>
                <a:spcPts val="0"/>
              </a:spcAft>
              <a:buFont typeface="Arial" panose="020B0604020202020204" pitchFamily="34" charset="0"/>
              <a:buChar char="•"/>
              <a:defRPr sz="1800" kern="1200">
                <a:solidFill>
                  <a:schemeClr val="accent1"/>
                </a:solidFill>
                <a:latin typeface="+mn-lt"/>
                <a:ea typeface="+mn-ea"/>
                <a:cs typeface="+mn-cs"/>
              </a:defRPr>
            </a:lvl2pPr>
            <a:lvl3pPr marL="540000" indent="-180000" algn="l" defTabSz="914400" rtl="0" eaLnBrk="1" latinLnBrk="0" hangingPunct="1">
              <a:lnSpc>
                <a:spcPct val="100000"/>
              </a:lnSpc>
              <a:spcBef>
                <a:spcPts val="600"/>
              </a:spcBef>
              <a:spcAft>
                <a:spcPts val="0"/>
              </a:spcAft>
              <a:buFont typeface="Arial" panose="020B0604020202020204" pitchFamily="34" charset="0"/>
              <a:buChar char="•"/>
              <a:defRPr sz="1600" kern="1200">
                <a:solidFill>
                  <a:schemeClr val="accent1"/>
                </a:solidFill>
                <a:latin typeface="+mn-lt"/>
                <a:ea typeface="+mn-ea"/>
                <a:cs typeface="+mn-cs"/>
              </a:defRPr>
            </a:lvl3pPr>
            <a:lvl4pPr marL="72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4pPr>
            <a:lvl5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5pPr>
            <a:lvl6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6pPr>
            <a:lvl7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7pPr>
            <a:lvl8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8pPr>
            <a:lvl9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9pPr>
          </a:lstStyle>
          <a:p>
            <a:pPr marL="457200" indent="-457200">
              <a:buFont typeface="+mj-lt"/>
              <a:buAutoNum type="arabicPeriod" startAt="3"/>
            </a:pPr>
            <a:endParaRPr lang="en-US" dirty="0"/>
          </a:p>
          <a:p>
            <a:pPr marL="457200" indent="-457200">
              <a:buFont typeface="+mj-lt"/>
              <a:buAutoNum type="arabicPeriod" startAt="3"/>
            </a:pPr>
            <a:endParaRPr lang="en-US" dirty="0"/>
          </a:p>
          <a:p>
            <a:pPr marL="600075" lvl="1" indent="-257175"/>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457200" indent="-457200">
              <a:buFont typeface="+mj-lt"/>
              <a:buAutoNum type="arabicPeriod" startAt="3"/>
            </a:pPr>
            <a:endParaRPr lang="en-US" dirty="0"/>
          </a:p>
          <a:p>
            <a:pPr marL="0" indent="0">
              <a:buFont typeface="Arial" panose="020B0604020202020204" pitchFamily="34" charset="0"/>
              <a:buNone/>
            </a:pPr>
            <a:endParaRPr lang="en-US" dirty="0"/>
          </a:p>
          <a:p>
            <a:pPr marL="457200" indent="-457200">
              <a:buFont typeface="+mj-lt"/>
              <a:buAutoNum type="arabicPeriod"/>
            </a:pPr>
            <a:endParaRPr lang="en-US" dirty="0"/>
          </a:p>
          <a:p>
            <a:pPr marL="457200" indent="-457200">
              <a:buFont typeface="+mj-lt"/>
              <a:buAutoNum type="arabicPeriod"/>
            </a:pPr>
            <a:endParaRPr lang="sv-SE" dirty="0"/>
          </a:p>
        </p:txBody>
      </p:sp>
      <p:sp>
        <p:nvSpPr>
          <p:cNvPr id="6" name="Content Placeholder 5"/>
          <p:cNvSpPr>
            <a:spLocks noGrp="1"/>
          </p:cNvSpPr>
          <p:nvPr>
            <p:ph idx="1"/>
          </p:nvPr>
        </p:nvSpPr>
        <p:spPr>
          <a:xfrm>
            <a:off x="768721" y="1276854"/>
            <a:ext cx="10227830" cy="5230824"/>
          </a:xfrm>
        </p:spPr>
        <p:txBody>
          <a:bodyPr>
            <a:normAutofit/>
          </a:bodyPr>
          <a:lstStyle/>
          <a:p>
            <a:pPr marL="257175" indent="-257175">
              <a:lnSpc>
                <a:spcPct val="100000"/>
              </a:lnSpc>
            </a:pPr>
            <a:r>
              <a:rPr lang="en-US" sz="1400" dirty="0"/>
              <a:t>The fastest way for contributors to get code included in the package is to provide code that fully meets our package standards. These are: </a:t>
            </a:r>
          </a:p>
          <a:p>
            <a:pPr marL="600075" lvl="1" indent="-257175"/>
            <a:r>
              <a:rPr lang="en-US" sz="1400" dirty="0"/>
              <a:t>The contributor is using the latest version of R, </a:t>
            </a:r>
            <a:r>
              <a:rPr lang="en-US" sz="1400" dirty="0" err="1"/>
              <a:t>roxygen</a:t>
            </a:r>
            <a:r>
              <a:rPr lang="en-US" sz="1400" dirty="0"/>
              <a:t> and any dependencies </a:t>
            </a:r>
          </a:p>
          <a:p>
            <a:pPr marL="600075" lvl="1" indent="-257175"/>
            <a:r>
              <a:rPr lang="en-US" sz="1400" dirty="0"/>
              <a:t>Work is done in the “dev” branch directly in the </a:t>
            </a:r>
            <a:r>
              <a:rPr lang="en-US" sz="1400" dirty="0" err="1"/>
              <a:t>icesRDBES</a:t>
            </a:r>
            <a:r>
              <a:rPr lang="en-US" sz="1400" dirty="0"/>
              <a:t> core directories after issue is open</a:t>
            </a:r>
          </a:p>
          <a:p>
            <a:pPr marL="600075" lvl="1" indent="-257175"/>
            <a:r>
              <a:rPr lang="en-US" sz="1400" dirty="0"/>
              <a:t>Contributors should pull the “dev” branch, make and commit changes on their local machine, and only push changes back to GitHub once their work is consistent (e.g. a new function is created and documented). For each function an R file exists in the \R directory, example data exists in \data, and vignettes in .</a:t>
            </a:r>
            <a:r>
              <a:rPr lang="en-US" sz="1400" dirty="0" err="1"/>
              <a:t>Rmd</a:t>
            </a:r>
            <a:r>
              <a:rPr lang="en-US" sz="1400" dirty="0"/>
              <a:t> code exist in \vignettes. </a:t>
            </a:r>
          </a:p>
          <a:p>
            <a:pPr marL="600075" lvl="1" indent="-257175"/>
            <a:r>
              <a:rPr lang="en-US" sz="1400" dirty="0"/>
              <a:t>Consider the style guide developed during WKRDB-EST 1-2 </a:t>
            </a:r>
            <a:r>
              <a:rPr lang="en-US" sz="1400" dirty="0">
                <a:hlinkClick r:id="rId2"/>
              </a:rPr>
              <a:t>https://github.com/ices-eg/WK_RDBES/blob/master/WKRDB-EST2/styleGuideCodeRDBES.pdf</a:t>
            </a:r>
            <a:r>
              <a:rPr lang="en-US" sz="1400" dirty="0"/>
              <a:t>. It is preferable for contributors to only use base R but the following packages (and their dependencies) are also allowed: </a:t>
            </a:r>
            <a:r>
              <a:rPr lang="en-US" sz="1400" b="1" dirty="0" err="1"/>
              <a:t>data.table</a:t>
            </a:r>
            <a:r>
              <a:rPr lang="en-US" sz="1400" dirty="0"/>
              <a:t>, and </a:t>
            </a:r>
            <a:r>
              <a:rPr lang="en-US" sz="1400" b="1" dirty="0" err="1"/>
              <a:t>dplyr</a:t>
            </a:r>
            <a:r>
              <a:rPr lang="en-US" sz="1400" dirty="0"/>
              <a:t> (not the whole </a:t>
            </a:r>
            <a:r>
              <a:rPr lang="en-US" sz="1400" dirty="0" err="1"/>
              <a:t>tidyverse</a:t>
            </a:r>
            <a:r>
              <a:rPr lang="en-US" sz="1400" dirty="0"/>
              <a:t>). If contributors wish/need to use other packages this must be discussed beforehand. </a:t>
            </a:r>
          </a:p>
          <a:p>
            <a:pPr marL="600075" lvl="1" indent="-257175"/>
            <a:r>
              <a:rPr lang="en-US" sz="1400" dirty="0"/>
              <a:t>Full roxygen2 documentation has been generated for that function and any data included. A good example of comprehensive documentation can be provided by the “gam” function (</a:t>
            </a:r>
            <a:r>
              <a:rPr lang="en-US" sz="1400" dirty="0">
                <a:hlinkClick r:id="rId3"/>
              </a:rPr>
              <a:t>https://www.rdocumentation.org/packages/mgcv/versions/1.8-33/topics/gam</a:t>
            </a:r>
            <a:r>
              <a:rPr lang="en-US" sz="1400" dirty="0"/>
              <a:t> ). This level of documentation might not be appropriate or feasible in all cases but does show some important features to bear in mind. </a:t>
            </a:r>
          </a:p>
          <a:p>
            <a:pPr marL="600075" lvl="1" indent="-257175"/>
            <a:r>
              <a:rPr lang="en-US" sz="1400" dirty="0"/>
              <a:t>The contributor has defined tests for all new functionality (committed to \tests)</a:t>
            </a:r>
          </a:p>
          <a:p>
            <a:pPr marL="600075" lvl="1" indent="-257175"/>
            <a:r>
              <a:rPr lang="en-US" sz="1400" dirty="0" err="1"/>
              <a:t>Devtools</a:t>
            </a:r>
            <a:r>
              <a:rPr lang="en-US" sz="1400" dirty="0"/>
              <a:t>::check has been run successfully on their local machine </a:t>
            </a:r>
          </a:p>
          <a:p>
            <a:pPr marL="600075" lvl="1" indent="-257175"/>
            <a:r>
              <a:rPr lang="en-US" sz="1400" dirty="0"/>
              <a:t>The code passes the automatic lint checks (when these are included in the package)</a:t>
            </a:r>
          </a:p>
          <a:p>
            <a:pPr marL="600075" lvl="1" indent="-257175"/>
            <a:r>
              <a:rPr lang="en-US" sz="1400" dirty="0"/>
              <a:t>A pull request needs to be created when we want to merge the development branch into the master branch – the maintainers will need to approve the pull request </a:t>
            </a:r>
          </a:p>
          <a:p>
            <a:pPr marL="600075" lvl="1" indent="-257175"/>
            <a:endParaRPr lang="en-US" sz="1400" dirty="0"/>
          </a:p>
          <a:p>
            <a:endParaRPr lang="sv-SE" dirty="0"/>
          </a:p>
        </p:txBody>
      </p:sp>
    </p:spTree>
    <p:extLst>
      <p:ext uri="{BB962C8B-B14F-4D97-AF65-F5344CB8AC3E}">
        <p14:creationId xmlns:p14="http://schemas.microsoft.com/office/powerpoint/2010/main" val="2191154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endParaRPr lang="sv-SE"/>
          </a:p>
        </p:txBody>
      </p:sp>
      <p:sp>
        <p:nvSpPr>
          <p:cNvPr id="3" name="Picture Placeholder 2"/>
          <p:cNvSpPr>
            <a:spLocks noGrp="1"/>
          </p:cNvSpPr>
          <p:nvPr>
            <p:ph type="pic" sz="quarter" idx="10"/>
          </p:nvPr>
        </p:nvSpPr>
        <p:spPr/>
      </p:sp>
      <p:sp>
        <p:nvSpPr>
          <p:cNvPr id="4" name="Title 3"/>
          <p:cNvSpPr>
            <a:spLocks noGrp="1"/>
          </p:cNvSpPr>
          <p:nvPr>
            <p:ph type="title"/>
          </p:nvPr>
        </p:nvSpPr>
        <p:spPr>
          <a:xfrm>
            <a:off x="768720" y="405092"/>
            <a:ext cx="9862887" cy="880197"/>
          </a:xfrm>
        </p:spPr>
        <p:txBody>
          <a:bodyPr>
            <a:normAutofit/>
          </a:bodyPr>
          <a:lstStyle/>
          <a:p>
            <a:r>
              <a:rPr lang="en-US" sz="4000" dirty="0">
                <a:solidFill>
                  <a:schemeClr val="tx1"/>
                </a:solidFill>
              </a:rPr>
              <a:t>Contributing to already existing functions</a:t>
            </a:r>
            <a:endParaRPr lang="sv-SE" sz="4000" dirty="0">
              <a:solidFill>
                <a:schemeClr val="tx1"/>
              </a:solidFill>
            </a:endParaRPr>
          </a:p>
        </p:txBody>
      </p:sp>
      <p:sp>
        <p:nvSpPr>
          <p:cNvPr id="5" name="Content Placeholder 4"/>
          <p:cNvSpPr>
            <a:spLocks noGrp="1"/>
          </p:cNvSpPr>
          <p:nvPr>
            <p:ph idx="1"/>
          </p:nvPr>
        </p:nvSpPr>
        <p:spPr>
          <a:xfrm>
            <a:off x="768721" y="1285290"/>
            <a:ext cx="9862887" cy="4760670"/>
          </a:xfrm>
        </p:spPr>
        <p:txBody>
          <a:bodyPr>
            <a:normAutofit lnSpcReduction="10000"/>
          </a:bodyPr>
          <a:lstStyle/>
          <a:p>
            <a:pPr>
              <a:lnSpc>
                <a:spcPct val="150000"/>
              </a:lnSpc>
            </a:pPr>
            <a:r>
              <a:rPr lang="en-US" dirty="0"/>
              <a:t>Are you contributing to a function you are the main contributor of?</a:t>
            </a:r>
          </a:p>
          <a:p>
            <a:pPr lvl="1">
              <a:lnSpc>
                <a:spcPct val="150000"/>
              </a:lnSpc>
            </a:pPr>
            <a:r>
              <a:rPr lang="en-US" b="1" dirty="0"/>
              <a:t>Yes</a:t>
            </a:r>
          </a:p>
          <a:p>
            <a:pPr lvl="2">
              <a:lnSpc>
                <a:spcPct val="150000"/>
              </a:lnSpc>
            </a:pPr>
            <a:r>
              <a:rPr lang="en-US" dirty="0"/>
              <a:t>Open an issue, label it and assign it to yourself [so others know you are working on it]</a:t>
            </a:r>
          </a:p>
          <a:p>
            <a:pPr lvl="2">
              <a:lnSpc>
                <a:spcPct val="150000"/>
              </a:lnSpc>
            </a:pPr>
            <a:r>
              <a:rPr lang="en-US" dirty="0"/>
              <a:t>Code your changes, test them, and commit your changes including the text “Closes #n” (where n is the issue number) in the commit message</a:t>
            </a:r>
          </a:p>
          <a:p>
            <a:pPr lvl="1">
              <a:lnSpc>
                <a:spcPct val="150000"/>
              </a:lnSpc>
            </a:pPr>
            <a:r>
              <a:rPr lang="en-US" b="1" dirty="0"/>
              <a:t>No</a:t>
            </a:r>
          </a:p>
          <a:p>
            <a:pPr lvl="2">
              <a:lnSpc>
                <a:spcPct val="150000"/>
              </a:lnSpc>
            </a:pPr>
            <a:r>
              <a:rPr lang="en-US" dirty="0"/>
              <a:t>Open an issue, label it and assign it to the main contributor </a:t>
            </a:r>
          </a:p>
          <a:p>
            <a:pPr lvl="2">
              <a:lnSpc>
                <a:spcPct val="150000"/>
              </a:lnSpc>
            </a:pPr>
            <a:r>
              <a:rPr lang="en-US" dirty="0"/>
              <a:t>Check with him/her if it is needed to address it [he/she might already be working on it] and get ideas on solutions [there may be solutions already thought of]</a:t>
            </a:r>
          </a:p>
          <a:p>
            <a:pPr lvl="2">
              <a:lnSpc>
                <a:spcPct val="150000"/>
              </a:lnSpc>
            </a:pPr>
            <a:r>
              <a:rPr lang="en-US"/>
              <a:t>Code your changes, test them, and commit your changes including the text “Closes #n” (where n is the issue number) in the commit message</a:t>
            </a:r>
            <a:endParaRPr lang="en-US" dirty="0"/>
          </a:p>
          <a:p>
            <a:pPr lvl="1">
              <a:lnSpc>
                <a:spcPct val="150000"/>
              </a:lnSpc>
            </a:pPr>
            <a:endParaRPr lang="sv-SE" dirty="0"/>
          </a:p>
        </p:txBody>
      </p:sp>
    </p:spTree>
    <p:extLst>
      <p:ext uri="{BB962C8B-B14F-4D97-AF65-F5344CB8AC3E}">
        <p14:creationId xmlns:p14="http://schemas.microsoft.com/office/powerpoint/2010/main" val="1310661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CES">
  <a:themeElements>
    <a:clrScheme name="ICES">
      <a:dk1>
        <a:sysClr val="windowText" lastClr="000000"/>
      </a:dk1>
      <a:lt1>
        <a:sysClr val="window" lastClr="FFFFFF"/>
      </a:lt1>
      <a:dk2>
        <a:srgbClr val="000000"/>
      </a:dk2>
      <a:lt2>
        <a:srgbClr val="FFFFFF"/>
      </a:lt2>
      <a:accent1>
        <a:srgbClr val="00265A"/>
      </a:accent1>
      <a:accent2>
        <a:srgbClr val="EE522C"/>
      </a:accent2>
      <a:accent3>
        <a:srgbClr val="00A695"/>
      </a:accent3>
      <a:accent4>
        <a:srgbClr val="73A9B9"/>
      </a:accent4>
      <a:accent5>
        <a:srgbClr val="B2CCC4"/>
      </a:accent5>
      <a:accent6>
        <a:srgbClr val="3FB8F3"/>
      </a:accent6>
      <a:hlink>
        <a:srgbClr val="0563C1"/>
      </a:hlink>
      <a:folHlink>
        <a:srgbClr val="954F72"/>
      </a:folHlink>
    </a:clrScheme>
    <a:fontScheme name="ICES">
      <a:majorFont>
        <a:latin typeface="Calibri"/>
        <a:ea typeface=""/>
        <a:cs typeface=""/>
      </a:majorFont>
      <a:minorFont>
        <a:latin typeface="Calibri"/>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chor="t">
        <a:noAutofit/>
      </a:bodyPr>
      <a:lstStyle>
        <a:defPPr algn="l">
          <a:defRPr sz="2000" dirty="0" err="1" smtClean="0">
            <a:solidFill>
              <a:schemeClr val="accent1"/>
            </a:solidFill>
            <a:latin typeface="+mn-lt"/>
          </a:defRPr>
        </a:defPPr>
      </a:lstStyle>
    </a:txDef>
  </a:objectDefaults>
  <a:extraClrSchemeLst/>
  <a:extLst>
    <a:ext uri="{05A4C25C-085E-4340-85A3-A5531E510DB2}">
      <thm15:themeFamily xmlns:thm15="http://schemas.microsoft.com/office/thememl/2012/main" name="ICES PowerPoint template 2019 [Read-Only]" id="{70FE6429-2D32-40FE-86C5-7BC4DC107F43}" vid="{ED9E908D-211E-40E0-ACC4-0E7CBCF3B4F5}"/>
    </a:ext>
  </a:extLst>
</a:theme>
</file>

<file path=ppt/theme/theme2.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8EAC08ED3A4D4DAA920947DB5E144D" ma:contentTypeVersion="1" ma:contentTypeDescription="Create a new document." ma:contentTypeScope="" ma:versionID="c51e592a787050860f1195050ce8844f">
  <xsd:schema xmlns:xsd="http://www.w3.org/2001/XMLSchema" xmlns:xs="http://www.w3.org/2001/XMLSchema" xmlns:p="http://schemas.microsoft.com/office/2006/metadata/properties" xmlns:ns2="4d5313c0-c1e6-4122-afa9-da1ccdba405d" targetNamespace="http://schemas.microsoft.com/office/2006/metadata/properties" ma:root="true" ma:fieldsID="b17605de6e1dd7ee2c1d376d0ce33c47" ns2:_="">
    <xsd:import namespace="4d5313c0-c1e6-4122-afa9-da1ccdba405d"/>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313c0-c1e6-4122-afa9-da1ccdba405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9E2F9C-D44F-403E-BD4F-E865F9788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5313c0-c1e6-4122-afa9-da1ccdba40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1FEFB4A-93BB-42CE-991E-3137591E04A2}">
  <ds:schemaRefs>
    <ds:schemaRef ds:uri="http://schemas.microsoft.com/office/infopath/2007/PartnerControls"/>
    <ds:schemaRef ds:uri="http://purl.org/dc/elements/1.1/"/>
    <ds:schemaRef ds:uri="http://schemas.microsoft.com/office/2006/metadata/properties"/>
    <ds:schemaRef ds:uri="http://purl.org/dc/terms/"/>
    <ds:schemaRef ds:uri="http://schemas.microsoft.com/office/2006/documentManagement/types"/>
    <ds:schemaRef ds:uri="http://purl.org/dc/dcmitype/"/>
    <ds:schemaRef ds:uri="http://schemas.openxmlformats.org/package/2006/metadata/core-properties"/>
    <ds:schemaRef ds:uri="4d5313c0-c1e6-4122-afa9-da1ccdba405d"/>
    <ds:schemaRef ds:uri="http://www.w3.org/XML/1998/namespace"/>
  </ds:schemaRefs>
</ds:datastoreItem>
</file>

<file path=customXml/itemProps3.xml><?xml version="1.0" encoding="utf-8"?>
<ds:datastoreItem xmlns:ds="http://schemas.openxmlformats.org/officeDocument/2006/customXml" ds:itemID="{27766D45-EAD8-4B35-81C7-D364DC0604F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WKRDB-EST_ToRs_and_Agenda</Template>
  <TotalTime>0</TotalTime>
  <Words>2091</Words>
  <Application>Microsoft Office PowerPoint</Application>
  <PresentationFormat>Widescreen</PresentationFormat>
  <Paragraphs>192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ICES</vt:lpstr>
      <vt:lpstr>A newbie’s guide to the development of a new function for RDBEScore (and editing existing ones) (with details for more experienced contributors at the end)</vt:lpstr>
      <vt:lpstr>Contents</vt:lpstr>
      <vt:lpstr>Time table of development (as of 25/11/2021)</vt:lpstr>
      <vt:lpstr>Overview of routine work-flow</vt:lpstr>
      <vt:lpstr>First steps: set-up your workspace</vt:lpstr>
      <vt:lpstr>PowerPoint Presentation</vt:lpstr>
      <vt:lpstr>First steps: set-up your workspace</vt:lpstr>
      <vt:lpstr>First steps: set-up your workspace</vt:lpstr>
      <vt:lpstr>When you are done with your function</vt:lpstr>
      <vt:lpstr>When you are done with your function</vt:lpstr>
      <vt:lpstr>When you are done with your function</vt:lpstr>
      <vt:lpstr>When you are done with your function</vt:lpstr>
      <vt:lpstr>If you are a more experienced contributor</vt:lpstr>
      <vt:lpstr>If you are a more experienced contributor</vt:lpstr>
      <vt:lpstr>Contributing to already existing functions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2019-09-30T09:16:23Z</dcterms:created>
  <dcterms:modified xsi:type="dcterms:W3CDTF">2026-10-08T06:59:24Z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0x010100318EAC08ED3A4D4DAA920947DB5E144D</vt:lpwstr>
  </property>
</Properties>
</file>